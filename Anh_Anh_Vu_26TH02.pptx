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handoutMasterIdLst>
    <p:handoutMasterId r:id="rId40"/>
  </p:handoutMasterIdLst>
  <p:sldIdLst>
    <p:sldId id="256" r:id="rId2"/>
    <p:sldId id="267" r:id="rId3"/>
    <p:sldId id="257" r:id="rId4"/>
    <p:sldId id="281" r:id="rId5"/>
    <p:sldId id="304" r:id="rId6"/>
    <p:sldId id="313" r:id="rId7"/>
    <p:sldId id="314" r:id="rId8"/>
    <p:sldId id="315" r:id="rId9"/>
    <p:sldId id="305" r:id="rId10"/>
    <p:sldId id="316" r:id="rId11"/>
    <p:sldId id="327" r:id="rId12"/>
    <p:sldId id="259" r:id="rId13"/>
    <p:sldId id="260" r:id="rId14"/>
    <p:sldId id="261" r:id="rId15"/>
    <p:sldId id="262" r:id="rId16"/>
    <p:sldId id="328" r:id="rId17"/>
    <p:sldId id="329" r:id="rId18"/>
    <p:sldId id="258" r:id="rId19"/>
    <p:sldId id="330" r:id="rId20"/>
    <p:sldId id="331" r:id="rId21"/>
    <p:sldId id="332" r:id="rId22"/>
    <p:sldId id="317" r:id="rId23"/>
    <p:sldId id="318" r:id="rId24"/>
    <p:sldId id="333" r:id="rId25"/>
    <p:sldId id="334" r:id="rId26"/>
    <p:sldId id="335" r:id="rId27"/>
    <p:sldId id="322" r:id="rId28"/>
    <p:sldId id="323" r:id="rId29"/>
    <p:sldId id="336" r:id="rId30"/>
    <p:sldId id="337" r:id="rId31"/>
    <p:sldId id="338" r:id="rId32"/>
    <p:sldId id="325" r:id="rId33"/>
    <p:sldId id="339" r:id="rId34"/>
    <p:sldId id="340" r:id="rId35"/>
    <p:sldId id="312" r:id="rId36"/>
    <p:sldId id="341" r:id="rId37"/>
    <p:sldId id="277" r:id="rId38"/>
  </p:sldIdLst>
  <p:sldSz cx="14630400" cy="8229600"/>
  <p:notesSz cx="8229600" cy="14630400"/>
  <p:embeddedFontLst>
    <p:embeddedFont>
      <p:font typeface="Arimo Medium" panose="020B0604020202020204" charset="0"/>
      <p:regular r:id="rId41"/>
    </p:embeddedFont>
    <p:embeddedFont>
      <p:font typeface="Arimo Semi Bold" panose="020B0604020202020204" charset="0"/>
      <p:regular r:id="rId42"/>
    </p:embeddedFont>
    <p:embeddedFont>
      <p:font typeface="Lato" panose="020F0502020204030203" pitchFamily="34" charset="0"/>
      <p:regular r:id="rId43"/>
      <p:bold r:id="rId44"/>
      <p:italic r:id="rId45"/>
      <p:boldItalic r:id="rId46"/>
    </p:embeddedFont>
    <p:embeddedFont>
      <p:font typeface="Lato Bold" panose="020F0502020204030203" charset="0"/>
      <p:bold r:id="rId47"/>
    </p:embeddedFont>
    <p:embeddedFont>
      <p:font typeface="Lato Light" panose="020F0502020204030203" pitchFamily="34" charset="0"/>
      <p:regular r:id="rId48"/>
      <p: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4" autoAdjust="0"/>
    <p:restoredTop sz="94610"/>
  </p:normalViewPr>
  <p:slideViewPr>
    <p:cSldViewPr snapToGrid="0" snapToObjects="1">
      <p:cViewPr varScale="1">
        <p:scale>
          <a:sx n="69" d="100"/>
          <a:sy n="69" d="100"/>
        </p:scale>
        <p:origin x="88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29BB6B-058E-4A01-B93B-AEA259F295A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C069DE-B1F6-C9E1-14B8-1437A327DF42}"/>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C58B6E47-9018-45E5-9ABF-83088785E00A}" type="datetimeFigureOut">
              <a:rPr lang="en-US" smtClean="0"/>
              <a:t>05/02/26</a:t>
            </a:fld>
            <a:endParaRPr lang="en-US"/>
          </a:p>
        </p:txBody>
      </p:sp>
      <p:sp>
        <p:nvSpPr>
          <p:cNvPr id="4" name="Footer Placeholder 3">
            <a:extLst>
              <a:ext uri="{FF2B5EF4-FFF2-40B4-BE49-F238E27FC236}">
                <a16:creationId xmlns:a16="http://schemas.microsoft.com/office/drawing/2014/main" id="{25A1AEC7-9472-2710-1970-D3FC17E4A856}"/>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864914D-2B3C-D2C8-99AF-CC0381CE633E}"/>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3C3DBA55-FFDC-4821-AC1D-577E0407E2B3}" type="slidenum">
              <a:rPr lang="en-US" smtClean="0"/>
              <a:t>‹#›</a:t>
            </a:fld>
            <a:endParaRPr lang="en-US"/>
          </a:p>
        </p:txBody>
      </p:sp>
    </p:spTree>
    <p:extLst>
      <p:ext uri="{BB962C8B-B14F-4D97-AF65-F5344CB8AC3E}">
        <p14:creationId xmlns:p14="http://schemas.microsoft.com/office/powerpoint/2010/main" val="251413025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31083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B398C-D2BC-C383-BCD0-55AA3B5C1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E9500-3C85-8868-2440-2C25E5CE5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C25E5-DCF1-A4E4-2738-EC7972CDCB3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5364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C7E3-F9A6-F9CE-71D9-717D4CD71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C75F5-3EA1-A1BA-4058-D4AB27470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35246-28F0-0217-0CF8-A1F0F1FCD3B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9377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C1D9-30C3-6B37-4942-E2EABE3BE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66A84-AAB2-F9FC-6E8F-E1A62E167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EA4CB-AC1E-E052-8AFC-38EF4744CA3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7313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BEEC-B640-94AD-1C62-372A535B1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A6B98-365E-AA2F-C98E-07D3F35B8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A0742-5C82-A865-072A-97B636B0E93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0919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6D1C-B101-F159-5652-EF8183644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3F6A0-6C41-B133-74FC-8C209EB73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4F426-9F76-88B8-2A27-2FE22681F21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8485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098FD-BBDC-6A11-4623-C58355324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CBF1F-3838-C30D-7281-D0359D93B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CCC6C-0D0F-851D-E8DB-5D8CEB18D7A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4189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70BC-A2F0-4993-6273-E969036FB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F9023-E1F6-1550-0871-BF88A829B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A8FF9-C4E6-3C39-BDE8-F38A599FE6F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104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7680-D328-1256-A69C-AA1A3849D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699E0-1080-2BF3-A485-30DACB6C7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1351E-2C02-BD24-868C-E8C8130C1C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5479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ED25-8D6E-B349-9713-0622585AF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8B475-FA0C-7D84-A590-95FF2DCBB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CBEA2-E5DF-3462-4135-B973CAB9A9B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1322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CB590-0DD5-6584-A96C-F33C19305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6D56A-8612-79E2-D92C-B961E8936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85211-5E48-356E-AEF0-A5D847C9CA5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7328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62AD0-A6FF-FF80-7CFE-CCFB5DEE8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0938E-A740-C2D5-9257-944273F20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BDBC9-0647-A398-DEB8-DF8E6BCA14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856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5C27-AAEE-8F06-8373-5B250F001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14EA4-FA7D-88A8-A50C-416899B4D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4646D-ABF8-C590-3580-7ACF7CC14F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507002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8CF92-72F3-712B-6D7E-0E810CC63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ADAA0-90B9-C316-9A76-C38E9F167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3FD99-66AB-4FAD-5076-E983D678F4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0281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ED1F9-3119-43FD-7F37-17034BD04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82DD3-5CD5-6335-4BE6-FE50AE222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E42C4-BAF3-4A2B-589B-B4B1F778682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7553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2CC9B-55F6-05F5-9797-546667765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45C76-E9B4-42F4-9BA0-739EC3D02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94B2E-25CA-DABE-D0C6-96815E8519C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7950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40C39-649E-9AC2-2A1F-E4F414931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1616F-18D8-2267-57E6-2BE9F53F8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89E76-2DEA-D120-2CB9-C10D7069FF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23132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459D3-18F3-83DA-89DD-162405FA6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B6085-CAAD-87F2-5CFC-A86895D86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E8307-133D-EC12-CD79-6BFE6CB98DC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1266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0805-E218-9C8C-90A1-0B9253237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D1EE7-4C47-C79E-F70D-94CA25531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A9CCB-D86D-3258-EAF2-B0661E77105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9534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8F167-C0E0-2426-02A3-2BAE7D31D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7C0AC-400F-ECF7-9778-894A6AF39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E0B98-A2F1-2EC2-BF27-F2220021E2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6886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94372-6A0E-11BD-65C4-AE644D78C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1414A-40D3-92B1-FF68-44F4B66B9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A0019-4373-9453-80B5-1108EFC5A0E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19465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427A-A867-CA00-C911-C9C747818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C61EF-8A02-44A5-18A2-4FFA1825B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8185F-3831-786A-3D95-1D61F377E47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28734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6DC87-651D-B9FA-0364-2E4FD0A6C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64A94-6134-6FDA-3457-5E20794AE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5403E-6F17-7574-4E43-E72A9894A2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94539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7A742-8BFB-5C44-0FFF-443E80DA18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80484C-C29F-8C58-7E0D-F9E52D51C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734AF-BED8-045C-0C78-52D8C47BD5BE}"/>
              </a:ext>
            </a:extLst>
          </p:cNvPr>
          <p:cNvSpPr>
            <a:spLocks noGrp="1"/>
          </p:cNvSpPr>
          <p:nvPr>
            <p:ph type="dt" sz="half" idx="10"/>
          </p:nvPr>
        </p:nvSpPr>
        <p:spPr/>
        <p:txBody>
          <a:bodyPr/>
          <a:lstStyle/>
          <a:p>
            <a:fld id="{230B1012-B80C-4F63-9F53-C36658849C51}" type="datetimeFigureOut">
              <a:rPr lang="en-US" smtClean="0"/>
              <a:t>05/02/26</a:t>
            </a:fld>
            <a:endParaRPr lang="en-US"/>
          </a:p>
        </p:txBody>
      </p:sp>
      <p:sp>
        <p:nvSpPr>
          <p:cNvPr id="5" name="Footer Placeholder 4">
            <a:extLst>
              <a:ext uri="{FF2B5EF4-FFF2-40B4-BE49-F238E27FC236}">
                <a16:creationId xmlns:a16="http://schemas.microsoft.com/office/drawing/2014/main" id="{EED1FB50-73E4-827B-1BA7-B41676884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1A1E00-3BCD-65B0-848C-CE20B8E7F527}"/>
              </a:ext>
            </a:extLst>
          </p:cNvPr>
          <p:cNvSpPr>
            <a:spLocks noGrp="1"/>
          </p:cNvSpPr>
          <p:nvPr>
            <p:ph type="sldNum" sz="quarter" idx="12"/>
          </p:nvPr>
        </p:nvSpPr>
        <p:spPr/>
        <p:txBody>
          <a:bodyPr/>
          <a:lstStyle/>
          <a:p>
            <a:fld id="{7CF0E221-0310-45C4-9326-5909AC8654FD}" type="slidenum">
              <a:rPr lang="en-US" smtClean="0"/>
              <a:t>‹#›</a:t>
            </a:fld>
            <a:endParaRPr lang="en-US"/>
          </a:p>
        </p:txBody>
      </p:sp>
    </p:spTree>
    <p:extLst>
      <p:ext uri="{BB962C8B-B14F-4D97-AF65-F5344CB8AC3E}">
        <p14:creationId xmlns:p14="http://schemas.microsoft.com/office/powerpoint/2010/main" val="4185698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45327" y="770508"/>
            <a:ext cx="14195503" cy="2126337"/>
          </a:xfrm>
          <a:prstGeom prst="rect">
            <a:avLst/>
          </a:prstGeom>
          <a:noFill/>
          <a:ln/>
        </p:spPr>
        <p:txBody>
          <a:bodyPr wrap="square" lIns="0" tIns="0" rIns="0" bIns="0" rtlCol="0" anchor="t"/>
          <a:lstStyle/>
          <a:p>
            <a:pPr marL="0" indent="0" algn="r">
              <a:lnSpc>
                <a:spcPts val="5550"/>
              </a:lnSpc>
              <a:buNone/>
            </a:pPr>
            <a:r>
              <a:rPr lang="en-US" sz="4450" b="1" dirty="0">
                <a:solidFill>
                  <a:srgbClr val="030303"/>
                </a:solidFill>
                <a:latin typeface="Arimo Semi Bold" pitchFamily="34" charset="0"/>
                <a:ea typeface="Arimo Semi Bold" pitchFamily="34" charset="-122"/>
                <a:cs typeface="Arimo Semi Bold" pitchFamily="34" charset="-120"/>
              </a:rPr>
              <a:t>Báo </a:t>
            </a:r>
            <a:r>
              <a:rPr lang="en-US" sz="4450" b="1">
                <a:solidFill>
                  <a:srgbClr val="030303"/>
                </a:solidFill>
                <a:latin typeface="Arimo Semi Bold" pitchFamily="34" charset="0"/>
                <a:ea typeface="Arimo Semi Bold" pitchFamily="34" charset="-122"/>
                <a:cs typeface="Arimo Semi Bold" pitchFamily="34" charset="-120"/>
              </a:rPr>
              <a:t>cáo dự án: </a:t>
            </a:r>
          </a:p>
          <a:p>
            <a:pPr algn="r">
              <a:lnSpc>
                <a:spcPts val="5550"/>
              </a:lnSpc>
            </a:pPr>
            <a:r>
              <a:rPr lang="vi-VN" sz="4450">
                <a:solidFill>
                  <a:srgbClr val="030303"/>
                </a:solidFill>
                <a:latin typeface="Arimo Semi Bold" pitchFamily="34" charset="0"/>
                <a:ea typeface="Arimo Semi Bold" pitchFamily="34" charset="-122"/>
                <a:cs typeface="Arimo Semi Bold" pitchFamily="34" charset="-120"/>
              </a:rPr>
              <a:t>Phân tích khách hàng mua điện thoại ở Việt Nam trên nền tảng shopee để tối ưu hóa chiến lược marketing</a:t>
            </a:r>
            <a:endParaRPr lang="en-US" sz="4450" dirty="0"/>
          </a:p>
        </p:txBody>
      </p:sp>
      <p:sp>
        <p:nvSpPr>
          <p:cNvPr id="4" name="Text 1"/>
          <p:cNvSpPr/>
          <p:nvPr/>
        </p:nvSpPr>
        <p:spPr>
          <a:xfrm>
            <a:off x="366233" y="4223840"/>
            <a:ext cx="7556421" cy="3901587"/>
          </a:xfrm>
          <a:prstGeom prst="rect">
            <a:avLst/>
          </a:prstGeom>
          <a:noFill/>
          <a:ln/>
        </p:spPr>
        <p:txBody>
          <a:bodyPr wrap="square" lIns="0" tIns="0" rIns="0" bIns="0" rtlCol="0" anchor="t"/>
          <a:lstStyle/>
          <a:p>
            <a:pPr marL="0" indent="0" algn="l">
              <a:lnSpc>
                <a:spcPct val="150000"/>
              </a:lnSpc>
              <a:buNone/>
            </a:pPr>
            <a:r>
              <a:rPr lang="en-US" sz="2400" dirty="0">
                <a:solidFill>
                  <a:srgbClr val="464646"/>
                </a:solidFill>
                <a:latin typeface="Arimo Medium" pitchFamily="34" charset="0"/>
                <a:ea typeface="Arimo Medium" pitchFamily="34" charset="-122"/>
                <a:cs typeface="Arimo Medium" pitchFamily="34" charset="-120"/>
              </a:rPr>
              <a:t>Môn học</a:t>
            </a:r>
            <a:r>
              <a:rPr lang="en-US" sz="2400">
                <a:solidFill>
                  <a:srgbClr val="464646"/>
                </a:solidFill>
                <a:latin typeface="Arimo Medium" pitchFamily="34" charset="0"/>
                <a:ea typeface="Arimo Medium" pitchFamily="34" charset="-122"/>
                <a:cs typeface="Arimo Medium" pitchFamily="34" charset="-120"/>
              </a:rPr>
              <a:t>: </a:t>
            </a:r>
            <a:r>
              <a:rPr lang="en-US" sz="2400" b="1">
                <a:solidFill>
                  <a:srgbClr val="464646"/>
                </a:solidFill>
                <a:latin typeface="Arimo Medium" pitchFamily="34" charset="0"/>
                <a:ea typeface="Arimo Medium" pitchFamily="34" charset="-122"/>
                <a:cs typeface="Arimo Medium" pitchFamily="34" charset="-120"/>
              </a:rPr>
              <a:t>Nhập môn Khoa Học Dữ Liệu </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Sinh </a:t>
            </a:r>
            <a:r>
              <a:rPr lang="en-US" sz="2400" dirty="0">
                <a:solidFill>
                  <a:srgbClr val="464646"/>
                </a:solidFill>
                <a:latin typeface="Arimo Medium" pitchFamily="34" charset="0"/>
                <a:ea typeface="Arimo Medium" pitchFamily="34" charset="-122"/>
                <a:cs typeface="Arimo Medium" pitchFamily="34" charset="-120"/>
              </a:rPr>
              <a:t>viên</a:t>
            </a:r>
            <a:r>
              <a:rPr lang="en-US" sz="2400">
                <a:solidFill>
                  <a:srgbClr val="464646"/>
                </a:solidFill>
                <a:latin typeface="Arimo Medium" pitchFamily="34" charset="0"/>
                <a:ea typeface="Arimo Medium" pitchFamily="34" charset="-122"/>
                <a:cs typeface="Arimo Medium" pitchFamily="34" charset="-120"/>
              </a:rPr>
              <a:t>: </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Lê Duy Tuấn Anh (23050098)</a:t>
            </a:r>
          </a:p>
          <a:p>
            <a:pPr>
              <a:lnSpc>
                <a:spcPct val="150000"/>
              </a:lnSpc>
            </a:pPr>
            <a:r>
              <a:rPr lang="en-US" sz="2400">
                <a:solidFill>
                  <a:srgbClr val="464646"/>
                </a:solidFill>
                <a:latin typeface="Arimo Medium" pitchFamily="34" charset="0"/>
                <a:ea typeface="Arimo Medium" pitchFamily="34" charset="-122"/>
                <a:cs typeface="Arimo Medium" pitchFamily="34" charset="-120"/>
              </a:rPr>
              <a:t>	Lý Lâm Vũ (23050102)</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Nguyễn </a:t>
            </a:r>
            <a:r>
              <a:rPr lang="en-US" sz="2400" dirty="0">
                <a:solidFill>
                  <a:srgbClr val="464646"/>
                </a:solidFill>
                <a:latin typeface="Arimo Medium" pitchFamily="34" charset="0"/>
                <a:ea typeface="Arimo Medium" pitchFamily="34" charset="-122"/>
                <a:cs typeface="Arimo Medium" pitchFamily="34" charset="-120"/>
              </a:rPr>
              <a:t>Tuấn Anh (</a:t>
            </a:r>
            <a:r>
              <a:rPr lang="en-US" sz="2400">
                <a:solidFill>
                  <a:srgbClr val="464646"/>
                </a:solidFill>
                <a:latin typeface="Arimo Medium" pitchFamily="34" charset="0"/>
                <a:ea typeface="Arimo Medium" pitchFamily="34" charset="-122"/>
                <a:cs typeface="Arimo Medium" pitchFamily="34" charset="-120"/>
              </a:rPr>
              <a:t>23050118)</a:t>
            </a:r>
          </a:p>
          <a:p>
            <a:pPr marL="0" indent="0" algn="l">
              <a:lnSpc>
                <a:spcPct val="150000"/>
              </a:lnSpc>
              <a:buNone/>
            </a:pPr>
            <a:endParaRPr lang="en-US" sz="2400">
              <a:solidFill>
                <a:srgbClr val="464646"/>
              </a:solidFill>
              <a:latin typeface="Arimo Medium" pitchFamily="34" charset="0"/>
              <a:ea typeface="Arimo Medium" pitchFamily="34" charset="-122"/>
              <a:cs typeface="Arimo Medium" pitchFamily="34" charset="-120"/>
            </a:endParaRP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GVHD: </a:t>
            </a:r>
            <a:r>
              <a:rPr lang="en-US" sz="2400" b="1" dirty="0">
                <a:solidFill>
                  <a:srgbClr val="464646"/>
                </a:solidFill>
                <a:latin typeface="Arimo Medium" pitchFamily="34" charset="0"/>
                <a:ea typeface="Arimo Medium" pitchFamily="34" charset="-122"/>
                <a:cs typeface="Arimo Medium" pitchFamily="34" charset="-120"/>
              </a:rPr>
              <a:t>ThS</a:t>
            </a:r>
            <a:r>
              <a:rPr lang="en-US" sz="2400" b="1">
                <a:solidFill>
                  <a:srgbClr val="464646"/>
                </a:solidFill>
                <a:latin typeface="Arimo Medium" pitchFamily="34" charset="0"/>
                <a:ea typeface="Arimo Medium" pitchFamily="34" charset="-122"/>
                <a:cs typeface="Arimo Medium" pitchFamily="34" charset="-120"/>
              </a:rPr>
              <a:t>. Hồ Ngọc Giàu</a:t>
            </a:r>
            <a:endParaRPr lang="en-US" sz="2400" b="1" dirty="0"/>
          </a:p>
        </p:txBody>
      </p:sp>
      <p:pic>
        <p:nvPicPr>
          <p:cNvPr id="5" name="Picture 4">
            <a:extLst>
              <a:ext uri="{FF2B5EF4-FFF2-40B4-BE49-F238E27FC236}">
                <a16:creationId xmlns:a16="http://schemas.microsoft.com/office/drawing/2014/main" id="{9B145724-077A-D8C6-289C-845E801A02B6}"/>
              </a:ext>
            </a:extLst>
          </p:cNvPr>
          <p:cNvPicPr>
            <a:picLocks noChangeAspect="1"/>
          </p:cNvPicPr>
          <p:nvPr/>
        </p:nvPicPr>
        <p:blipFill>
          <a:blip r:embed="rId3"/>
          <a:stretch>
            <a:fillRect/>
          </a:stretch>
        </p:blipFill>
        <p:spPr>
          <a:xfrm>
            <a:off x="0" y="0"/>
            <a:ext cx="3629608" cy="1119571"/>
          </a:xfrm>
          <a:prstGeom prst="rect">
            <a:avLst/>
          </a:prstGeom>
        </p:spPr>
      </p:pic>
      <p:pic>
        <p:nvPicPr>
          <p:cNvPr id="1026" name="Picture 2" descr="Cristiano Ronaldo làm Đại sứ mới của Shopee, có thể đến Việt Nam">
            <a:extLst>
              <a:ext uri="{FF2B5EF4-FFF2-40B4-BE49-F238E27FC236}">
                <a16:creationId xmlns:a16="http://schemas.microsoft.com/office/drawing/2014/main" id="{5F511697-2CD8-0C14-21D8-FCD6822E64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3497" y="3048885"/>
            <a:ext cx="5076542" cy="50765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32" y="419933"/>
            <a:ext cx="13638133" cy="443032"/>
          </a:xfrm>
          <a:prstGeom prst="rect">
            <a:avLst/>
          </a:prstGeom>
          <a:noFill/>
          <a:ln/>
        </p:spPr>
        <p:txBody>
          <a:bodyPr wrap="none" lIns="0" tIns="0" rIns="0" bIns="0" rtlCol="0" anchor="t"/>
          <a:lstStyle/>
          <a:p>
            <a:pPr marL="0" indent="0" algn="ctr">
              <a:lnSpc>
                <a:spcPts val="3450"/>
              </a:lnSpc>
              <a:buNone/>
            </a:pPr>
            <a:r>
              <a:rPr lang="en-US" sz="3200" b="1">
                <a:solidFill>
                  <a:srgbClr val="030303"/>
                </a:solidFill>
                <a:latin typeface="Arimo Semi Bold" pitchFamily="34" charset="0"/>
                <a:ea typeface="Arimo Semi Bold" pitchFamily="34" charset="-122"/>
                <a:cs typeface="Arimo Semi Bold" pitchFamily="34" charset="-120"/>
              </a:rPr>
              <a:t>Nội dung báo cáo: </a:t>
            </a:r>
            <a:endParaRPr lang="en-US" sz="3200" b="1" dirty="0"/>
          </a:p>
        </p:txBody>
      </p:sp>
      <p:sp>
        <p:nvSpPr>
          <p:cNvPr id="4" name="Shape 2"/>
          <p:cNvSpPr/>
          <p:nvPr/>
        </p:nvSpPr>
        <p:spPr>
          <a:xfrm>
            <a:off x="576697" y="1158097"/>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5" name="Shape 3"/>
          <p:cNvSpPr/>
          <p:nvPr/>
        </p:nvSpPr>
        <p:spPr>
          <a:xfrm>
            <a:off x="591937" y="1185667"/>
            <a:ext cx="566976" cy="1151887"/>
          </a:xfrm>
          <a:prstGeom prst="roundRect">
            <a:avLst>
              <a:gd name="adj" fmla="val 7276"/>
            </a:avLst>
          </a:prstGeom>
          <a:solidFill>
            <a:srgbClr val="F2EEEE"/>
          </a:solidFill>
          <a:ln/>
        </p:spPr>
        <p:txBody>
          <a:bodyPr/>
          <a:lstStyle/>
          <a:p>
            <a:endParaRPr lang="en-US"/>
          </a:p>
        </p:txBody>
      </p:sp>
      <p:sp>
        <p:nvSpPr>
          <p:cNvPr id="6" name="Text 4"/>
          <p:cNvSpPr/>
          <p:nvPr/>
        </p:nvSpPr>
        <p:spPr>
          <a:xfrm>
            <a:off x="769102" y="1718429"/>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1</a:t>
            </a:r>
            <a:endParaRPr lang="en-US" sz="2400" b="1" dirty="0"/>
          </a:p>
        </p:txBody>
      </p:sp>
      <p:sp>
        <p:nvSpPr>
          <p:cNvPr id="7" name="Text 5"/>
          <p:cNvSpPr/>
          <p:nvPr/>
        </p:nvSpPr>
        <p:spPr>
          <a:xfrm>
            <a:off x="1247496" y="1520471"/>
            <a:ext cx="3062168" cy="184309"/>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Giới thiệu dự án</a:t>
            </a:r>
            <a:endParaRPr lang="en-US" sz="2800" b="1" dirty="0"/>
          </a:p>
        </p:txBody>
      </p:sp>
      <p:sp>
        <p:nvSpPr>
          <p:cNvPr id="8" name="Text 6"/>
          <p:cNvSpPr/>
          <p:nvPr/>
        </p:nvSpPr>
        <p:spPr>
          <a:xfrm>
            <a:off x="1247496" y="2037865"/>
            <a:ext cx="12810411" cy="184309"/>
          </a:xfrm>
          <a:prstGeom prst="rect">
            <a:avLst/>
          </a:prstGeom>
          <a:noFill/>
          <a:ln/>
        </p:spPr>
        <p:txBody>
          <a:bodyPr wrap="none" lIns="0" tIns="0" rIns="0" bIns="0" rtlCol="0" anchor="t"/>
          <a:lstStyle/>
          <a:p>
            <a:pPr marL="0" indent="0" algn="l">
              <a:lnSpc>
                <a:spcPts val="1450"/>
              </a:lnSpc>
              <a:buNone/>
            </a:pPr>
            <a:r>
              <a:rPr lang="en-US" sz="2400" dirty="0">
                <a:solidFill>
                  <a:srgbClr val="464646"/>
                </a:solidFill>
                <a:latin typeface="Arimo Medium" pitchFamily="34" charset="0"/>
                <a:ea typeface="Arimo Medium" pitchFamily="34" charset="-122"/>
                <a:cs typeface="Arimo Medium" pitchFamily="34" charset="-120"/>
              </a:rPr>
              <a:t>Tổng </a:t>
            </a:r>
            <a:r>
              <a:rPr lang="en-US" sz="2400">
                <a:solidFill>
                  <a:srgbClr val="464646"/>
                </a:solidFill>
                <a:latin typeface="Arimo Medium" pitchFamily="34" charset="0"/>
                <a:ea typeface="Arimo Medium" pitchFamily="34" charset="-122"/>
                <a:cs typeface="Arimo Medium" pitchFamily="34" charset="-120"/>
              </a:rPr>
              <a:t>quan về dự án</a:t>
            </a:r>
            <a:endParaRPr lang="en-US" sz="2400" dirty="0"/>
          </a:p>
        </p:txBody>
      </p:sp>
      <p:sp>
        <p:nvSpPr>
          <p:cNvPr id="9" name="Shape 7"/>
          <p:cNvSpPr/>
          <p:nvPr/>
        </p:nvSpPr>
        <p:spPr>
          <a:xfrm>
            <a:off x="576695" y="2922590"/>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0" name="Shape 8"/>
          <p:cNvSpPr/>
          <p:nvPr/>
        </p:nvSpPr>
        <p:spPr>
          <a:xfrm>
            <a:off x="591935" y="2950160"/>
            <a:ext cx="566976" cy="1151887"/>
          </a:xfrm>
          <a:prstGeom prst="roundRect">
            <a:avLst>
              <a:gd name="adj" fmla="val 7276"/>
            </a:avLst>
          </a:prstGeom>
          <a:solidFill>
            <a:srgbClr val="F2EEEE"/>
          </a:solidFill>
          <a:ln/>
        </p:spPr>
        <p:txBody>
          <a:bodyPr/>
          <a:lstStyle/>
          <a:p>
            <a:endParaRPr lang="en-US"/>
          </a:p>
        </p:txBody>
      </p:sp>
      <p:sp>
        <p:nvSpPr>
          <p:cNvPr id="11" name="Text 9"/>
          <p:cNvSpPr/>
          <p:nvPr/>
        </p:nvSpPr>
        <p:spPr>
          <a:xfrm>
            <a:off x="769100" y="3482922"/>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2</a:t>
            </a:r>
            <a:endParaRPr lang="en-US" sz="2400" b="1" dirty="0"/>
          </a:p>
        </p:txBody>
      </p:sp>
      <p:sp>
        <p:nvSpPr>
          <p:cNvPr id="12" name="Text 10"/>
          <p:cNvSpPr/>
          <p:nvPr/>
        </p:nvSpPr>
        <p:spPr>
          <a:xfrm>
            <a:off x="1247494" y="3328794"/>
            <a:ext cx="186023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Kế hoạch dự án</a:t>
            </a:r>
            <a:endParaRPr lang="en-US" sz="2800" b="1" dirty="0"/>
          </a:p>
        </p:txBody>
      </p:sp>
      <p:sp>
        <p:nvSpPr>
          <p:cNvPr id="13" name="Text 11"/>
          <p:cNvSpPr/>
          <p:nvPr/>
        </p:nvSpPr>
        <p:spPr>
          <a:xfrm>
            <a:off x="1247494" y="3802358"/>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Kế hoạch triển khai dự án, phân công nhiệm vụ </a:t>
            </a:r>
            <a:endParaRPr lang="en-US" sz="2400" dirty="0"/>
          </a:p>
        </p:txBody>
      </p:sp>
      <p:sp>
        <p:nvSpPr>
          <p:cNvPr id="14" name="Shape 12"/>
          <p:cNvSpPr/>
          <p:nvPr/>
        </p:nvSpPr>
        <p:spPr>
          <a:xfrm>
            <a:off x="576694" y="4621505"/>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5" name="Shape 13"/>
          <p:cNvSpPr/>
          <p:nvPr/>
        </p:nvSpPr>
        <p:spPr>
          <a:xfrm>
            <a:off x="591934" y="4649075"/>
            <a:ext cx="566976" cy="1151887"/>
          </a:xfrm>
          <a:prstGeom prst="roundRect">
            <a:avLst>
              <a:gd name="adj" fmla="val 7276"/>
            </a:avLst>
          </a:prstGeom>
          <a:solidFill>
            <a:srgbClr val="F2EEEE"/>
          </a:solidFill>
          <a:ln/>
        </p:spPr>
        <p:txBody>
          <a:bodyPr/>
          <a:lstStyle/>
          <a:p>
            <a:endParaRPr lang="en-US"/>
          </a:p>
        </p:txBody>
      </p:sp>
      <p:sp>
        <p:nvSpPr>
          <p:cNvPr id="16" name="Text 14"/>
          <p:cNvSpPr/>
          <p:nvPr/>
        </p:nvSpPr>
        <p:spPr>
          <a:xfrm>
            <a:off x="769099" y="5181837"/>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3</a:t>
            </a:r>
            <a:endParaRPr lang="en-US" sz="2400" b="1" dirty="0"/>
          </a:p>
        </p:txBody>
      </p:sp>
      <p:sp>
        <p:nvSpPr>
          <p:cNvPr id="17" name="Text 15"/>
          <p:cNvSpPr/>
          <p:nvPr/>
        </p:nvSpPr>
        <p:spPr>
          <a:xfrm>
            <a:off x="1247496" y="5048451"/>
            <a:ext cx="1772007"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Các nội dung </a:t>
            </a:r>
            <a:endParaRPr lang="en-US" sz="2800" b="1" dirty="0"/>
          </a:p>
        </p:txBody>
      </p:sp>
      <p:sp>
        <p:nvSpPr>
          <p:cNvPr id="18" name="Text 16"/>
          <p:cNvSpPr/>
          <p:nvPr/>
        </p:nvSpPr>
        <p:spPr>
          <a:xfrm>
            <a:off x="1247493" y="5501273"/>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Phần công việc của từng thành viên</a:t>
            </a:r>
            <a:endParaRPr lang="en-US" sz="2400" dirty="0"/>
          </a:p>
        </p:txBody>
      </p:sp>
      <p:grpSp>
        <p:nvGrpSpPr>
          <p:cNvPr id="39" name="Group 38">
            <a:extLst>
              <a:ext uri="{FF2B5EF4-FFF2-40B4-BE49-F238E27FC236}">
                <a16:creationId xmlns:a16="http://schemas.microsoft.com/office/drawing/2014/main" id="{6D5A444C-3104-40BF-D807-58F13E0015EC}"/>
              </a:ext>
            </a:extLst>
          </p:cNvPr>
          <p:cNvGrpSpPr/>
          <p:nvPr/>
        </p:nvGrpSpPr>
        <p:grpSpPr>
          <a:xfrm>
            <a:off x="496131" y="6348965"/>
            <a:ext cx="13638133" cy="1194698"/>
            <a:chOff x="526613" y="6164793"/>
            <a:chExt cx="13638133" cy="1194698"/>
          </a:xfrm>
        </p:grpSpPr>
        <p:sp>
          <p:nvSpPr>
            <p:cNvPr id="19" name="Shape 17"/>
            <p:cNvSpPr/>
            <p:nvPr/>
          </p:nvSpPr>
          <p:spPr>
            <a:xfrm>
              <a:off x="526613" y="6164793"/>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20" name="Shape 18"/>
            <p:cNvSpPr/>
            <p:nvPr/>
          </p:nvSpPr>
          <p:spPr>
            <a:xfrm>
              <a:off x="541853" y="6192363"/>
              <a:ext cx="566976" cy="1151887"/>
            </a:xfrm>
            <a:prstGeom prst="roundRect">
              <a:avLst>
                <a:gd name="adj" fmla="val 7276"/>
              </a:avLst>
            </a:prstGeom>
            <a:solidFill>
              <a:srgbClr val="F2EEEE"/>
            </a:solidFill>
            <a:ln/>
          </p:spPr>
          <p:txBody>
            <a:bodyPr/>
            <a:lstStyle/>
            <a:p>
              <a:endParaRPr lang="en-US"/>
            </a:p>
          </p:txBody>
        </p:sp>
        <p:sp>
          <p:nvSpPr>
            <p:cNvPr id="21" name="Text 19"/>
            <p:cNvSpPr/>
            <p:nvPr/>
          </p:nvSpPr>
          <p:spPr>
            <a:xfrm>
              <a:off x="719018" y="6725125"/>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4</a:t>
              </a:r>
              <a:endParaRPr lang="en-US" sz="2400" b="1" dirty="0"/>
            </a:p>
          </p:txBody>
        </p:sp>
        <p:sp>
          <p:nvSpPr>
            <p:cNvPr id="22" name="Text 20"/>
            <p:cNvSpPr/>
            <p:nvPr/>
          </p:nvSpPr>
          <p:spPr>
            <a:xfrm>
              <a:off x="1197412" y="6546637"/>
              <a:ext cx="188702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Kết luận </a:t>
              </a:r>
              <a:endParaRPr lang="en-US" sz="2800" b="1" dirty="0"/>
            </a:p>
          </p:txBody>
        </p:sp>
        <p:sp>
          <p:nvSpPr>
            <p:cNvPr id="23" name="Text 21"/>
            <p:cNvSpPr/>
            <p:nvPr/>
          </p:nvSpPr>
          <p:spPr>
            <a:xfrm>
              <a:off x="1197412" y="7044561"/>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Dự án đã làm được những gì, cần cải thiện những điểm gì</a:t>
              </a:r>
              <a:endParaRPr lang="en-US" sz="2400" dirty="0"/>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48829" y="137886"/>
            <a:ext cx="4536519" cy="566976"/>
          </a:xfrm>
          <a:prstGeom prst="rect">
            <a:avLst/>
          </a:prstGeom>
          <a:noFill/>
          <a:ln/>
        </p:spPr>
        <p:txBody>
          <a:bodyPr wrap="none" lIns="0" tIns="0" rIns="0" bIns="0" rtlCol="0" anchor="t"/>
          <a:lstStyle/>
          <a:p>
            <a:pPr marL="0" indent="0" algn="l">
              <a:lnSpc>
                <a:spcPts val="4450"/>
              </a:lnSpc>
              <a:buNone/>
            </a:pPr>
            <a:r>
              <a:rPr lang="en-US" sz="3550" b="1">
                <a:solidFill>
                  <a:srgbClr val="030303"/>
                </a:solidFill>
                <a:latin typeface="Arimo Semi Bold" pitchFamily="34" charset="0"/>
                <a:ea typeface="Arimo Semi Bold" pitchFamily="34" charset="-122"/>
                <a:cs typeface="Arimo Semi Bold" pitchFamily="34" charset="-120"/>
              </a:rPr>
              <a:t>1: Giới thiệu dự án </a:t>
            </a:r>
            <a:endParaRPr lang="en-US" sz="3550" b="1" dirty="0"/>
          </a:p>
        </p:txBody>
      </p:sp>
      <p:sp>
        <p:nvSpPr>
          <p:cNvPr id="4" name="Shape 1"/>
          <p:cNvSpPr/>
          <p:nvPr/>
        </p:nvSpPr>
        <p:spPr>
          <a:xfrm>
            <a:off x="793790" y="4302797"/>
            <a:ext cx="13219390" cy="2503117"/>
          </a:xfrm>
          <a:prstGeom prst="roundRect">
            <a:avLst>
              <a:gd name="adj" fmla="val 3052"/>
            </a:avLst>
          </a:prstGeom>
          <a:solidFill>
            <a:srgbClr val="F2EEEE"/>
          </a:solidFill>
          <a:ln/>
        </p:spPr>
        <p:txBody>
          <a:bodyPr/>
          <a:lstStyle/>
          <a:p>
            <a:endParaRPr lang="en-US"/>
          </a:p>
        </p:txBody>
      </p:sp>
      <p:sp>
        <p:nvSpPr>
          <p:cNvPr id="5" name="Text 2"/>
          <p:cNvSpPr/>
          <p:nvPr/>
        </p:nvSpPr>
        <p:spPr>
          <a:xfrm>
            <a:off x="1192054" y="4505099"/>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64646"/>
                </a:solidFill>
                <a:latin typeface="Arimo Semi Bold" pitchFamily="34" charset="0"/>
                <a:ea typeface="Arimo Semi Bold" pitchFamily="34" charset="-122"/>
                <a:cs typeface="Arimo Semi Bold" pitchFamily="34" charset="-120"/>
              </a:rPr>
              <a:t>Tối ưu hóa ?</a:t>
            </a:r>
            <a:endParaRPr lang="en-US" sz="2400" b="1" dirty="0"/>
          </a:p>
        </p:txBody>
      </p:sp>
      <p:sp>
        <p:nvSpPr>
          <p:cNvPr id="6" name="Text 3"/>
          <p:cNvSpPr/>
          <p:nvPr/>
        </p:nvSpPr>
        <p:spPr>
          <a:xfrm>
            <a:off x="1020604" y="5020029"/>
            <a:ext cx="12603956" cy="1600690"/>
          </a:xfrm>
          <a:prstGeom prst="rect">
            <a:avLst/>
          </a:prstGeom>
          <a:noFill/>
          <a:ln/>
        </p:spPr>
        <p:txBody>
          <a:bodyPr wrap="square" lIns="0" tIns="0" rIns="0" bIns="0" rtlCol="0" anchor="t"/>
          <a:lstStyle/>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Bán cái gì? (Nên đầu tư chạy Ads cho mặt  hàng nào, phân khúc nào đang dễ chốt đơn nhất,..)</a:t>
            </a:r>
          </a:p>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Bán cho ai, ở đâu ? ( Hành vi mua sắm ở các khu vực có khác nhau không?)</a:t>
            </a:r>
          </a:p>
          <a:p>
            <a:pPr marL="342900" indent="-342900" algn="l">
              <a:lnSpc>
                <a:spcPts val="2850"/>
              </a:lnSpc>
              <a:buFont typeface="Arial" panose="020B0604020202020204" pitchFamily="34" charset="0"/>
              <a:buChar char="•"/>
            </a:pPr>
            <a:r>
              <a:rPr lang="en-US" sz="2200">
                <a:solidFill>
                  <a:srgbClr val="464646"/>
                </a:solidFill>
                <a:latin typeface="Arimo Medium" pitchFamily="34" charset="0"/>
                <a:ea typeface="Arimo Medium" pitchFamily="34" charset="-122"/>
                <a:cs typeface="Arimo Medium" pitchFamily="34" charset="-120"/>
              </a:rPr>
              <a:t>Dùng chiến lược gì? ( Giảm giá mạnh liệu có tăng  doanh thu, hay khách hàng quan tâm đến số rating hơn? ) </a:t>
            </a:r>
          </a:p>
        </p:txBody>
      </p:sp>
      <p:sp>
        <p:nvSpPr>
          <p:cNvPr id="11" name="Shape 1">
            <a:extLst>
              <a:ext uri="{FF2B5EF4-FFF2-40B4-BE49-F238E27FC236}">
                <a16:creationId xmlns:a16="http://schemas.microsoft.com/office/drawing/2014/main" id="{7A319361-6032-924E-F6A7-6E82E11240ED}"/>
              </a:ext>
            </a:extLst>
          </p:cNvPr>
          <p:cNvSpPr/>
          <p:nvPr/>
        </p:nvSpPr>
        <p:spPr>
          <a:xfrm>
            <a:off x="793790" y="1651177"/>
            <a:ext cx="13219391" cy="1890675"/>
          </a:xfrm>
          <a:prstGeom prst="roundRect">
            <a:avLst>
              <a:gd name="adj" fmla="val 12013"/>
            </a:avLst>
          </a:prstGeom>
          <a:solidFill>
            <a:srgbClr val="F2EEEE"/>
          </a:solidFill>
          <a:ln/>
        </p:spPr>
        <p:txBody>
          <a:bodyPr/>
          <a:lstStyle/>
          <a:p>
            <a:endParaRPr lang="en-US"/>
          </a:p>
        </p:txBody>
      </p:sp>
      <p:sp>
        <p:nvSpPr>
          <p:cNvPr id="12" name="Text 2">
            <a:extLst>
              <a:ext uri="{FF2B5EF4-FFF2-40B4-BE49-F238E27FC236}">
                <a16:creationId xmlns:a16="http://schemas.microsoft.com/office/drawing/2014/main" id="{6312C376-0B40-7DBB-BB18-E143909AAF3C}"/>
              </a:ext>
            </a:extLst>
          </p:cNvPr>
          <p:cNvSpPr/>
          <p:nvPr/>
        </p:nvSpPr>
        <p:spPr>
          <a:xfrm>
            <a:off x="1020605" y="1809860"/>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64646"/>
                </a:solidFill>
                <a:latin typeface="Arimo Semi Bold" pitchFamily="34" charset="0"/>
                <a:ea typeface="Arimo Semi Bold" pitchFamily="34" charset="-122"/>
                <a:cs typeface="Arimo Semi Bold" pitchFamily="34" charset="-120"/>
              </a:rPr>
              <a:t>Mục đích dự án</a:t>
            </a:r>
            <a:endParaRPr lang="en-US" sz="2400" b="1" dirty="0"/>
          </a:p>
        </p:txBody>
      </p:sp>
      <p:sp>
        <p:nvSpPr>
          <p:cNvPr id="13" name="Text 3">
            <a:extLst>
              <a:ext uri="{FF2B5EF4-FFF2-40B4-BE49-F238E27FC236}">
                <a16:creationId xmlns:a16="http://schemas.microsoft.com/office/drawing/2014/main" id="{78F9E65D-CBD9-C9C9-880F-76577740F998}"/>
              </a:ext>
            </a:extLst>
          </p:cNvPr>
          <p:cNvSpPr/>
          <p:nvPr/>
        </p:nvSpPr>
        <p:spPr>
          <a:xfrm>
            <a:off x="1280161" y="2296708"/>
            <a:ext cx="12814980" cy="1360558"/>
          </a:xfrm>
          <a:prstGeom prst="rect">
            <a:avLst/>
          </a:prstGeom>
          <a:noFill/>
          <a:ln/>
        </p:spPr>
        <p:txBody>
          <a:bodyPr wrap="square" lIns="0" tIns="0" rIns="0" bIns="0" rtlCol="0" anchor="t"/>
          <a:lstStyle/>
          <a:p>
            <a:pPr marL="0" indent="0" algn="l">
              <a:lnSpc>
                <a:spcPts val="2850"/>
              </a:lnSpc>
              <a:buNone/>
            </a:pPr>
            <a:r>
              <a:rPr lang="en-US" sz="2000">
                <a:solidFill>
                  <a:srgbClr val="464646"/>
                </a:solidFill>
                <a:latin typeface="Arimo Medium" pitchFamily="34" charset="0"/>
                <a:ea typeface="Arimo Medium" pitchFamily="34" charset="-122"/>
                <a:cs typeface="Arimo Medium" pitchFamily="34" charset="-120"/>
              </a:rPr>
              <a:t>Sử dụng các kiến thức đã học về Làm sạch dữ liệu, giảm chiều, gọm cụm cung cấp những cái nhìn tổng quan, phân tích các sơ đồ trực quan hóa nhằm </a:t>
            </a:r>
            <a:r>
              <a:rPr lang="en-US" sz="2000" b="1">
                <a:solidFill>
                  <a:srgbClr val="464646"/>
                </a:solidFill>
                <a:latin typeface="Arimo Medium" pitchFamily="34" charset="0"/>
                <a:ea typeface="Arimo Medium" pitchFamily="34" charset="-122"/>
                <a:cs typeface="Arimo Medium" pitchFamily="34" charset="-120"/>
              </a:rPr>
              <a:t>tối ưu hóa chiến dịch marketing cho các mặt hang điện thoại trên nền tảng Shoppee. </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00B3-51FE-6A7F-1617-55F40E47DA3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315A814-28A2-A6C4-2FB5-30E129290E66}"/>
              </a:ext>
            </a:extLst>
          </p:cNvPr>
          <p:cNvSpPr/>
          <p:nvPr/>
        </p:nvSpPr>
        <p:spPr>
          <a:xfrm>
            <a:off x="148829" y="137885"/>
            <a:ext cx="14176771" cy="666231"/>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2. Kế hoạch dự án</a:t>
            </a:r>
            <a:endParaRPr lang="en-US" sz="3550" b="1" dirty="0"/>
          </a:p>
        </p:txBody>
      </p:sp>
      <p:sp>
        <p:nvSpPr>
          <p:cNvPr id="7" name="Shape 4">
            <a:extLst>
              <a:ext uri="{FF2B5EF4-FFF2-40B4-BE49-F238E27FC236}">
                <a16:creationId xmlns:a16="http://schemas.microsoft.com/office/drawing/2014/main" id="{CEDD28D7-5216-A2A5-1CD0-DC9F3D1ED507}"/>
              </a:ext>
            </a:extLst>
          </p:cNvPr>
          <p:cNvSpPr/>
          <p:nvPr/>
        </p:nvSpPr>
        <p:spPr>
          <a:xfrm>
            <a:off x="148829" y="2240280"/>
            <a:ext cx="14356080" cy="4251960"/>
          </a:xfrm>
          <a:prstGeom prst="roundRect">
            <a:avLst>
              <a:gd name="adj" fmla="val 3052"/>
            </a:avLst>
          </a:prstGeom>
          <a:solidFill>
            <a:srgbClr val="F2EEEE"/>
          </a:solidFill>
          <a:ln/>
        </p:spPr>
        <p:txBody>
          <a:bodyPr/>
          <a:lstStyle/>
          <a:p>
            <a:endParaRPr lang="en-US"/>
          </a:p>
        </p:txBody>
      </p:sp>
      <p:graphicFrame>
        <p:nvGraphicFramePr>
          <p:cNvPr id="2" name="Table 1">
            <a:extLst>
              <a:ext uri="{FF2B5EF4-FFF2-40B4-BE49-F238E27FC236}">
                <a16:creationId xmlns:a16="http://schemas.microsoft.com/office/drawing/2014/main" id="{1D7DF208-8BF8-F6B8-9E81-04F2162F6440}"/>
              </a:ext>
            </a:extLst>
          </p:cNvPr>
          <p:cNvGraphicFramePr>
            <a:graphicFrameLocks noGrp="1"/>
          </p:cNvGraphicFramePr>
          <p:nvPr>
            <p:extLst>
              <p:ext uri="{D42A27DB-BD31-4B8C-83A1-F6EECF244321}">
                <p14:modId xmlns:p14="http://schemas.microsoft.com/office/powerpoint/2010/main" val="3826274665"/>
              </p:ext>
            </p:extLst>
          </p:nvPr>
        </p:nvGraphicFramePr>
        <p:xfrm>
          <a:off x="407909" y="2552700"/>
          <a:ext cx="13837920" cy="371856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884101039"/>
                    </a:ext>
                  </a:extLst>
                </a:gridCol>
                <a:gridCol w="4371179">
                  <a:extLst>
                    <a:ext uri="{9D8B030D-6E8A-4147-A177-3AD203B41FA5}">
                      <a16:colId xmlns:a16="http://schemas.microsoft.com/office/drawing/2014/main" val="750565131"/>
                    </a:ext>
                  </a:extLst>
                </a:gridCol>
                <a:gridCol w="1953421">
                  <a:extLst>
                    <a:ext uri="{9D8B030D-6E8A-4147-A177-3AD203B41FA5}">
                      <a16:colId xmlns:a16="http://schemas.microsoft.com/office/drawing/2014/main" val="2333520888"/>
                    </a:ext>
                  </a:extLst>
                </a:gridCol>
                <a:gridCol w="6522720">
                  <a:extLst>
                    <a:ext uri="{9D8B030D-6E8A-4147-A177-3AD203B41FA5}">
                      <a16:colId xmlns:a16="http://schemas.microsoft.com/office/drawing/2014/main" val="3080822334"/>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Giai đoạn</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Tên công việc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Đảm nhiệm</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Mô tả </a:t>
                      </a:r>
                    </a:p>
                  </a:txBody>
                  <a:tcPr anchor="ctr"/>
                </a:tc>
                <a:extLst>
                  <a:ext uri="{0D108BD9-81ED-4DB2-BD59-A6C34878D82A}">
                    <a16:rowId xmlns:a16="http://schemas.microsoft.com/office/drawing/2014/main" val="1373753996"/>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1</a:t>
                      </a:r>
                    </a:p>
                  </a:txBody>
                  <a:tcPr anchor="ctr"/>
                </a:tc>
                <a:tc>
                  <a:txBody>
                    <a:bodyPr/>
                    <a:lstStyle/>
                    <a:p>
                      <a:r>
                        <a:rPr lang="en-US" sz="2000" b="1">
                          <a:latin typeface="Arimo Medium" panose="020B0604020202020204" charset="0"/>
                          <a:ea typeface="Arimo Medium" panose="020B0604020202020204" charset="0"/>
                          <a:cs typeface="Arimo Medium" panose="020B0604020202020204" charset="0"/>
                        </a:rPr>
                        <a:t>Khám phá dữ liệu </a:t>
                      </a: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Cả nhóm</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Kiểm tra dữ liệu trước thô ban đầu</a:t>
                      </a:r>
                    </a:p>
                  </a:txBody>
                  <a:tcPr/>
                </a:tc>
                <a:extLst>
                  <a:ext uri="{0D108BD9-81ED-4DB2-BD59-A6C34878D82A}">
                    <a16:rowId xmlns:a16="http://schemas.microsoft.com/office/drawing/2014/main" val="3588631850"/>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2</a:t>
                      </a:r>
                    </a:p>
                  </a:txBody>
                  <a:tcPr anchor="ctr"/>
                </a:tc>
                <a:tc>
                  <a:txBody>
                    <a:bodyPr/>
                    <a:lstStyle/>
                    <a:p>
                      <a:r>
                        <a:rPr lang="en-US" sz="2000" b="1">
                          <a:latin typeface="Arimo Medium" panose="020B0604020202020204" charset="0"/>
                          <a:ea typeface="Arimo Medium" panose="020B0604020202020204" charset="0"/>
                          <a:cs typeface="Arimo Medium" panose="020B0604020202020204" charset="0"/>
                        </a:rPr>
                        <a:t>Làm sạch dữ liệu</a:t>
                      </a: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Cả nhóm </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Tiến hành làm sạch ( loại bỏ mặt hàng thừa,….)</a:t>
                      </a:r>
                    </a:p>
                  </a:txBody>
                  <a:tcPr/>
                </a:tc>
                <a:extLst>
                  <a:ext uri="{0D108BD9-81ED-4DB2-BD59-A6C34878D82A}">
                    <a16:rowId xmlns:a16="http://schemas.microsoft.com/office/drawing/2014/main" val="3015556416"/>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3</a:t>
                      </a:r>
                    </a:p>
                  </a:txBody>
                  <a:tcPr anchor="ctr"/>
                </a:tc>
                <a:tc>
                  <a:txBody>
                    <a:bodyPr/>
                    <a:lstStyle/>
                    <a:p>
                      <a:r>
                        <a:rPr lang="en-US" sz="2000" b="1" kern="1200">
                          <a:solidFill>
                            <a:schemeClr val="tx1"/>
                          </a:solidFill>
                          <a:effectLst/>
                          <a:latin typeface="+mn-lt"/>
                          <a:ea typeface="+mn-ea"/>
                          <a:cs typeface="+mn-cs"/>
                        </a:rPr>
                        <a:t>Trực quan hóa dữ liệu ban đầu </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Lê Duy Tuấn Anh</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Trực quan dữ liệu làm sạch thông qua các sơ đồ để có cái nhìn tổng quan về dũ liệu lúc này.</a:t>
                      </a:r>
                    </a:p>
                  </a:txBody>
                  <a:tcPr/>
                </a:tc>
                <a:extLst>
                  <a:ext uri="{0D108BD9-81ED-4DB2-BD59-A6C34878D82A}">
                    <a16:rowId xmlns:a16="http://schemas.microsoft.com/office/drawing/2014/main" val="636418390"/>
                  </a:ext>
                </a:extLst>
              </a:tr>
              <a:tr h="370840">
                <a:tc>
                  <a:txBody>
                    <a:bodyPr/>
                    <a:lstStyle/>
                    <a:p>
                      <a:pPr algn="ctr"/>
                      <a:r>
                        <a:rPr lang="en-US" sz="2000">
                          <a:latin typeface="Arimo Medium" panose="020B0604020202020204" charset="0"/>
                          <a:ea typeface="Arimo Medium" panose="020B0604020202020204" charset="0"/>
                          <a:cs typeface="Arimo Medium" panose="020B0604020202020204" charset="0"/>
                        </a:rPr>
                        <a:t>4</a:t>
                      </a:r>
                    </a:p>
                  </a:txBody>
                  <a:tcPr anchor="ctr"/>
                </a:tc>
                <a:tc>
                  <a:txBody>
                    <a:bodyPr/>
                    <a:lstStyle/>
                    <a:p>
                      <a:r>
                        <a:rPr lang="en-US" sz="2000" b="1" kern="1200">
                          <a:solidFill>
                            <a:schemeClr val="tx1"/>
                          </a:solidFill>
                          <a:effectLst/>
                          <a:latin typeface="+mn-lt"/>
                          <a:ea typeface="+mn-ea"/>
                          <a:cs typeface="+mn-cs"/>
                        </a:rPr>
                        <a:t>Chuẩn hóa và giảm chiều (PCA, CA) </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Lý Lâm Vũ</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Giảm chiều dữ liệu để chuẩn bị cho bước gom cụm dữ liệu.</a:t>
                      </a:r>
                    </a:p>
                  </a:txBody>
                  <a:tcPr/>
                </a:tc>
                <a:extLst>
                  <a:ext uri="{0D108BD9-81ED-4DB2-BD59-A6C34878D82A}">
                    <a16:rowId xmlns:a16="http://schemas.microsoft.com/office/drawing/2014/main" val="3771549242"/>
                  </a:ext>
                </a:extLst>
              </a:tr>
              <a:tr h="0">
                <a:tc>
                  <a:txBody>
                    <a:bodyPr/>
                    <a:lstStyle/>
                    <a:p>
                      <a:pPr algn="ctr"/>
                      <a:r>
                        <a:rPr lang="en-US" sz="2000">
                          <a:latin typeface="Arimo Medium" panose="020B0604020202020204" charset="0"/>
                          <a:ea typeface="Arimo Medium" panose="020B0604020202020204" charset="0"/>
                          <a:cs typeface="Arimo Medium" panose="020B0604020202020204" charset="0"/>
                        </a:rPr>
                        <a:t>5</a:t>
                      </a:r>
                    </a:p>
                  </a:txBody>
                  <a:tcPr anchor="ctr"/>
                </a:tc>
                <a:tc>
                  <a:txBody>
                    <a:bodyPr/>
                    <a:lstStyle/>
                    <a:p>
                      <a:r>
                        <a:rPr lang="en-US" sz="2000" b="1" kern="1200">
                          <a:solidFill>
                            <a:schemeClr val="tx1"/>
                          </a:solidFill>
                          <a:effectLst/>
                          <a:latin typeface="+mn-lt"/>
                          <a:ea typeface="+mn-ea"/>
                          <a:cs typeface="+mn-cs"/>
                        </a:rPr>
                        <a:t>Gom cụm dữ liệu (Kmean), huấn luyện mô hình học máy (Machine Learning</a:t>
                      </a:r>
                      <a:endParaRPr lang="en-US" sz="2000" b="1">
                        <a:latin typeface="Arimo Medium" panose="020B0604020202020204" charset="0"/>
                        <a:ea typeface="Arimo Medium" panose="020B0604020202020204" charset="0"/>
                        <a:cs typeface="Arimo Medium" panose="020B0604020202020204" charset="0"/>
                      </a:endParaRPr>
                    </a:p>
                  </a:txBody>
                  <a:tcPr/>
                </a:tc>
                <a:tc>
                  <a:txBody>
                    <a:bodyPr/>
                    <a:lstStyle/>
                    <a:p>
                      <a:pPr algn="ctr"/>
                      <a:r>
                        <a:rPr lang="en-US" sz="2000">
                          <a:latin typeface="Arimo Medium" panose="020B0604020202020204" charset="0"/>
                          <a:ea typeface="Arimo Medium" panose="020B0604020202020204" charset="0"/>
                          <a:cs typeface="Arimo Medium" panose="020B0604020202020204" charset="0"/>
                        </a:rPr>
                        <a:t>Nguyễn Tuấn Anh</a:t>
                      </a:r>
                    </a:p>
                  </a:txBody>
                  <a:tcPr anchor="ctr"/>
                </a:tc>
                <a:tc>
                  <a:txBody>
                    <a:bodyPr/>
                    <a:lstStyle/>
                    <a:p>
                      <a:r>
                        <a:rPr lang="en-US" sz="2000">
                          <a:latin typeface="Arimo Medium" panose="020B0604020202020204" charset="0"/>
                          <a:ea typeface="Arimo Medium" panose="020B0604020202020204" charset="0"/>
                          <a:cs typeface="Arimo Medium" panose="020B0604020202020204" charset="0"/>
                        </a:rPr>
                        <a:t>Tiến hành gom cụm dữ liệu, huấn luyện mô hình AI và triển khai UI nhập input </a:t>
                      </a:r>
                      <a:r>
                        <a:rPr lang="en-US" sz="2000">
                          <a:latin typeface="Arimo Medium" panose="020B0604020202020204" charset="0"/>
                          <a:ea typeface="Arimo Medium" panose="020B0604020202020204" charset="0"/>
                          <a:cs typeface="Arimo Medium" panose="020B0604020202020204" charset="0"/>
                          <a:sym typeface="Wingdings" panose="05000000000000000000" pitchFamily="2" charset="2"/>
                        </a:rPr>
                        <a:t> test AI.</a:t>
                      </a:r>
                      <a:endParaRPr lang="en-US" sz="200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1009225213"/>
                  </a:ext>
                </a:extLst>
              </a:tr>
            </a:tbl>
          </a:graphicData>
        </a:graphic>
      </p:graphicFrame>
    </p:spTree>
    <p:extLst>
      <p:ext uri="{BB962C8B-B14F-4D97-AF65-F5344CB8AC3E}">
        <p14:creationId xmlns:p14="http://schemas.microsoft.com/office/powerpoint/2010/main" val="1972260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CB30-9981-BDA6-A523-9F7AEAE87A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F24DE2-D593-9E76-B0FF-E6FEFAC09CA3}"/>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3FD5632A-A845-A6EF-41F9-93CE469DFCB9}"/>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4AB72DE0-E629-3A78-35C2-62B389D75DCB}"/>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361CC25B-C146-F96C-307E-766462D29A53}"/>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3451C206-767D-2B44-8EAA-69D610B35BFF}"/>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1DD27C7C-B9EA-3F25-A67D-421D2105F43D}"/>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A344F25B-37CA-EC4E-B04B-943B115887AF}"/>
              </a:ext>
            </a:extLst>
          </p:cNvPr>
          <p:cNvPicPr>
            <a:picLocks noChangeAspect="1"/>
          </p:cNvPicPr>
          <p:nvPr/>
        </p:nvPicPr>
        <p:blipFill>
          <a:blip r:embed="rId4"/>
          <a:stretch>
            <a:fillRect/>
          </a:stretch>
        </p:blipFill>
        <p:spPr>
          <a:xfrm>
            <a:off x="481584" y="1969171"/>
            <a:ext cx="13291190" cy="946074"/>
          </a:xfrm>
          <a:prstGeom prst="rect">
            <a:avLst/>
          </a:prstGeom>
        </p:spPr>
      </p:pic>
      <p:pic>
        <p:nvPicPr>
          <p:cNvPr id="11" name="Picture 10">
            <a:extLst>
              <a:ext uri="{FF2B5EF4-FFF2-40B4-BE49-F238E27FC236}">
                <a16:creationId xmlns:a16="http://schemas.microsoft.com/office/drawing/2014/main" id="{757244D4-7A23-BE4D-20C4-4FA58A1D82EE}"/>
              </a:ext>
            </a:extLst>
          </p:cNvPr>
          <p:cNvPicPr>
            <a:picLocks noChangeAspect="1"/>
          </p:cNvPicPr>
          <p:nvPr/>
        </p:nvPicPr>
        <p:blipFill>
          <a:blip r:embed="rId5"/>
          <a:stretch>
            <a:fillRect/>
          </a:stretch>
        </p:blipFill>
        <p:spPr>
          <a:xfrm>
            <a:off x="15651043" y="1984175"/>
            <a:ext cx="20719029" cy="946074"/>
          </a:xfrm>
          <a:prstGeom prst="rect">
            <a:avLst/>
          </a:prstGeom>
        </p:spPr>
      </p:pic>
      <p:pic>
        <p:nvPicPr>
          <p:cNvPr id="13" name="Picture 12">
            <a:extLst>
              <a:ext uri="{FF2B5EF4-FFF2-40B4-BE49-F238E27FC236}">
                <a16:creationId xmlns:a16="http://schemas.microsoft.com/office/drawing/2014/main" id="{0B25D368-4E3E-FC84-97D3-6CA460C36879}"/>
              </a:ext>
            </a:extLst>
          </p:cNvPr>
          <p:cNvPicPr>
            <a:picLocks noChangeAspect="1"/>
          </p:cNvPicPr>
          <p:nvPr/>
        </p:nvPicPr>
        <p:blipFill>
          <a:blip r:embed="rId6"/>
          <a:stretch>
            <a:fillRect/>
          </a:stretch>
        </p:blipFill>
        <p:spPr>
          <a:xfrm>
            <a:off x="40233377" y="1887842"/>
            <a:ext cx="11186614" cy="1108732"/>
          </a:xfrm>
          <a:prstGeom prst="rect">
            <a:avLst/>
          </a:prstGeom>
        </p:spPr>
      </p:pic>
    </p:spTree>
    <p:extLst>
      <p:ext uri="{BB962C8B-B14F-4D97-AF65-F5344CB8AC3E}">
        <p14:creationId xmlns:p14="http://schemas.microsoft.com/office/powerpoint/2010/main" val="26184163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EF15-56B3-2C67-50DA-946E6F4D8C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6D88CA-B40A-F511-DACB-020B421591BB}"/>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4C89911E-06E0-C85D-6E20-5BA5A47D363C}"/>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33919910-7D22-C41E-11B4-4F0B2FA30F09}"/>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9FDE97AA-B2DB-8CBE-589E-2B53C2964E7E}"/>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7374F1CA-2168-476F-92B6-DA1585E0DFE9}"/>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F27B2273-1618-7821-6C5C-40E8A3343A26}"/>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16F90167-37CA-1752-90A2-D9E1D51CEDEC}"/>
              </a:ext>
            </a:extLst>
          </p:cNvPr>
          <p:cNvPicPr>
            <a:picLocks noChangeAspect="1"/>
          </p:cNvPicPr>
          <p:nvPr/>
        </p:nvPicPr>
        <p:blipFill>
          <a:blip r:embed="rId4"/>
          <a:stretch>
            <a:fillRect/>
          </a:stretch>
        </p:blipFill>
        <p:spPr>
          <a:xfrm>
            <a:off x="-14961114" y="1674122"/>
            <a:ext cx="13291190" cy="946074"/>
          </a:xfrm>
          <a:prstGeom prst="rect">
            <a:avLst/>
          </a:prstGeom>
        </p:spPr>
      </p:pic>
      <p:pic>
        <p:nvPicPr>
          <p:cNvPr id="11" name="Picture 10">
            <a:extLst>
              <a:ext uri="{FF2B5EF4-FFF2-40B4-BE49-F238E27FC236}">
                <a16:creationId xmlns:a16="http://schemas.microsoft.com/office/drawing/2014/main" id="{C815A1E0-C3C1-6B14-6978-C14D6BB39C93}"/>
              </a:ext>
            </a:extLst>
          </p:cNvPr>
          <p:cNvPicPr>
            <a:picLocks noChangeAspect="1"/>
          </p:cNvPicPr>
          <p:nvPr/>
        </p:nvPicPr>
        <p:blipFill>
          <a:blip r:embed="rId5"/>
          <a:stretch>
            <a:fillRect/>
          </a:stretch>
        </p:blipFill>
        <p:spPr>
          <a:xfrm>
            <a:off x="208345" y="1600871"/>
            <a:ext cx="23927402" cy="1092575"/>
          </a:xfrm>
          <a:prstGeom prst="rect">
            <a:avLst/>
          </a:prstGeom>
        </p:spPr>
      </p:pic>
      <p:pic>
        <p:nvPicPr>
          <p:cNvPr id="13" name="Picture 12">
            <a:extLst>
              <a:ext uri="{FF2B5EF4-FFF2-40B4-BE49-F238E27FC236}">
                <a16:creationId xmlns:a16="http://schemas.microsoft.com/office/drawing/2014/main" id="{11D34F3F-C2EE-6ECB-6D76-EACB1D64B058}"/>
              </a:ext>
            </a:extLst>
          </p:cNvPr>
          <p:cNvPicPr>
            <a:picLocks noChangeAspect="1"/>
          </p:cNvPicPr>
          <p:nvPr/>
        </p:nvPicPr>
        <p:blipFill>
          <a:blip r:embed="rId6"/>
          <a:stretch>
            <a:fillRect/>
          </a:stretch>
        </p:blipFill>
        <p:spPr>
          <a:xfrm>
            <a:off x="22805643" y="1511464"/>
            <a:ext cx="11186614" cy="1108732"/>
          </a:xfrm>
          <a:prstGeom prst="rect">
            <a:avLst/>
          </a:prstGeom>
        </p:spPr>
      </p:pic>
    </p:spTree>
    <p:extLst>
      <p:ext uri="{BB962C8B-B14F-4D97-AF65-F5344CB8AC3E}">
        <p14:creationId xmlns:p14="http://schemas.microsoft.com/office/powerpoint/2010/main" val="172485305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51E24-9F20-73A1-521E-49B3BBD2C7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540051-CEF8-4D4B-C8F4-27F4D2E94AC7}"/>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5D04C81D-10C8-E1B4-51ED-D67AD80DE528}"/>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A6D972DA-C1F8-1749-B27D-494FBB10071E}"/>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ABACD98A-15D2-6DC6-8B1D-86492F7257F8}"/>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971936C6-59D7-B830-B33A-63DCCC923852}"/>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EB8F95B1-94DC-0F7E-C337-C6B65C9E5E50}"/>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F9E4DE75-738E-6B4B-8E81-98F04CC725E8}"/>
              </a:ext>
            </a:extLst>
          </p:cNvPr>
          <p:cNvPicPr>
            <a:picLocks noChangeAspect="1"/>
          </p:cNvPicPr>
          <p:nvPr/>
        </p:nvPicPr>
        <p:blipFill>
          <a:blip r:embed="rId4"/>
          <a:stretch>
            <a:fillRect/>
          </a:stretch>
        </p:blipFill>
        <p:spPr>
          <a:xfrm>
            <a:off x="-16907145" y="-3507478"/>
            <a:ext cx="13291190" cy="946074"/>
          </a:xfrm>
          <a:prstGeom prst="rect">
            <a:avLst/>
          </a:prstGeom>
        </p:spPr>
      </p:pic>
      <p:pic>
        <p:nvPicPr>
          <p:cNvPr id="11" name="Picture 10">
            <a:extLst>
              <a:ext uri="{FF2B5EF4-FFF2-40B4-BE49-F238E27FC236}">
                <a16:creationId xmlns:a16="http://schemas.microsoft.com/office/drawing/2014/main" id="{364465E8-AEA5-9EBD-796C-5A8F03E29D14}"/>
              </a:ext>
            </a:extLst>
          </p:cNvPr>
          <p:cNvPicPr>
            <a:picLocks noChangeAspect="1"/>
          </p:cNvPicPr>
          <p:nvPr/>
        </p:nvPicPr>
        <p:blipFill>
          <a:blip r:embed="rId5"/>
          <a:stretch>
            <a:fillRect/>
          </a:stretch>
        </p:blipFill>
        <p:spPr>
          <a:xfrm>
            <a:off x="-10261550" y="1480192"/>
            <a:ext cx="23927402" cy="1092575"/>
          </a:xfrm>
          <a:prstGeom prst="rect">
            <a:avLst/>
          </a:prstGeom>
        </p:spPr>
      </p:pic>
      <p:pic>
        <p:nvPicPr>
          <p:cNvPr id="13" name="Picture 12">
            <a:extLst>
              <a:ext uri="{FF2B5EF4-FFF2-40B4-BE49-F238E27FC236}">
                <a16:creationId xmlns:a16="http://schemas.microsoft.com/office/drawing/2014/main" id="{1AA42168-DC81-4549-24DB-5E725E53EF8E}"/>
              </a:ext>
            </a:extLst>
          </p:cNvPr>
          <p:cNvPicPr>
            <a:picLocks noChangeAspect="1"/>
          </p:cNvPicPr>
          <p:nvPr/>
        </p:nvPicPr>
        <p:blipFill>
          <a:blip r:embed="rId6"/>
          <a:stretch>
            <a:fillRect/>
          </a:stretch>
        </p:blipFill>
        <p:spPr>
          <a:xfrm>
            <a:off x="16709643" y="1380360"/>
            <a:ext cx="11186614" cy="1108732"/>
          </a:xfrm>
          <a:prstGeom prst="rect">
            <a:avLst/>
          </a:prstGeom>
        </p:spPr>
      </p:pic>
    </p:spTree>
    <p:extLst>
      <p:ext uri="{BB962C8B-B14F-4D97-AF65-F5344CB8AC3E}">
        <p14:creationId xmlns:p14="http://schemas.microsoft.com/office/powerpoint/2010/main" val="30098518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9D2C9-E8B0-32F1-3B1A-CF25C3F93A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8DE48D-3E02-E7BB-CAC4-E8F818A33D27}"/>
              </a:ext>
            </a:extLst>
          </p:cNvPr>
          <p:cNvSpPr/>
          <p:nvPr/>
        </p:nvSpPr>
        <p:spPr>
          <a:xfrm>
            <a:off x="1" y="34642"/>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 Các nội dung</a:t>
            </a:r>
            <a:endParaRPr lang="en-US" sz="3550" b="1" dirty="0"/>
          </a:p>
        </p:txBody>
      </p:sp>
      <p:sp>
        <p:nvSpPr>
          <p:cNvPr id="15" name="Shape 1">
            <a:extLst>
              <a:ext uri="{FF2B5EF4-FFF2-40B4-BE49-F238E27FC236}">
                <a16:creationId xmlns:a16="http://schemas.microsoft.com/office/drawing/2014/main" id="{0B12B73D-EAAC-5834-B675-C421C3BEFDBE}"/>
              </a:ext>
            </a:extLst>
          </p:cNvPr>
          <p:cNvSpPr/>
          <p:nvPr/>
        </p:nvSpPr>
        <p:spPr>
          <a:xfrm>
            <a:off x="208345" y="3678680"/>
            <a:ext cx="3900668" cy="4388876"/>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E0EF29A8-A5E6-7211-E998-5360C6ACC87C}"/>
              </a:ext>
            </a:extLst>
          </p:cNvPr>
          <p:cNvSpPr/>
          <p:nvPr/>
        </p:nvSpPr>
        <p:spPr>
          <a:xfrm>
            <a:off x="481584" y="3840185"/>
            <a:ext cx="3187592"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Nguồn dữ liệu </a:t>
            </a:r>
            <a:endParaRPr lang="vi-VN" sz="2400" b="1">
              <a:solidFill>
                <a:srgbClr val="464646"/>
              </a:solidFill>
              <a:latin typeface="Arimo Medium" pitchFamily="34" charset="0"/>
              <a:ea typeface="Arimo Medium" pitchFamily="34" charset="-122"/>
              <a:cs typeface="Arimo Medium" pitchFamily="34" charset="-120"/>
            </a:endParaRPr>
          </a:p>
        </p:txBody>
      </p:sp>
      <p:sp>
        <p:nvSpPr>
          <p:cNvPr id="20" name="Text 3">
            <a:extLst>
              <a:ext uri="{FF2B5EF4-FFF2-40B4-BE49-F238E27FC236}">
                <a16:creationId xmlns:a16="http://schemas.microsoft.com/office/drawing/2014/main" id="{A0BAD165-8C94-3749-0EEF-10FEC31726FB}"/>
              </a:ext>
            </a:extLst>
          </p:cNvPr>
          <p:cNvSpPr/>
          <p:nvPr/>
        </p:nvSpPr>
        <p:spPr>
          <a:xfrm>
            <a:off x="481584" y="4502479"/>
            <a:ext cx="3407511" cy="3264134"/>
          </a:xfrm>
          <a:prstGeom prst="rect">
            <a:avLst/>
          </a:prstGeom>
          <a:noFill/>
          <a:ln/>
        </p:spPr>
        <p:txBody>
          <a:bodyPr wrap="square" lIns="0" tIns="0" rIns="0" bIns="0" rtlCol="0" anchor="t"/>
          <a:lstStyle/>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Kaggle</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Dataset gồm 3 sheet (ID, Data, 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Số lượng quan sát (ID/Data/RATING):</a:t>
            </a:r>
          </a:p>
          <a:p>
            <a:pPr marL="342900" indent="-342900" algn="just">
              <a:lnSpc>
                <a:spcPct val="150000"/>
              </a:lnSpc>
              <a:buFontTx/>
              <a:buChar char="-"/>
            </a:pPr>
            <a:r>
              <a:rPr lang="en-US" sz="2400">
                <a:solidFill>
                  <a:srgbClr val="464646"/>
                </a:solidFill>
                <a:latin typeface="Arimo Medium" pitchFamily="34" charset="0"/>
                <a:ea typeface="Arimo Medium" pitchFamily="34" charset="-122"/>
                <a:cs typeface="Arimo Medium" pitchFamily="34" charset="-120"/>
              </a:rPr>
              <a:t>3061 / 3061 / 61473</a:t>
            </a:r>
            <a:endParaRPr lang="vi-VN" sz="2400">
              <a:solidFill>
                <a:srgbClr val="464646"/>
              </a:solidFill>
              <a:latin typeface="Arimo Medium" pitchFamily="34" charset="0"/>
              <a:ea typeface="Arimo Medium" pitchFamily="34" charset="-122"/>
              <a:cs typeface="Arimo Medium" pitchFamily="34" charset="-120"/>
            </a:endParaRPr>
          </a:p>
        </p:txBody>
      </p:sp>
      <p:sp>
        <p:nvSpPr>
          <p:cNvPr id="4" name="Text 0">
            <a:extLst>
              <a:ext uri="{FF2B5EF4-FFF2-40B4-BE49-F238E27FC236}">
                <a16:creationId xmlns:a16="http://schemas.microsoft.com/office/drawing/2014/main" id="{C18F32DA-8C4D-F394-2F4D-C3EBBE072DFE}"/>
              </a:ext>
            </a:extLst>
          </p:cNvPr>
          <p:cNvSpPr/>
          <p:nvPr/>
        </p:nvSpPr>
        <p:spPr>
          <a:xfrm>
            <a:off x="1" y="57839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pic>
        <p:nvPicPr>
          <p:cNvPr id="7" name="Picture 6">
            <a:extLst>
              <a:ext uri="{FF2B5EF4-FFF2-40B4-BE49-F238E27FC236}">
                <a16:creationId xmlns:a16="http://schemas.microsoft.com/office/drawing/2014/main" id="{B8F577C7-4D0A-7809-1201-F8ED76713594}"/>
              </a:ext>
            </a:extLst>
          </p:cNvPr>
          <p:cNvPicPr>
            <a:picLocks noChangeAspect="1"/>
          </p:cNvPicPr>
          <p:nvPr/>
        </p:nvPicPr>
        <p:blipFill>
          <a:blip r:embed="rId3"/>
          <a:stretch>
            <a:fillRect/>
          </a:stretch>
        </p:blipFill>
        <p:spPr>
          <a:xfrm>
            <a:off x="4620905" y="3568557"/>
            <a:ext cx="10013306" cy="4626401"/>
          </a:xfrm>
          <a:prstGeom prst="rect">
            <a:avLst/>
          </a:prstGeom>
        </p:spPr>
      </p:pic>
      <p:pic>
        <p:nvPicPr>
          <p:cNvPr id="9" name="Picture 8">
            <a:extLst>
              <a:ext uri="{FF2B5EF4-FFF2-40B4-BE49-F238E27FC236}">
                <a16:creationId xmlns:a16="http://schemas.microsoft.com/office/drawing/2014/main" id="{3FEBBAFD-730B-DCAD-7C35-2DEA10EC8B43}"/>
              </a:ext>
            </a:extLst>
          </p:cNvPr>
          <p:cNvPicPr>
            <a:picLocks noChangeAspect="1"/>
          </p:cNvPicPr>
          <p:nvPr/>
        </p:nvPicPr>
        <p:blipFill>
          <a:blip r:embed="rId4"/>
          <a:stretch>
            <a:fillRect/>
          </a:stretch>
        </p:blipFill>
        <p:spPr>
          <a:xfrm>
            <a:off x="-16907145" y="-3507478"/>
            <a:ext cx="13291190" cy="946074"/>
          </a:xfrm>
          <a:prstGeom prst="rect">
            <a:avLst/>
          </a:prstGeom>
        </p:spPr>
      </p:pic>
      <p:pic>
        <p:nvPicPr>
          <p:cNvPr id="11" name="Picture 10">
            <a:extLst>
              <a:ext uri="{FF2B5EF4-FFF2-40B4-BE49-F238E27FC236}">
                <a16:creationId xmlns:a16="http://schemas.microsoft.com/office/drawing/2014/main" id="{6BC8FAB5-219D-5BBD-242B-974C135E50E8}"/>
              </a:ext>
            </a:extLst>
          </p:cNvPr>
          <p:cNvPicPr>
            <a:picLocks noChangeAspect="1"/>
          </p:cNvPicPr>
          <p:nvPr/>
        </p:nvPicPr>
        <p:blipFill>
          <a:blip r:embed="rId5"/>
          <a:stretch>
            <a:fillRect/>
          </a:stretch>
        </p:blipFill>
        <p:spPr>
          <a:xfrm>
            <a:off x="-26345611" y="1380360"/>
            <a:ext cx="23927402" cy="1092575"/>
          </a:xfrm>
          <a:prstGeom prst="rect">
            <a:avLst/>
          </a:prstGeom>
        </p:spPr>
      </p:pic>
      <p:pic>
        <p:nvPicPr>
          <p:cNvPr id="13" name="Picture 12">
            <a:extLst>
              <a:ext uri="{FF2B5EF4-FFF2-40B4-BE49-F238E27FC236}">
                <a16:creationId xmlns:a16="http://schemas.microsoft.com/office/drawing/2014/main" id="{60261CEE-A011-AB10-55EA-7CE696749C1F}"/>
              </a:ext>
            </a:extLst>
          </p:cNvPr>
          <p:cNvPicPr>
            <a:picLocks noChangeAspect="1"/>
          </p:cNvPicPr>
          <p:nvPr/>
        </p:nvPicPr>
        <p:blipFill>
          <a:blip r:embed="rId6"/>
          <a:stretch>
            <a:fillRect/>
          </a:stretch>
        </p:blipFill>
        <p:spPr>
          <a:xfrm>
            <a:off x="1188289" y="1689126"/>
            <a:ext cx="11186614" cy="1108732"/>
          </a:xfrm>
          <a:prstGeom prst="rect">
            <a:avLst/>
          </a:prstGeom>
        </p:spPr>
      </p:pic>
    </p:spTree>
    <p:extLst>
      <p:ext uri="{BB962C8B-B14F-4D97-AF65-F5344CB8AC3E}">
        <p14:creationId xmlns:p14="http://schemas.microsoft.com/office/powerpoint/2010/main" val="11427932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144FB-DAA4-8992-7215-6D9BE62446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ADD80D-865F-7DF4-42ED-0C0355D8D757}"/>
              </a:ext>
            </a:extLst>
          </p:cNvPr>
          <p:cNvSpPr/>
          <p:nvPr/>
        </p:nvSpPr>
        <p:spPr>
          <a:xfrm>
            <a:off x="1" y="244906"/>
            <a:ext cx="14634210" cy="566976"/>
          </a:xfrm>
          <a:prstGeom prst="rect">
            <a:avLst/>
          </a:prstGeom>
          <a:noFill/>
          <a:ln/>
        </p:spPr>
        <p:txBody>
          <a:bodyPr wrap="none" lIns="0" tIns="0" rIns="0" bIns="0" rtlCol="0" anchor="t"/>
          <a:lstStyle/>
          <a:p>
            <a:pPr algn="ctr">
              <a:lnSpc>
                <a:spcPts val="4450"/>
              </a:lnSpc>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sp>
        <p:nvSpPr>
          <p:cNvPr id="15" name="Shape 1">
            <a:extLst>
              <a:ext uri="{FF2B5EF4-FFF2-40B4-BE49-F238E27FC236}">
                <a16:creationId xmlns:a16="http://schemas.microsoft.com/office/drawing/2014/main" id="{141C0A36-EC0B-719C-6E66-695898BD2B36}"/>
              </a:ext>
            </a:extLst>
          </p:cNvPr>
          <p:cNvSpPr/>
          <p:nvPr/>
        </p:nvSpPr>
        <p:spPr>
          <a:xfrm>
            <a:off x="629691" y="968122"/>
            <a:ext cx="13371017" cy="4424137"/>
          </a:xfrm>
          <a:prstGeom prst="roundRect">
            <a:avLst>
              <a:gd name="adj" fmla="val 12013"/>
            </a:avLst>
          </a:prstGeom>
          <a:solidFill>
            <a:srgbClr val="F2EEEE"/>
          </a:solidFill>
          <a:ln/>
        </p:spPr>
        <p:txBody>
          <a:bodyPr/>
          <a:lstStyle/>
          <a:p>
            <a:endParaRPr lang="en-US"/>
          </a:p>
        </p:txBody>
      </p:sp>
      <p:graphicFrame>
        <p:nvGraphicFramePr>
          <p:cNvPr id="4" name="Table 3">
            <a:extLst>
              <a:ext uri="{FF2B5EF4-FFF2-40B4-BE49-F238E27FC236}">
                <a16:creationId xmlns:a16="http://schemas.microsoft.com/office/drawing/2014/main" id="{A96A4BA5-51CD-BA5C-EC03-6D8872C97BE5}"/>
              </a:ext>
            </a:extLst>
          </p:cNvPr>
          <p:cNvGraphicFramePr>
            <a:graphicFrameLocks noGrp="1"/>
          </p:cNvGraphicFramePr>
          <p:nvPr>
            <p:extLst>
              <p:ext uri="{D42A27DB-BD31-4B8C-83A1-F6EECF244321}">
                <p14:modId xmlns:p14="http://schemas.microsoft.com/office/powerpoint/2010/main" val="2769964856"/>
              </p:ext>
            </p:extLst>
          </p:nvPr>
        </p:nvGraphicFramePr>
        <p:xfrm>
          <a:off x="1107668" y="1520574"/>
          <a:ext cx="12740640" cy="3261360"/>
        </p:xfrm>
        <a:graphic>
          <a:graphicData uri="http://schemas.openxmlformats.org/drawingml/2006/table">
            <a:tbl>
              <a:tblPr firstRow="1" bandRow="1">
                <a:tableStyleId>{5940675A-B579-460E-94D1-54222C63F5DA}</a:tableStyleId>
              </a:tblPr>
              <a:tblGrid>
                <a:gridCol w="3800740">
                  <a:extLst>
                    <a:ext uri="{9D8B030D-6E8A-4147-A177-3AD203B41FA5}">
                      <a16:colId xmlns:a16="http://schemas.microsoft.com/office/drawing/2014/main" val="884101039"/>
                    </a:ext>
                  </a:extLst>
                </a:gridCol>
                <a:gridCol w="8939900">
                  <a:extLst>
                    <a:ext uri="{9D8B030D-6E8A-4147-A177-3AD203B41FA5}">
                      <a16:colId xmlns:a16="http://schemas.microsoft.com/office/drawing/2014/main" val="750565131"/>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Vấn đề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Hướng giải quyết</a:t>
                      </a:r>
                    </a:p>
                  </a:txBody>
                  <a:tcPr anchor="ctr"/>
                </a:tc>
                <a:extLst>
                  <a:ext uri="{0D108BD9-81ED-4DB2-BD59-A6C34878D82A}">
                    <a16:rowId xmlns:a16="http://schemas.microsoft.com/office/drawing/2014/main" val="1373753996"/>
                  </a:ext>
                </a:extLst>
              </a:tr>
              <a:tr h="455087">
                <a:tc>
                  <a:txBody>
                    <a:bodyPr/>
                    <a:lstStyle/>
                    <a:p>
                      <a:pPr algn="l"/>
                      <a:r>
                        <a:rPr lang="en-US" sz="2000" b="0">
                          <a:latin typeface="Arimo Medium" panose="020B0604020202020204" charset="0"/>
                          <a:ea typeface="Arimo Medium" panose="020B0604020202020204" charset="0"/>
                          <a:cs typeface="Arimo Medium" panose="020B0604020202020204" charset="0"/>
                        </a:rPr>
                        <a:t>Bảng ID có một số sản phẩm </a:t>
                      </a:r>
                      <a:r>
                        <a:rPr lang="en-US" sz="2000" b="1">
                          <a:latin typeface="Arimo Medium" panose="020B0604020202020204" charset="0"/>
                          <a:ea typeface="Arimo Medium" panose="020B0604020202020204" charset="0"/>
                          <a:cs typeface="Arimo Medium" panose="020B0604020202020204" charset="0"/>
                        </a:rPr>
                        <a:t>không phải </a:t>
                      </a:r>
                      <a:r>
                        <a:rPr lang="en-US" sz="2000" b="0">
                          <a:latin typeface="Arimo Medium" panose="020B0604020202020204" charset="0"/>
                          <a:ea typeface="Arimo Medium" panose="020B0604020202020204" charset="0"/>
                          <a:cs typeface="Arimo Medium" panose="020B0604020202020204" charset="0"/>
                        </a:rPr>
                        <a:t> là điện thoại</a:t>
                      </a:r>
                    </a:p>
                  </a:txBody>
                  <a:tcPr anchor="ctr"/>
                </a:tc>
                <a:tc>
                  <a:txBody>
                    <a:bodyPr/>
                    <a:lstStyle/>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name theo enum [“điện thoại’ | &lt;hãng&gt;]</a:t>
                      </a:r>
                    </a:p>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theo giá ( lấy giá gốc &gt; 1 triệu vnđ)</a:t>
                      </a:r>
                    </a:p>
                  </a:txBody>
                  <a:tcPr/>
                </a:tc>
                <a:extLst>
                  <a:ext uri="{0D108BD9-81ED-4DB2-BD59-A6C34878D82A}">
                    <a16:rowId xmlns:a16="http://schemas.microsoft.com/office/drawing/2014/main" val="358863185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Biến Location_name đang là tiếng việt</a:t>
                      </a:r>
                    </a:p>
                  </a:txBody>
                  <a:tcPr anchor="ctr"/>
                </a:tc>
                <a:tc>
                  <a:txBody>
                    <a:bodyPr/>
                    <a:lstStyle/>
                    <a:p>
                      <a:pPr algn="l"/>
                      <a:r>
                        <a:rPr lang="en-US" sz="2000" b="0">
                          <a:latin typeface="Arimo Medium" panose="020B0604020202020204" charset="0"/>
                          <a:ea typeface="Arimo Medium" panose="020B0604020202020204" charset="0"/>
                          <a:cs typeface="Arimo Medium" panose="020B0604020202020204" charset="0"/>
                        </a:rPr>
                        <a:t>- Sử dụng thư viện </a:t>
                      </a:r>
                      <a:r>
                        <a:rPr lang="en-US" sz="2000" b="1">
                          <a:latin typeface="Arimo Medium" panose="020B0604020202020204" charset="0"/>
                          <a:ea typeface="Arimo Medium" panose="020B0604020202020204" charset="0"/>
                          <a:cs typeface="Arimo Medium" panose="020B0604020202020204" charset="0"/>
                        </a:rPr>
                        <a:t>unicodedata </a:t>
                      </a:r>
                      <a:r>
                        <a:rPr lang="en-US" sz="2000" b="0">
                          <a:latin typeface="Arimo Medium" panose="020B0604020202020204" charset="0"/>
                          <a:ea typeface="Arimo Medium" panose="020B0604020202020204" charset="0"/>
                          <a:cs typeface="Arimo Medium" panose="020B0604020202020204" charset="0"/>
                        </a:rPr>
                        <a:t> để biến thành không dấu</a:t>
                      </a:r>
                    </a:p>
                  </a:txBody>
                  <a:tcPr/>
                </a:tc>
                <a:extLst>
                  <a:ext uri="{0D108BD9-81ED-4DB2-BD59-A6C34878D82A}">
                    <a16:rowId xmlns:a16="http://schemas.microsoft.com/office/drawing/2014/main" val="3015556416"/>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Giá bị thừa số “0”, một số ô bị thiếu </a:t>
                      </a:r>
                    </a:p>
                  </a:txBody>
                  <a:tcPr anchor="ctr"/>
                </a:tc>
                <a:tc>
                  <a:txBody>
                    <a:bodyPr/>
                    <a:lstStyle/>
                    <a:p>
                      <a:pPr marL="342900" indent="-342900" algn="l">
                        <a:buFontTx/>
                        <a:buChar char="-"/>
                      </a:pPr>
                      <a:r>
                        <a:rPr lang="en-US" sz="2000" b="0" kern="1200">
                          <a:solidFill>
                            <a:schemeClr val="tx1"/>
                          </a:solidFill>
                          <a:effectLst/>
                          <a:latin typeface="+mn-lt"/>
                          <a:ea typeface="+mn-ea"/>
                          <a:cs typeface="+mn-cs"/>
                        </a:rPr>
                        <a:t>Chia cho 10000 để đưa về giá phù hợp</a:t>
                      </a:r>
                    </a:p>
                    <a:p>
                      <a:pPr marL="342900" indent="-342900" algn="l">
                        <a:buFontTx/>
                        <a:buChar char="-"/>
                      </a:pPr>
                      <a:r>
                        <a:rPr lang="en-US" sz="2000" b="0" kern="1200">
                          <a:solidFill>
                            <a:schemeClr val="tx1"/>
                          </a:solidFill>
                          <a:effectLst/>
                          <a:latin typeface="+mn-lt"/>
                          <a:ea typeface="+mn-ea"/>
                          <a:cs typeface="+mn-cs"/>
                        </a:rPr>
                        <a:t>Xử lý ngoại loại giá </a:t>
                      </a:r>
                      <a:r>
                        <a:rPr lang="en-US" sz="2000" b="1" kern="1200">
                          <a:solidFill>
                            <a:schemeClr val="tx1"/>
                          </a:solidFill>
                          <a:effectLst/>
                          <a:latin typeface="+mn-lt"/>
                          <a:ea typeface="+mn-ea"/>
                          <a:cs typeface="+mn-cs"/>
                        </a:rPr>
                        <a:t>upper bound </a:t>
                      </a:r>
                      <a:r>
                        <a:rPr lang="en-US" sz="2000" b="0" kern="1200">
                          <a:solidFill>
                            <a:schemeClr val="tx1"/>
                          </a:solidFill>
                          <a:effectLst/>
                          <a:latin typeface="+mn-lt"/>
                          <a:ea typeface="+mn-ea"/>
                          <a:cs typeface="+mn-cs"/>
                        </a:rPr>
                        <a:t>(thay bằng </a:t>
                      </a:r>
                      <a:r>
                        <a:rPr lang="en-US" sz="2000" b="1" kern="1200">
                          <a:solidFill>
                            <a:schemeClr val="tx1"/>
                          </a:solidFill>
                          <a:effectLst/>
                          <a:latin typeface="+mn-lt"/>
                          <a:ea typeface="+mn-ea"/>
                          <a:cs typeface="+mn-cs"/>
                        </a:rPr>
                        <a:t>median</a:t>
                      </a:r>
                      <a:r>
                        <a:rPr lang="en-US" sz="2000" b="0" kern="1200">
                          <a:solidFill>
                            <a:schemeClr val="tx1"/>
                          </a:solidFill>
                          <a:effectLst/>
                          <a:latin typeface="+mn-lt"/>
                          <a:ea typeface="+mn-ea"/>
                          <a:cs typeface="+mn-cs"/>
                        </a:rPr>
                        <a:t>)</a:t>
                      </a:r>
                      <a:endParaRPr lang="en-US" sz="2000" b="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63641839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Hãng bị thiếu nhiều ô</a:t>
                      </a:r>
                    </a:p>
                  </a:txBody>
                  <a:tcPr anchor="ctr"/>
                </a:tc>
                <a:tc>
                  <a:txBody>
                    <a:bodyPr/>
                    <a:lstStyle/>
                    <a:p>
                      <a:pPr algn="l"/>
                      <a:r>
                        <a:rPr lang="en-US" sz="2000" b="0" kern="1200">
                          <a:solidFill>
                            <a:schemeClr val="tx1"/>
                          </a:solidFill>
                          <a:effectLst/>
                          <a:latin typeface="+mn-lt"/>
                          <a:ea typeface="+mn-ea"/>
                          <a:cs typeface="+mn-cs"/>
                        </a:rPr>
                        <a:t>- Lấp đầy theo tên dựa trên enum [&lt;hãng&gt;] rồi uppercase,  nếu như không có trong enum mặc định gán </a:t>
                      </a:r>
                      <a:r>
                        <a:rPr lang="en-US" sz="2000" b="1" kern="1200">
                          <a:solidFill>
                            <a:schemeClr val="tx1"/>
                          </a:solidFill>
                          <a:effectLst/>
                          <a:latin typeface="+mn-lt"/>
                          <a:ea typeface="+mn-ea"/>
                          <a:cs typeface="+mn-cs"/>
                        </a:rPr>
                        <a:t>UNKNOW</a:t>
                      </a:r>
                      <a:endParaRPr lang="en-US" sz="2000" b="1">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3771549242"/>
                  </a:ext>
                </a:extLst>
              </a:tr>
            </a:tbl>
          </a:graphicData>
        </a:graphic>
      </p:graphicFrame>
      <p:pic>
        <p:nvPicPr>
          <p:cNvPr id="5" name="Picture 4">
            <a:extLst>
              <a:ext uri="{FF2B5EF4-FFF2-40B4-BE49-F238E27FC236}">
                <a16:creationId xmlns:a16="http://schemas.microsoft.com/office/drawing/2014/main" id="{145DD583-FBEC-7708-5D35-DBA1CF3C0403}"/>
              </a:ext>
            </a:extLst>
          </p:cNvPr>
          <p:cNvPicPr>
            <a:picLocks noChangeAspect="1"/>
          </p:cNvPicPr>
          <p:nvPr/>
        </p:nvPicPr>
        <p:blipFill>
          <a:blip r:embed="rId3"/>
          <a:srcRect r="13992"/>
          <a:stretch>
            <a:fillRect/>
          </a:stretch>
        </p:blipFill>
        <p:spPr>
          <a:xfrm>
            <a:off x="451546" y="5737490"/>
            <a:ext cx="6941714" cy="2247204"/>
          </a:xfrm>
          <a:prstGeom prst="rect">
            <a:avLst/>
          </a:prstGeom>
        </p:spPr>
      </p:pic>
      <p:pic>
        <p:nvPicPr>
          <p:cNvPr id="7" name="Picture 6">
            <a:extLst>
              <a:ext uri="{FF2B5EF4-FFF2-40B4-BE49-F238E27FC236}">
                <a16:creationId xmlns:a16="http://schemas.microsoft.com/office/drawing/2014/main" id="{B0F5CA91-C7EF-270D-ECAB-6A6AAF4BFCE9}"/>
              </a:ext>
            </a:extLst>
          </p:cNvPr>
          <p:cNvPicPr>
            <a:picLocks noChangeAspect="1"/>
          </p:cNvPicPr>
          <p:nvPr/>
        </p:nvPicPr>
        <p:blipFill>
          <a:blip r:embed="rId4"/>
          <a:stretch>
            <a:fillRect/>
          </a:stretch>
        </p:blipFill>
        <p:spPr>
          <a:xfrm>
            <a:off x="7650483" y="5737490"/>
            <a:ext cx="6609425" cy="2247204"/>
          </a:xfrm>
          <a:prstGeom prst="rect">
            <a:avLst/>
          </a:prstGeom>
        </p:spPr>
      </p:pic>
    </p:spTree>
    <p:extLst>
      <p:ext uri="{BB962C8B-B14F-4D97-AF65-F5344CB8AC3E}">
        <p14:creationId xmlns:p14="http://schemas.microsoft.com/office/powerpoint/2010/main" val="21101600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A41A-7AAF-7A20-6C85-B933E1388D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A6CB88-3F0F-3DD5-9777-C4993A2EA155}"/>
              </a:ext>
            </a:extLst>
          </p:cNvPr>
          <p:cNvSpPr/>
          <p:nvPr/>
        </p:nvSpPr>
        <p:spPr>
          <a:xfrm>
            <a:off x="1" y="244906"/>
            <a:ext cx="14634210" cy="566976"/>
          </a:xfrm>
          <a:prstGeom prst="rect">
            <a:avLst/>
          </a:prstGeom>
          <a:noFill/>
          <a:ln/>
        </p:spPr>
        <p:txBody>
          <a:bodyPr wrap="none" lIns="0" tIns="0" rIns="0" bIns="0" rtlCol="0" anchor="t"/>
          <a:lstStyle/>
          <a:p>
            <a:pPr algn="ctr">
              <a:lnSpc>
                <a:spcPts val="4450"/>
              </a:lnSpc>
            </a:pPr>
            <a:r>
              <a:rPr lang="en-US" sz="3550" b="1">
                <a:solidFill>
                  <a:srgbClr val="030303"/>
                </a:solidFill>
                <a:latin typeface="Arimo Semi Bold" pitchFamily="34" charset="0"/>
                <a:ea typeface="Arimo Semi Bold" pitchFamily="34" charset="-122"/>
                <a:cs typeface="Arimo Semi Bold" pitchFamily="34" charset="-120"/>
              </a:rPr>
              <a:t>3.1 Quá trình khám phá và làm sạch</a:t>
            </a:r>
            <a:endParaRPr lang="en-US" sz="3550" b="1" dirty="0"/>
          </a:p>
        </p:txBody>
      </p:sp>
      <p:sp>
        <p:nvSpPr>
          <p:cNvPr id="15" name="Shape 1">
            <a:extLst>
              <a:ext uri="{FF2B5EF4-FFF2-40B4-BE49-F238E27FC236}">
                <a16:creationId xmlns:a16="http://schemas.microsoft.com/office/drawing/2014/main" id="{C8C8B651-12BB-CB53-9A02-E92B7152E578}"/>
              </a:ext>
            </a:extLst>
          </p:cNvPr>
          <p:cNvSpPr/>
          <p:nvPr/>
        </p:nvSpPr>
        <p:spPr>
          <a:xfrm>
            <a:off x="629691" y="968122"/>
            <a:ext cx="13371017" cy="4424137"/>
          </a:xfrm>
          <a:prstGeom prst="roundRect">
            <a:avLst>
              <a:gd name="adj" fmla="val 12013"/>
            </a:avLst>
          </a:prstGeom>
          <a:solidFill>
            <a:srgbClr val="F2EEEE"/>
          </a:solidFill>
          <a:ln/>
        </p:spPr>
        <p:txBody>
          <a:bodyPr/>
          <a:lstStyle/>
          <a:p>
            <a:endParaRPr lang="en-US"/>
          </a:p>
        </p:txBody>
      </p:sp>
      <p:graphicFrame>
        <p:nvGraphicFramePr>
          <p:cNvPr id="4" name="Table 3">
            <a:extLst>
              <a:ext uri="{FF2B5EF4-FFF2-40B4-BE49-F238E27FC236}">
                <a16:creationId xmlns:a16="http://schemas.microsoft.com/office/drawing/2014/main" id="{F09245AD-C2D4-8C8A-BDBB-94FBD3F264E0}"/>
              </a:ext>
            </a:extLst>
          </p:cNvPr>
          <p:cNvGraphicFramePr>
            <a:graphicFrameLocks noGrp="1"/>
          </p:cNvGraphicFramePr>
          <p:nvPr/>
        </p:nvGraphicFramePr>
        <p:xfrm>
          <a:off x="1107668" y="1520574"/>
          <a:ext cx="12740640" cy="3261360"/>
        </p:xfrm>
        <a:graphic>
          <a:graphicData uri="http://schemas.openxmlformats.org/drawingml/2006/table">
            <a:tbl>
              <a:tblPr firstRow="1" bandRow="1">
                <a:tableStyleId>{5940675A-B579-460E-94D1-54222C63F5DA}</a:tableStyleId>
              </a:tblPr>
              <a:tblGrid>
                <a:gridCol w="3800740">
                  <a:extLst>
                    <a:ext uri="{9D8B030D-6E8A-4147-A177-3AD203B41FA5}">
                      <a16:colId xmlns:a16="http://schemas.microsoft.com/office/drawing/2014/main" val="884101039"/>
                    </a:ext>
                  </a:extLst>
                </a:gridCol>
                <a:gridCol w="8939900">
                  <a:extLst>
                    <a:ext uri="{9D8B030D-6E8A-4147-A177-3AD203B41FA5}">
                      <a16:colId xmlns:a16="http://schemas.microsoft.com/office/drawing/2014/main" val="750565131"/>
                    </a:ext>
                  </a:extLst>
                </a:gridCol>
              </a:tblGrid>
              <a:tr h="370840">
                <a:tc>
                  <a:txBody>
                    <a:bodyPr/>
                    <a:lstStyle/>
                    <a:p>
                      <a:pPr algn="ctr"/>
                      <a:r>
                        <a:rPr lang="en-US" sz="2400" b="1">
                          <a:latin typeface="Arimo Medium" panose="020B0604020202020204" charset="0"/>
                          <a:ea typeface="Arimo Medium" panose="020B0604020202020204" charset="0"/>
                          <a:cs typeface="Arimo Medium" panose="020B0604020202020204" charset="0"/>
                        </a:rPr>
                        <a:t>Vấn đề </a:t>
                      </a:r>
                    </a:p>
                  </a:txBody>
                  <a:tcPr anchor="ctr"/>
                </a:tc>
                <a:tc>
                  <a:txBody>
                    <a:bodyPr/>
                    <a:lstStyle/>
                    <a:p>
                      <a:pPr algn="ctr"/>
                      <a:r>
                        <a:rPr lang="en-US" sz="2400" b="1">
                          <a:latin typeface="Arimo Medium" panose="020B0604020202020204" charset="0"/>
                          <a:ea typeface="Arimo Medium" panose="020B0604020202020204" charset="0"/>
                          <a:cs typeface="Arimo Medium" panose="020B0604020202020204" charset="0"/>
                        </a:rPr>
                        <a:t>Hướng giải quyết</a:t>
                      </a:r>
                    </a:p>
                  </a:txBody>
                  <a:tcPr anchor="ctr"/>
                </a:tc>
                <a:extLst>
                  <a:ext uri="{0D108BD9-81ED-4DB2-BD59-A6C34878D82A}">
                    <a16:rowId xmlns:a16="http://schemas.microsoft.com/office/drawing/2014/main" val="1373753996"/>
                  </a:ext>
                </a:extLst>
              </a:tr>
              <a:tr h="455087">
                <a:tc>
                  <a:txBody>
                    <a:bodyPr/>
                    <a:lstStyle/>
                    <a:p>
                      <a:pPr algn="l"/>
                      <a:r>
                        <a:rPr lang="en-US" sz="2000" b="0">
                          <a:latin typeface="Arimo Medium" panose="020B0604020202020204" charset="0"/>
                          <a:ea typeface="Arimo Medium" panose="020B0604020202020204" charset="0"/>
                          <a:cs typeface="Arimo Medium" panose="020B0604020202020204" charset="0"/>
                        </a:rPr>
                        <a:t>Bảng ID có một số sản phẩm </a:t>
                      </a:r>
                      <a:r>
                        <a:rPr lang="en-US" sz="2000" b="1">
                          <a:latin typeface="Arimo Medium" panose="020B0604020202020204" charset="0"/>
                          <a:ea typeface="Arimo Medium" panose="020B0604020202020204" charset="0"/>
                          <a:cs typeface="Arimo Medium" panose="020B0604020202020204" charset="0"/>
                        </a:rPr>
                        <a:t>không phải </a:t>
                      </a:r>
                      <a:r>
                        <a:rPr lang="en-US" sz="2000" b="0">
                          <a:latin typeface="Arimo Medium" panose="020B0604020202020204" charset="0"/>
                          <a:ea typeface="Arimo Medium" panose="020B0604020202020204" charset="0"/>
                          <a:cs typeface="Arimo Medium" panose="020B0604020202020204" charset="0"/>
                        </a:rPr>
                        <a:t> là điện thoại</a:t>
                      </a:r>
                    </a:p>
                  </a:txBody>
                  <a:tcPr anchor="ctr"/>
                </a:tc>
                <a:tc>
                  <a:txBody>
                    <a:bodyPr/>
                    <a:lstStyle/>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name theo enum [“điện thoại’ | &lt;hãng&gt;]</a:t>
                      </a:r>
                    </a:p>
                    <a:p>
                      <a:pPr marL="342900" indent="-342900" algn="l">
                        <a:buFontTx/>
                        <a:buChar char="-"/>
                      </a:pPr>
                      <a:r>
                        <a:rPr lang="en-US" sz="2000" b="0">
                          <a:latin typeface="Arimo Medium" panose="020B0604020202020204" charset="0"/>
                          <a:ea typeface="Arimo Medium" panose="020B0604020202020204" charset="0"/>
                          <a:cs typeface="Arimo Medium" panose="020B0604020202020204" charset="0"/>
                        </a:rPr>
                        <a:t>Lọc theo giá ( lấy giá gốc &gt; 1 triệu vnđ)</a:t>
                      </a:r>
                    </a:p>
                  </a:txBody>
                  <a:tcPr/>
                </a:tc>
                <a:extLst>
                  <a:ext uri="{0D108BD9-81ED-4DB2-BD59-A6C34878D82A}">
                    <a16:rowId xmlns:a16="http://schemas.microsoft.com/office/drawing/2014/main" val="358863185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Biến Location_name đang là tiếng việt</a:t>
                      </a:r>
                    </a:p>
                  </a:txBody>
                  <a:tcPr anchor="ctr"/>
                </a:tc>
                <a:tc>
                  <a:txBody>
                    <a:bodyPr/>
                    <a:lstStyle/>
                    <a:p>
                      <a:pPr algn="l"/>
                      <a:r>
                        <a:rPr lang="en-US" sz="2000" b="0">
                          <a:latin typeface="Arimo Medium" panose="020B0604020202020204" charset="0"/>
                          <a:ea typeface="Arimo Medium" panose="020B0604020202020204" charset="0"/>
                          <a:cs typeface="Arimo Medium" panose="020B0604020202020204" charset="0"/>
                        </a:rPr>
                        <a:t>- Sử dụng thư viện </a:t>
                      </a:r>
                      <a:r>
                        <a:rPr lang="en-US" sz="2000" b="1">
                          <a:latin typeface="Arimo Medium" panose="020B0604020202020204" charset="0"/>
                          <a:ea typeface="Arimo Medium" panose="020B0604020202020204" charset="0"/>
                          <a:cs typeface="Arimo Medium" panose="020B0604020202020204" charset="0"/>
                        </a:rPr>
                        <a:t>unicodedata </a:t>
                      </a:r>
                      <a:r>
                        <a:rPr lang="en-US" sz="2000" b="0">
                          <a:latin typeface="Arimo Medium" panose="020B0604020202020204" charset="0"/>
                          <a:ea typeface="Arimo Medium" panose="020B0604020202020204" charset="0"/>
                          <a:cs typeface="Arimo Medium" panose="020B0604020202020204" charset="0"/>
                        </a:rPr>
                        <a:t> để biến thành không dấu</a:t>
                      </a:r>
                    </a:p>
                  </a:txBody>
                  <a:tcPr/>
                </a:tc>
                <a:extLst>
                  <a:ext uri="{0D108BD9-81ED-4DB2-BD59-A6C34878D82A}">
                    <a16:rowId xmlns:a16="http://schemas.microsoft.com/office/drawing/2014/main" val="3015556416"/>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Giá bị thừa số “0”, một số ô bị thiếu </a:t>
                      </a:r>
                    </a:p>
                  </a:txBody>
                  <a:tcPr anchor="ctr"/>
                </a:tc>
                <a:tc>
                  <a:txBody>
                    <a:bodyPr/>
                    <a:lstStyle/>
                    <a:p>
                      <a:pPr marL="342900" indent="-342900" algn="l">
                        <a:buFontTx/>
                        <a:buChar char="-"/>
                      </a:pPr>
                      <a:r>
                        <a:rPr lang="en-US" sz="2000" b="0" kern="1200">
                          <a:solidFill>
                            <a:schemeClr val="tx1"/>
                          </a:solidFill>
                          <a:effectLst/>
                          <a:latin typeface="+mn-lt"/>
                          <a:ea typeface="+mn-ea"/>
                          <a:cs typeface="+mn-cs"/>
                        </a:rPr>
                        <a:t>Chia cho 10000 để đưa về giá phù hợp</a:t>
                      </a:r>
                    </a:p>
                    <a:p>
                      <a:pPr marL="342900" indent="-342900" algn="l">
                        <a:buFontTx/>
                        <a:buChar char="-"/>
                      </a:pPr>
                      <a:r>
                        <a:rPr lang="en-US" sz="2000" b="0" kern="1200">
                          <a:solidFill>
                            <a:schemeClr val="tx1"/>
                          </a:solidFill>
                          <a:effectLst/>
                          <a:latin typeface="+mn-lt"/>
                          <a:ea typeface="+mn-ea"/>
                          <a:cs typeface="+mn-cs"/>
                        </a:rPr>
                        <a:t>Xử lý ngoại loại giá </a:t>
                      </a:r>
                      <a:r>
                        <a:rPr lang="en-US" sz="2000" b="1" kern="1200">
                          <a:solidFill>
                            <a:schemeClr val="tx1"/>
                          </a:solidFill>
                          <a:effectLst/>
                          <a:latin typeface="+mn-lt"/>
                          <a:ea typeface="+mn-ea"/>
                          <a:cs typeface="+mn-cs"/>
                        </a:rPr>
                        <a:t>upper bound </a:t>
                      </a:r>
                      <a:r>
                        <a:rPr lang="en-US" sz="2000" b="0" kern="1200">
                          <a:solidFill>
                            <a:schemeClr val="tx1"/>
                          </a:solidFill>
                          <a:effectLst/>
                          <a:latin typeface="+mn-lt"/>
                          <a:ea typeface="+mn-ea"/>
                          <a:cs typeface="+mn-cs"/>
                        </a:rPr>
                        <a:t>( loại bỏ thay vì thay bằng median)</a:t>
                      </a:r>
                      <a:endParaRPr lang="en-US" sz="2000" b="0">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636418390"/>
                  </a:ext>
                </a:extLst>
              </a:tr>
              <a:tr h="370840">
                <a:tc>
                  <a:txBody>
                    <a:bodyPr/>
                    <a:lstStyle/>
                    <a:p>
                      <a:pPr algn="l"/>
                      <a:r>
                        <a:rPr lang="en-US" sz="2000" b="0">
                          <a:latin typeface="Arimo Medium" panose="020B0604020202020204" charset="0"/>
                          <a:ea typeface="Arimo Medium" panose="020B0604020202020204" charset="0"/>
                          <a:cs typeface="Arimo Medium" panose="020B0604020202020204" charset="0"/>
                        </a:rPr>
                        <a:t>Hãng bị thiếu nhiều ô</a:t>
                      </a:r>
                    </a:p>
                  </a:txBody>
                  <a:tcPr anchor="ctr"/>
                </a:tc>
                <a:tc>
                  <a:txBody>
                    <a:bodyPr/>
                    <a:lstStyle/>
                    <a:p>
                      <a:pPr algn="l"/>
                      <a:r>
                        <a:rPr lang="en-US" sz="2000" b="0" kern="1200">
                          <a:solidFill>
                            <a:schemeClr val="tx1"/>
                          </a:solidFill>
                          <a:effectLst/>
                          <a:latin typeface="+mn-lt"/>
                          <a:ea typeface="+mn-ea"/>
                          <a:cs typeface="+mn-cs"/>
                        </a:rPr>
                        <a:t>- Lấp đầy theo tên dựa trên enum [&lt;hãng&gt;] rồi uppercase,  nếu như không có trong enum mặc định gán </a:t>
                      </a:r>
                      <a:r>
                        <a:rPr lang="en-US" sz="2000" b="1" kern="1200">
                          <a:solidFill>
                            <a:schemeClr val="tx1"/>
                          </a:solidFill>
                          <a:effectLst/>
                          <a:latin typeface="+mn-lt"/>
                          <a:ea typeface="+mn-ea"/>
                          <a:cs typeface="+mn-cs"/>
                        </a:rPr>
                        <a:t>UNKNOW</a:t>
                      </a:r>
                      <a:endParaRPr lang="en-US" sz="2000" b="1">
                        <a:latin typeface="Arimo Medium" panose="020B0604020202020204" charset="0"/>
                        <a:ea typeface="Arimo Medium" panose="020B0604020202020204" charset="0"/>
                        <a:cs typeface="Arimo Medium" panose="020B0604020202020204" charset="0"/>
                      </a:endParaRPr>
                    </a:p>
                  </a:txBody>
                  <a:tcPr/>
                </a:tc>
                <a:extLst>
                  <a:ext uri="{0D108BD9-81ED-4DB2-BD59-A6C34878D82A}">
                    <a16:rowId xmlns:a16="http://schemas.microsoft.com/office/drawing/2014/main" val="3771549242"/>
                  </a:ext>
                </a:extLst>
              </a:tr>
            </a:tbl>
          </a:graphicData>
        </a:graphic>
      </p:graphicFrame>
      <p:pic>
        <p:nvPicPr>
          <p:cNvPr id="6" name="Picture 5">
            <a:extLst>
              <a:ext uri="{FF2B5EF4-FFF2-40B4-BE49-F238E27FC236}">
                <a16:creationId xmlns:a16="http://schemas.microsoft.com/office/drawing/2014/main" id="{4E3ECF5A-64C8-3950-3BA8-B02DAEAEC5C1}"/>
              </a:ext>
            </a:extLst>
          </p:cNvPr>
          <p:cNvPicPr>
            <a:picLocks noChangeAspect="1"/>
          </p:cNvPicPr>
          <p:nvPr/>
        </p:nvPicPr>
        <p:blipFill>
          <a:blip r:embed="rId3"/>
          <a:stretch>
            <a:fillRect/>
          </a:stretch>
        </p:blipFill>
        <p:spPr>
          <a:xfrm>
            <a:off x="5977052" y="4884232"/>
            <a:ext cx="2676294" cy="3345368"/>
          </a:xfrm>
          <a:prstGeom prst="rect">
            <a:avLst/>
          </a:prstGeom>
        </p:spPr>
      </p:pic>
    </p:spTree>
    <p:extLst>
      <p:ext uri="{BB962C8B-B14F-4D97-AF65-F5344CB8AC3E}">
        <p14:creationId xmlns:p14="http://schemas.microsoft.com/office/powerpoint/2010/main" val="110967283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6B5ACC27-057E-BF60-3E24-942D0225A9B9}"/>
              </a:ext>
            </a:extLst>
          </p:cNvPr>
          <p:cNvSpPr/>
          <p:nvPr/>
        </p:nvSpPr>
        <p:spPr>
          <a:xfrm>
            <a:off x="198120" y="1973675"/>
            <a:ext cx="5613818" cy="4282249"/>
          </a:xfrm>
          <a:prstGeom prst="roundRect">
            <a:avLst>
              <a:gd name="adj" fmla="val 12013"/>
            </a:avLst>
          </a:prstGeom>
          <a:solidFill>
            <a:srgbClr val="F2EEEE"/>
          </a:solidFill>
          <a:ln/>
        </p:spPr>
        <p:txBody>
          <a:bodyPr/>
          <a:lstStyle/>
          <a:p>
            <a:endParaRPr lang="en-US"/>
          </a:p>
        </p:txBody>
      </p:sp>
      <p:sp>
        <p:nvSpPr>
          <p:cNvPr id="2" name="Title 1">
            <a:extLst>
              <a:ext uri="{FF2B5EF4-FFF2-40B4-BE49-F238E27FC236}">
                <a16:creationId xmlns:a16="http://schemas.microsoft.com/office/drawing/2014/main" id="{F466B713-360C-551C-FDC4-225C26B9944B}"/>
              </a:ext>
            </a:extLst>
          </p:cNvPr>
          <p:cNvSpPr>
            <a:spLocks noGrp="1"/>
          </p:cNvSpPr>
          <p:nvPr>
            <p:ph type="title"/>
          </p:nvPr>
        </p:nvSpPr>
        <p:spPr/>
        <p:txBody>
          <a:bodyPr/>
          <a:lstStyle/>
          <a:p>
            <a:r>
              <a:rPr lang="en-US"/>
              <a:t> </a:t>
            </a:r>
            <a:endParaRPr lang="en-US" dirty="0"/>
          </a:p>
        </p:txBody>
      </p:sp>
      <p:sp>
        <p:nvSpPr>
          <p:cNvPr id="4" name="Rectangle 1">
            <a:extLst>
              <a:ext uri="{FF2B5EF4-FFF2-40B4-BE49-F238E27FC236}">
                <a16:creationId xmlns:a16="http://schemas.microsoft.com/office/drawing/2014/main" id="{1E921FEA-F595-2F76-0944-35D7DBFDF564}"/>
              </a:ext>
            </a:extLst>
          </p:cNvPr>
          <p:cNvSpPr>
            <a:spLocks noGrp="1" noChangeArrowheads="1"/>
          </p:cNvSpPr>
          <p:nvPr>
            <p:ph idx="1"/>
          </p:nvPr>
        </p:nvSpPr>
        <p:spPr bwMode="auto">
          <a:xfrm>
            <a:off x="512662" y="2095596"/>
            <a:ext cx="5613818" cy="4050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anchor="ctr" anchorCtr="0" compatLnSpc="1">
            <a:prstTxWarp prst="textNoShape">
              <a:avLst/>
            </a:prstTxWarp>
            <a:spAutoFit/>
          </a:bodyPr>
          <a:lstStyle/>
          <a:p>
            <a:pPr marL="0" indent="0" defTabSz="1097280" eaLnBrk="0" fontAlgn="base" hangingPunct="0">
              <a:spcBef>
                <a:spcPct val="0"/>
              </a:spcBef>
              <a:spcAft>
                <a:spcPct val="0"/>
              </a:spcAft>
              <a:buNone/>
            </a:pPr>
            <a:endParaRPr kumimoji="0" lang="en-US" altLang="en-US" b="0" i="0" u="none" strike="noStrike" cap="none" normalizeH="0" baseline="0" dirty="0">
              <a:ln>
                <a:noFill/>
              </a:ln>
              <a:solidFill>
                <a:schemeClr val="tx1"/>
              </a:solidFill>
              <a:effectLst/>
              <a:latin typeface="Arial" panose="020B0604020202020204" pitchFamily="34" charset="0"/>
            </a:endParaRPr>
          </a:p>
          <a:p>
            <a:pPr defTabSz="1097280" eaLnBrk="0" fontAlgn="base" hangingPunct="0">
              <a:spcBef>
                <a:spcPct val="0"/>
              </a:spcBef>
              <a:spcAft>
                <a:spcPct val="0"/>
              </a:spcAft>
              <a:buFont typeface="Symbol" panose="05050102010706020507" pitchFamily="18" charset="2"/>
              <a:buChar char=""/>
            </a:pPr>
            <a:r>
              <a:rPr kumimoji="0" lang="en-US" altLang="en-US" b="0" i="0" u="none" strike="noStrike" cap="none" normalizeH="0" baseline="0" dirty="0">
                <a:ln>
                  <a:noFill/>
                </a:ln>
                <a:solidFill>
                  <a:schemeClr val="tx1"/>
                </a:solidFill>
                <a:effectLst/>
                <a:latin typeface="Arial" panose="020B0604020202020204" pitchFamily="34" charset="0"/>
              </a:rPr>
              <a:t>Hiểu </a:t>
            </a:r>
            <a:r>
              <a:rPr kumimoji="0" lang="en-US" altLang="en-US" b="0" i="0" u="none" strike="noStrike" cap="none" normalizeH="0" baseline="0" dirty="0" err="1">
                <a:ln>
                  <a:noFill/>
                </a:ln>
                <a:solidFill>
                  <a:schemeClr val="tx1"/>
                </a:solidFill>
                <a:effectLst/>
                <a:latin typeface="Arial" panose="020B0604020202020204" pitchFamily="34" charset="0"/>
              </a:rPr>
              <a:t>nhanh</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dữ</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liệu</a:t>
            </a:r>
            <a:r>
              <a:rPr kumimoji="0" lang="en-US" altLang="en-US"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buFont typeface="Symbol" panose="05050102010706020507" pitchFamily="18" charset="2"/>
              <a:buChar char=""/>
            </a:pPr>
            <a:r>
              <a:rPr kumimoji="0" lang="en-US" altLang="en-US" b="0" i="0" u="none" strike="noStrike" cap="none" normalizeH="0" baseline="0" dirty="0" err="1">
                <a:ln>
                  <a:noFill/>
                </a:ln>
                <a:solidFill>
                  <a:schemeClr val="tx1"/>
                </a:solidFill>
                <a:effectLst/>
                <a:latin typeface="Arial" panose="020B0604020202020204" pitchFamily="34" charset="0"/>
              </a:rPr>
              <a:t>Phát</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hiện</a:t>
            </a:r>
            <a:r>
              <a:rPr kumimoji="0" lang="en-US" altLang="en-US" b="0" i="0" u="none" strike="noStrike" cap="none" normalizeH="0" baseline="0" dirty="0">
                <a:ln>
                  <a:noFill/>
                </a:ln>
                <a:solidFill>
                  <a:schemeClr val="tx1"/>
                </a:solidFill>
                <a:effectLst/>
                <a:latin typeface="Arial" panose="020B0604020202020204" pitchFamily="34" charset="0"/>
              </a:rPr>
              <a:t>: </a:t>
            </a:r>
          </a:p>
          <a:p>
            <a:pPr defTabSz="109728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Xu </a:t>
            </a:r>
            <a:r>
              <a:rPr kumimoji="0" lang="en-US" altLang="en-US" b="0" i="0" u="none" strike="noStrike" cap="none" normalizeH="0" baseline="0" dirty="0" err="1">
                <a:ln>
                  <a:noFill/>
                </a:ln>
                <a:solidFill>
                  <a:schemeClr val="tx1"/>
                </a:solidFill>
                <a:effectLst/>
                <a:latin typeface="Arial" panose="020B0604020202020204" pitchFamily="34" charset="0"/>
              </a:rPr>
              <a:t>hướng</a:t>
            </a:r>
            <a:r>
              <a:rPr kumimoji="0" lang="en-US" altLang="en-US" b="0" i="0" u="none" strike="noStrike" cap="none" normalizeH="0" baseline="0" dirty="0">
                <a:ln>
                  <a:noFill/>
                </a:ln>
                <a:solidFill>
                  <a:schemeClr val="tx1"/>
                </a:solidFill>
                <a:effectLst/>
                <a:latin typeface="Arial" panose="020B0604020202020204" pitchFamily="34" charset="0"/>
              </a:rPr>
              <a:t> </a:t>
            </a:r>
          </a:p>
          <a:p>
            <a:pPr defTabSz="1097280" eaLnBrk="0" fontAlgn="base" hangingPunct="0">
              <a:spcBef>
                <a:spcPct val="0"/>
              </a:spcBef>
              <a:spcAft>
                <a:spcPct val="0"/>
              </a:spcAft>
            </a:pPr>
            <a:r>
              <a:rPr kumimoji="0" lang="en-US" altLang="en-US" b="0" i="0" u="none" strike="noStrike" cap="none" normalizeH="0" baseline="0" dirty="0" err="1">
                <a:ln>
                  <a:noFill/>
                </a:ln>
                <a:solidFill>
                  <a:schemeClr val="tx1"/>
                </a:solidFill>
                <a:effectLst/>
                <a:latin typeface="Arial" panose="020B0604020202020204" pitchFamily="34" charset="0"/>
              </a:rPr>
              <a:t>Mối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quan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hệ</a:t>
            </a:r>
            <a:r>
              <a:rPr kumimoji="0" lang="en-US" altLang="en-US" b="0" i="0" u="none" strike="noStrike" cap="none" normalizeH="0" baseline="0" dirty="0">
                <a:ln>
                  <a:noFill/>
                </a:ln>
                <a:solidFill>
                  <a:schemeClr val="tx1"/>
                </a:solidFill>
                <a:effectLst/>
                <a:latin typeface="Arial" panose="020B0604020202020204" pitchFamily="34" charset="0"/>
              </a:rPr>
              <a:t> </a:t>
            </a:r>
          </a:p>
          <a:p>
            <a:pPr defTabSz="1097280" eaLnBrk="0" fontAlgn="base" hangingPunct="0">
              <a:spcBef>
                <a:spcPct val="0"/>
              </a:spcBef>
              <a:spcAft>
                <a:spcPct val="0"/>
              </a:spcAft>
              <a:buFont typeface="Symbol" panose="05050102010706020507" pitchFamily="18" charset="2"/>
              <a:buChar char=""/>
            </a:pPr>
            <a:r>
              <a:rPr kumimoji="0" lang="en-US" altLang="en-US" b="0" i="0" u="none" strike="noStrike" cap="none" normalizeH="0" baseline="0" dirty="0" err="1">
                <a:ln>
                  <a:noFill/>
                </a:ln>
                <a:solidFill>
                  <a:schemeClr val="tx1"/>
                </a:solidFill>
                <a:effectLst/>
                <a:latin typeface="Arial" panose="020B0604020202020204" pitchFamily="34" charset="0"/>
              </a:rPr>
              <a:t>Hỗ</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trợ</a:t>
            </a:r>
            <a:r>
              <a:rPr kumimoji="0" lang="en-US" altLang="en-US" b="0" i="0" u="none" strike="noStrike" cap="none" normalizeH="0" baseline="0" dirty="0">
                <a:ln>
                  <a:noFill/>
                </a:ln>
                <a:solidFill>
                  <a:schemeClr val="tx1"/>
                </a:solidFill>
                <a:effectLst/>
                <a:latin typeface="Arial" panose="020B0604020202020204" pitchFamily="34" charset="0"/>
              </a:rPr>
              <a:t>: </a:t>
            </a:r>
          </a:p>
          <a:p>
            <a:pPr defTabSz="1097280" eaLnBrk="0" fontAlgn="base" hangingPunct="0">
              <a:spcBef>
                <a:spcPct val="0"/>
              </a:spcBef>
              <a:spcAft>
                <a:spcPct val="0"/>
              </a:spcAft>
            </a:pPr>
            <a:r>
              <a:rPr kumimoji="0" lang="en-US" altLang="en-US" b="0" i="0" u="none" strike="noStrike" cap="none" normalizeH="0" baseline="0" dirty="0" err="1">
                <a:ln>
                  <a:noFill/>
                </a:ln>
                <a:solidFill>
                  <a:schemeClr val="tx1"/>
                </a:solidFill>
                <a:effectLst/>
                <a:latin typeface="Arial" panose="020B0604020202020204" pitchFamily="34" charset="0"/>
              </a:rPr>
              <a:t>Quyết</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định</a:t>
            </a:r>
            <a:r>
              <a:rPr kumimoji="0" lang="en-US" altLang="en-US" b="0" i="0" u="none" strike="noStrike" cap="none" normalizeH="0" baseline="0" dirty="0">
                <a:ln>
                  <a:noFill/>
                </a:ln>
                <a:solidFill>
                  <a:schemeClr val="tx1"/>
                </a:solidFill>
                <a:effectLst/>
                <a:latin typeface="Arial" panose="020B0604020202020204" pitchFamily="34" charset="0"/>
              </a:rPr>
              <a:t> marketing</a:t>
            </a:r>
          </a:p>
          <a:p>
            <a:pPr marL="0" indent="0" defTabSz="1097280" eaLnBrk="0" fontAlgn="base" hangingPunct="0">
              <a:spcBef>
                <a:spcPct val="0"/>
              </a:spcBef>
              <a:spcAft>
                <a:spcPct val="0"/>
              </a:spcAft>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 name="Text 0">
            <a:extLst>
              <a:ext uri="{FF2B5EF4-FFF2-40B4-BE49-F238E27FC236}">
                <a16:creationId xmlns:a16="http://schemas.microsoft.com/office/drawing/2014/main" id="{2ADFCA37-6CEA-A631-37B1-64F610C4C555}"/>
              </a:ext>
            </a:extLst>
          </p:cNvPr>
          <p:cNvSpPr/>
          <p:nvPr/>
        </p:nvSpPr>
        <p:spPr>
          <a:xfrm>
            <a:off x="148829" y="421374"/>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3.2 Trực quan hóa dữ liệu ban đầu</a:t>
            </a:r>
            <a:endParaRPr lang="en-US" sz="3550" b="1" dirty="0"/>
          </a:p>
        </p:txBody>
      </p:sp>
      <p:sp>
        <p:nvSpPr>
          <p:cNvPr id="6" name="Shape 1">
            <a:extLst>
              <a:ext uri="{FF2B5EF4-FFF2-40B4-BE49-F238E27FC236}">
                <a16:creationId xmlns:a16="http://schemas.microsoft.com/office/drawing/2014/main" id="{1AA5536F-B715-BEA3-2D25-FCC8C9BC537D}"/>
              </a:ext>
            </a:extLst>
          </p:cNvPr>
          <p:cNvSpPr/>
          <p:nvPr/>
        </p:nvSpPr>
        <p:spPr>
          <a:xfrm>
            <a:off x="8046720" y="1863687"/>
            <a:ext cx="5613818" cy="4282249"/>
          </a:xfrm>
          <a:prstGeom prst="roundRect">
            <a:avLst>
              <a:gd name="adj" fmla="val 12013"/>
            </a:avLst>
          </a:prstGeom>
          <a:solidFill>
            <a:srgbClr val="F2EEEE"/>
          </a:solidFill>
          <a:ln/>
        </p:spPr>
        <p:txBody>
          <a:bodyPr/>
          <a:lstStyle/>
          <a:p>
            <a:endParaRPr lang="en-US"/>
          </a:p>
        </p:txBody>
      </p:sp>
      <p:sp>
        <p:nvSpPr>
          <p:cNvPr id="7" name="Rectangle 1">
            <a:extLst>
              <a:ext uri="{FF2B5EF4-FFF2-40B4-BE49-F238E27FC236}">
                <a16:creationId xmlns:a16="http://schemas.microsoft.com/office/drawing/2014/main" id="{D4604E3C-DEF6-8FBE-95A0-9D99AE847028}"/>
              </a:ext>
            </a:extLst>
          </p:cNvPr>
          <p:cNvSpPr txBox="1">
            <a:spLocks noChangeArrowheads="1"/>
          </p:cNvSpPr>
          <p:nvPr/>
        </p:nvSpPr>
        <p:spPr bwMode="auto">
          <a:xfrm>
            <a:off x="8361262" y="2379562"/>
            <a:ext cx="5613818"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anchor="ctr" anchorCtr="0" compatLnSpc="1">
            <a:prstTxWarp prst="textNoShape">
              <a:avLst/>
            </a:prstTxWarp>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1097280" eaLnBrk="0" fontAlgn="base" hangingPunct="0">
              <a:spcBef>
                <a:spcPct val="0"/>
              </a:spcBef>
              <a:spcAft>
                <a:spcPct val="0"/>
              </a:spcAft>
              <a:buFont typeface="Arial" pitchFamily="34" charset="0"/>
              <a:buNone/>
            </a:pPr>
            <a:r>
              <a:rPr lang="vi-VN" altLang="en-US">
                <a:latin typeface="Arial" panose="020B0604020202020204" pitchFamily="34" charset="0"/>
              </a:rPr>
              <a:t>Công cụ &amp; phương pháp</a:t>
            </a:r>
            <a:endParaRPr lang="en-US" altLang="en-US">
              <a:latin typeface="Arial" panose="020B0604020202020204" pitchFamily="34" charset="0"/>
            </a:endParaRPr>
          </a:p>
          <a:p>
            <a:r>
              <a:rPr lang="en-US"/>
              <a:t>Sử dụng: Python (matplotlib, seaborn)</a:t>
            </a:r>
          </a:p>
          <a:p>
            <a:r>
              <a:rPr lang="en-US"/>
              <a:t> Output: Các biểu đồ trong thư mục outputs/figures</a:t>
            </a:r>
          </a:p>
          <a:p>
            <a:pPr marL="0" indent="0" defTabSz="1097280" eaLnBrk="0" fontAlgn="base" hangingPunct="0">
              <a:spcBef>
                <a:spcPct val="0"/>
              </a:spcBef>
              <a:spcAft>
                <a:spcPct val="0"/>
              </a:spcAft>
              <a:buFont typeface="Arial" pitchFamily="34" charset="0"/>
              <a:buNone/>
            </a:pPr>
            <a:endParaRPr lang="en-US" altLang="en-US" dirty="0">
              <a:latin typeface="Arial" panose="020B0604020202020204" pitchFamily="34" charset="0"/>
            </a:endParaRPr>
          </a:p>
        </p:txBody>
      </p:sp>
    </p:spTree>
    <p:extLst>
      <p:ext uri="{BB962C8B-B14F-4D97-AF65-F5344CB8AC3E}">
        <p14:creationId xmlns:p14="http://schemas.microsoft.com/office/powerpoint/2010/main" val="12500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A3FC-C80A-E72F-B02F-46A6F7B6531F}"/>
              </a:ext>
            </a:extLst>
          </p:cNvPr>
          <p:cNvSpPr>
            <a:spLocks noGrp="1"/>
          </p:cNvSpPr>
          <p:nvPr>
            <p:ph type="title"/>
          </p:nvPr>
        </p:nvSpPr>
        <p:spPr/>
        <p:txBody>
          <a:bodyPr/>
          <a:lstStyle/>
          <a:p>
            <a:r>
              <a:rPr lang="en-US"/>
              <a:t> </a:t>
            </a:r>
            <a:endParaRPr lang="en-US" dirty="0"/>
          </a:p>
        </p:txBody>
      </p:sp>
      <p:sp>
        <p:nvSpPr>
          <p:cNvPr id="3" name="Content Placeholder 2">
            <a:extLst>
              <a:ext uri="{FF2B5EF4-FFF2-40B4-BE49-F238E27FC236}">
                <a16:creationId xmlns:a16="http://schemas.microsoft.com/office/drawing/2014/main" id="{6CD1C1F8-2C6C-9181-2F80-42B160B011A9}"/>
              </a:ext>
            </a:extLst>
          </p:cNvPr>
          <p:cNvSpPr>
            <a:spLocks noGrp="1"/>
          </p:cNvSpPr>
          <p:nvPr>
            <p:ph idx="1"/>
          </p:nvPr>
        </p:nvSpPr>
        <p:spPr>
          <a:xfrm>
            <a:off x="383671" y="2156940"/>
            <a:ext cx="6471502" cy="4777543"/>
          </a:xfrm>
        </p:spPr>
        <p:txBody>
          <a:bodyPr>
            <a:normAutofit fontScale="70000" lnSpcReduction="20000"/>
          </a:bodyPr>
          <a:lstStyle/>
          <a:p>
            <a:pPr marL="0" indent="0">
              <a:buNone/>
            </a:pPr>
            <a:r>
              <a:rPr lang="vi-VN" b="1"/>
              <a:t>Đặc điểm phân bổ:</a:t>
            </a:r>
            <a:endParaRPr lang="vi-VN"/>
          </a:p>
          <a:p>
            <a:pPr lvl="1"/>
            <a:r>
              <a:rPr lang="vi-VN"/>
              <a:t>Sản lượng tập trung chủ yếu ở mức </a:t>
            </a:r>
            <a:r>
              <a:rPr lang="vi-VN" b="1"/>
              <a:t>100 – 300 mã sản phẩm</a:t>
            </a:r>
            <a:r>
              <a:rPr lang="vi-VN"/>
              <a:t>.</a:t>
            </a:r>
          </a:p>
          <a:p>
            <a:pPr lvl="1"/>
            <a:r>
              <a:rPr lang="vi-VN"/>
              <a:t>Tại mức doanh số này, số lượng mã hàng đạt đỉnh (khoảng </a:t>
            </a:r>
            <a:r>
              <a:rPr lang="vi-VN" b="1"/>
              <a:t>120 mã</a:t>
            </a:r>
            <a:r>
              <a:rPr lang="vi-VN"/>
              <a:t>).</a:t>
            </a:r>
          </a:p>
          <a:p>
            <a:pPr marL="0" indent="0">
              <a:buNone/>
            </a:pPr>
            <a:r>
              <a:rPr lang="vi-VN" b="1"/>
              <a:t>Xu hướng:</a:t>
            </a:r>
            <a:endParaRPr lang="vi-VN"/>
          </a:p>
          <a:p>
            <a:pPr lvl="1"/>
            <a:r>
              <a:rPr lang="vi-VN"/>
              <a:t>Số lượng mã hàng giảm dần khi sản lượng bán ra tăng cao (quy luật đuôi dài).</a:t>
            </a:r>
          </a:p>
          <a:p>
            <a:pPr lvl="1"/>
            <a:r>
              <a:rPr lang="vi-VN"/>
              <a:t>Có một nhóm nhỏ "ngôi sao" đạt mức doanh số cao vượt trội (&gt;1.000 sản phẩm).</a:t>
            </a:r>
          </a:p>
          <a:p>
            <a:pPr marL="0" indent="0">
              <a:buNone/>
            </a:pPr>
            <a:r>
              <a:rPr lang="vi-VN" b="1"/>
              <a:t>Kết luận:</a:t>
            </a:r>
            <a:endParaRPr lang="vi-VN"/>
          </a:p>
          <a:p>
            <a:pPr lvl="1"/>
            <a:r>
              <a:rPr lang="vi-VN"/>
              <a:t>Thị trường cạnh tranh cực kỳ mạnh ở </a:t>
            </a:r>
            <a:r>
              <a:rPr lang="vi-VN" b="1"/>
              <a:t>phân khúc sản lượng trung bình</a:t>
            </a:r>
            <a:r>
              <a:rPr lang="vi-VN"/>
              <a:t>.</a:t>
            </a:r>
          </a:p>
          <a:p>
            <a:pPr lvl="1"/>
            <a:r>
              <a:rPr lang="vi-VN"/>
              <a:t>Cần tập trung tối ưu hóa nhóm sản phẩm có doanh số 100-300 để bứt phá lên nhóm doanh số cao.</a:t>
            </a:r>
            <a:endParaRPr lang="vi-VN" dirty="0"/>
          </a:p>
        </p:txBody>
      </p:sp>
      <p:sp>
        <p:nvSpPr>
          <p:cNvPr id="4" name="Text 0">
            <a:extLst>
              <a:ext uri="{FF2B5EF4-FFF2-40B4-BE49-F238E27FC236}">
                <a16:creationId xmlns:a16="http://schemas.microsoft.com/office/drawing/2014/main" id="{0E187039-7F80-26E7-36CA-BE8777CEEDCF}"/>
              </a:ext>
            </a:extLst>
          </p:cNvPr>
          <p:cNvSpPr/>
          <p:nvPr/>
        </p:nvSpPr>
        <p:spPr>
          <a:xfrm>
            <a:off x="148829" y="421374"/>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Biểu đồ phân phối:</a:t>
            </a:r>
            <a:endParaRPr lang="en-US" sz="3550" b="1" dirty="0"/>
          </a:p>
        </p:txBody>
      </p:sp>
      <p:pic>
        <p:nvPicPr>
          <p:cNvPr id="7" name="Picture 6">
            <a:extLst>
              <a:ext uri="{FF2B5EF4-FFF2-40B4-BE49-F238E27FC236}">
                <a16:creationId xmlns:a16="http://schemas.microsoft.com/office/drawing/2014/main" id="{55ADFEB3-DD21-D386-8AE9-211F87152748}"/>
              </a:ext>
            </a:extLst>
          </p:cNvPr>
          <p:cNvPicPr>
            <a:picLocks noChangeAspect="1"/>
          </p:cNvPicPr>
          <p:nvPr/>
        </p:nvPicPr>
        <p:blipFill>
          <a:blip r:embed="rId2"/>
          <a:stretch>
            <a:fillRect/>
          </a:stretch>
        </p:blipFill>
        <p:spPr>
          <a:xfrm>
            <a:off x="6855173" y="2156940"/>
            <a:ext cx="7521776" cy="4513066"/>
          </a:xfrm>
          <a:prstGeom prst="rect">
            <a:avLst/>
          </a:prstGeom>
        </p:spPr>
      </p:pic>
    </p:spTree>
    <p:extLst>
      <p:ext uri="{BB962C8B-B14F-4D97-AF65-F5344CB8AC3E}">
        <p14:creationId xmlns:p14="http://schemas.microsoft.com/office/powerpoint/2010/main" val="1801250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6210-BCB7-9637-DAAB-827EB5370D0A}"/>
              </a:ext>
            </a:extLst>
          </p:cNvPr>
          <p:cNvSpPr>
            <a:spLocks noGrp="1"/>
          </p:cNvSpPr>
          <p:nvPr>
            <p:ph type="title"/>
          </p:nvPr>
        </p:nvSpPr>
        <p:spPr/>
        <p:txBody>
          <a:bodyPr/>
          <a:lstStyle/>
          <a:p>
            <a:r>
              <a:rPr lang="en-US"/>
              <a:t> </a:t>
            </a:r>
            <a:endParaRPr lang="en-US" dirty="0"/>
          </a:p>
        </p:txBody>
      </p:sp>
      <p:sp>
        <p:nvSpPr>
          <p:cNvPr id="3" name="Content Placeholder 2">
            <a:extLst>
              <a:ext uri="{FF2B5EF4-FFF2-40B4-BE49-F238E27FC236}">
                <a16:creationId xmlns:a16="http://schemas.microsoft.com/office/drawing/2014/main" id="{DAEAB212-87CB-8E0F-6F70-F19E948F2716}"/>
              </a:ext>
            </a:extLst>
          </p:cNvPr>
          <p:cNvSpPr>
            <a:spLocks noGrp="1"/>
          </p:cNvSpPr>
          <p:nvPr>
            <p:ph idx="1"/>
          </p:nvPr>
        </p:nvSpPr>
        <p:spPr>
          <a:xfrm>
            <a:off x="1005841" y="2190750"/>
            <a:ext cx="5751095" cy="4970446"/>
          </a:xfrm>
        </p:spPr>
        <p:txBody>
          <a:bodyPr>
            <a:normAutofit lnSpcReduction="10000"/>
          </a:bodyPr>
          <a:lstStyle/>
          <a:p>
            <a:pPr marL="0" indent="0">
              <a:buNone/>
            </a:pPr>
            <a:r>
              <a:rPr lang="en-US" sz="2880"/>
              <a:t>Phân tích theo </a:t>
            </a:r>
            <a:r>
              <a:rPr lang="vi-VN" sz="2880"/>
              <a:t>hãng</a:t>
            </a:r>
            <a:endParaRPr lang="en-US" sz="2880"/>
          </a:p>
          <a:p>
            <a:pPr>
              <a:buFontTx/>
              <a:buChar char="-"/>
            </a:pPr>
            <a:r>
              <a:rPr lang="en-US" sz="2880"/>
              <a:t>Hãng phổ biến:</a:t>
            </a:r>
          </a:p>
          <a:p>
            <a:r>
              <a:rPr lang="vi-VN" sz="2880"/>
              <a:t>Sony</a:t>
            </a:r>
            <a:endParaRPr lang="en-US" sz="2880"/>
          </a:p>
          <a:p>
            <a:r>
              <a:rPr lang="en-US" sz="2880"/>
              <a:t>Samsung</a:t>
            </a:r>
          </a:p>
          <a:p>
            <a:r>
              <a:rPr lang="en-US" sz="2880"/>
              <a:t>Xiaomi</a:t>
            </a:r>
          </a:p>
          <a:p>
            <a:r>
              <a:rPr lang="en-US" sz="2880"/>
              <a:t>LG</a:t>
            </a:r>
          </a:p>
          <a:p>
            <a:pPr>
              <a:buFontTx/>
              <a:buChar char="-"/>
            </a:pPr>
            <a:r>
              <a:rPr lang="en-US" sz="2880"/>
              <a:t>Kết luận:</a:t>
            </a:r>
          </a:p>
          <a:p>
            <a:r>
              <a:rPr lang="en-US" sz="2880"/>
              <a:t>Các </a:t>
            </a:r>
            <a:r>
              <a:rPr lang="vi-VN" sz="2880"/>
              <a:t>hãn</a:t>
            </a:r>
            <a:r>
              <a:rPr lang="en-US" sz="2880"/>
              <a:t>g lớn chiếm thị phần chính</a:t>
            </a:r>
          </a:p>
          <a:p>
            <a:r>
              <a:rPr lang="en-US" sz="2880"/>
              <a:t>Hành vi người dùng tập trung vào thương hiệu</a:t>
            </a:r>
            <a:endParaRPr lang="en-US" sz="2880" dirty="0"/>
          </a:p>
        </p:txBody>
      </p:sp>
      <p:sp>
        <p:nvSpPr>
          <p:cNvPr id="5" name="Text 0">
            <a:extLst>
              <a:ext uri="{FF2B5EF4-FFF2-40B4-BE49-F238E27FC236}">
                <a16:creationId xmlns:a16="http://schemas.microsoft.com/office/drawing/2014/main" id="{8490195D-3ADB-08A3-A06A-4AD0F1682C7C}"/>
              </a:ext>
            </a:extLst>
          </p:cNvPr>
          <p:cNvSpPr/>
          <p:nvPr/>
        </p:nvSpPr>
        <p:spPr>
          <a:xfrm>
            <a:off x="148829" y="421374"/>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Biểu đồ thanh ngang</a:t>
            </a:r>
            <a:endParaRPr lang="en-US" sz="3550" b="1" dirty="0"/>
          </a:p>
        </p:txBody>
      </p:sp>
      <p:pic>
        <p:nvPicPr>
          <p:cNvPr id="7" name="Picture 6">
            <a:extLst>
              <a:ext uri="{FF2B5EF4-FFF2-40B4-BE49-F238E27FC236}">
                <a16:creationId xmlns:a16="http://schemas.microsoft.com/office/drawing/2014/main" id="{67184217-5743-7416-6128-AC93B5FA4277}"/>
              </a:ext>
            </a:extLst>
          </p:cNvPr>
          <p:cNvPicPr>
            <a:picLocks noChangeAspect="1"/>
          </p:cNvPicPr>
          <p:nvPr/>
        </p:nvPicPr>
        <p:blipFill>
          <a:blip r:embed="rId2"/>
          <a:stretch>
            <a:fillRect/>
          </a:stretch>
        </p:blipFill>
        <p:spPr>
          <a:xfrm>
            <a:off x="6865660" y="2190750"/>
            <a:ext cx="7616150" cy="4569690"/>
          </a:xfrm>
          <a:prstGeom prst="rect">
            <a:avLst/>
          </a:prstGeom>
        </p:spPr>
      </p:pic>
    </p:spTree>
    <p:extLst>
      <p:ext uri="{BB962C8B-B14F-4D97-AF65-F5344CB8AC3E}">
        <p14:creationId xmlns:p14="http://schemas.microsoft.com/office/powerpoint/2010/main" val="2994204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6312C-230B-06DC-8F07-E30561538859}"/>
              </a:ext>
            </a:extLst>
          </p:cNvPr>
          <p:cNvSpPr>
            <a:spLocks noGrp="1"/>
          </p:cNvSpPr>
          <p:nvPr>
            <p:ph type="title"/>
          </p:nvPr>
        </p:nvSpPr>
        <p:spPr/>
        <p:txBody>
          <a:bodyPr/>
          <a:lstStyle/>
          <a:p>
            <a:r>
              <a:rPr lang="en-US"/>
              <a:t> </a:t>
            </a:r>
            <a:endParaRPr lang="en-US" dirty="0"/>
          </a:p>
        </p:txBody>
      </p:sp>
      <p:sp>
        <p:nvSpPr>
          <p:cNvPr id="3" name="Content Placeholder 2">
            <a:extLst>
              <a:ext uri="{FF2B5EF4-FFF2-40B4-BE49-F238E27FC236}">
                <a16:creationId xmlns:a16="http://schemas.microsoft.com/office/drawing/2014/main" id="{38951ECC-046D-CE03-D739-0E65E884D6E8}"/>
              </a:ext>
            </a:extLst>
          </p:cNvPr>
          <p:cNvSpPr>
            <a:spLocks noGrp="1"/>
          </p:cNvSpPr>
          <p:nvPr>
            <p:ph idx="1"/>
          </p:nvPr>
        </p:nvSpPr>
        <p:spPr/>
        <p:txBody>
          <a:bodyPr/>
          <a:lstStyle/>
          <a:p>
            <a:pPr marL="0" indent="0">
              <a:buNone/>
            </a:pPr>
            <a:r>
              <a:rPr lang="en-US"/>
              <a:t> </a:t>
            </a:r>
            <a:endParaRPr lang="en-US" dirty="0"/>
          </a:p>
        </p:txBody>
      </p:sp>
      <p:sp>
        <p:nvSpPr>
          <p:cNvPr id="5" name="Text 0">
            <a:extLst>
              <a:ext uri="{FF2B5EF4-FFF2-40B4-BE49-F238E27FC236}">
                <a16:creationId xmlns:a16="http://schemas.microsoft.com/office/drawing/2014/main" id="{87D9EF22-CACC-15E4-9637-F4CFB1C4D0BE}"/>
              </a:ext>
            </a:extLst>
          </p:cNvPr>
          <p:cNvSpPr/>
          <p:nvPr/>
        </p:nvSpPr>
        <p:spPr>
          <a:xfrm>
            <a:off x="148829" y="421374"/>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Biểu đồ phân tán</a:t>
            </a:r>
            <a:endParaRPr lang="en-US" sz="3550" b="1" dirty="0"/>
          </a:p>
        </p:txBody>
      </p:sp>
      <p:sp>
        <p:nvSpPr>
          <p:cNvPr id="6" name="Shape 1">
            <a:extLst>
              <a:ext uri="{FF2B5EF4-FFF2-40B4-BE49-F238E27FC236}">
                <a16:creationId xmlns:a16="http://schemas.microsoft.com/office/drawing/2014/main" id="{EF3025C0-7FF7-9D1F-81A2-717BCA0D4EC3}"/>
              </a:ext>
            </a:extLst>
          </p:cNvPr>
          <p:cNvSpPr/>
          <p:nvPr/>
        </p:nvSpPr>
        <p:spPr>
          <a:xfrm>
            <a:off x="463951" y="2746525"/>
            <a:ext cx="3147929" cy="2099795"/>
          </a:xfrm>
          <a:prstGeom prst="roundRect">
            <a:avLst>
              <a:gd name="adj" fmla="val 12013"/>
            </a:avLst>
          </a:prstGeom>
          <a:solidFill>
            <a:srgbClr val="F2EEEE"/>
          </a:solidFill>
          <a:ln/>
        </p:spPr>
        <p:txBody>
          <a:bodyPr/>
          <a:lstStyle/>
          <a:p>
            <a:endParaRPr lang="en-US"/>
          </a:p>
        </p:txBody>
      </p:sp>
      <p:sp>
        <p:nvSpPr>
          <p:cNvPr id="7" name="Text 3">
            <a:extLst>
              <a:ext uri="{FF2B5EF4-FFF2-40B4-BE49-F238E27FC236}">
                <a16:creationId xmlns:a16="http://schemas.microsoft.com/office/drawing/2014/main" id="{B5A7B32E-2CF0-817D-D862-52F3078F96B8}"/>
              </a:ext>
            </a:extLst>
          </p:cNvPr>
          <p:cNvSpPr/>
          <p:nvPr/>
        </p:nvSpPr>
        <p:spPr>
          <a:xfrm>
            <a:off x="840246" y="3329747"/>
            <a:ext cx="2405874" cy="1516573"/>
          </a:xfrm>
          <a:prstGeom prst="rect">
            <a:avLst/>
          </a:prstGeom>
          <a:noFill/>
          <a:ln/>
        </p:spPr>
        <p:txBody>
          <a:bodyPr wrap="square" lIns="0" tIns="0" rIns="0" bIns="0" rtlCol="0" anchor="t"/>
          <a:lstStyle/>
          <a:p>
            <a:pPr marL="0" indent="0" algn="ctr">
              <a:lnSpc>
                <a:spcPts val="2850"/>
              </a:lnSpc>
              <a:buNone/>
            </a:pPr>
            <a:r>
              <a:rPr lang="vi-VN" sz="2400">
                <a:solidFill>
                  <a:srgbClr val="464646"/>
                </a:solidFill>
                <a:latin typeface="Arimo Medium" pitchFamily="34" charset="0"/>
                <a:ea typeface="Arimo Medium" pitchFamily="34" charset="-122"/>
                <a:cs typeface="Arimo Medium" pitchFamily="34" charset="-120"/>
              </a:rPr>
              <a:t>Giá rẻ -&gt; bán được nhều hơn</a:t>
            </a:r>
          </a:p>
        </p:txBody>
      </p:sp>
      <p:pic>
        <p:nvPicPr>
          <p:cNvPr id="9" name="Picture 8">
            <a:extLst>
              <a:ext uri="{FF2B5EF4-FFF2-40B4-BE49-F238E27FC236}">
                <a16:creationId xmlns:a16="http://schemas.microsoft.com/office/drawing/2014/main" id="{616072C8-9012-B327-D327-9CC811767817}"/>
              </a:ext>
            </a:extLst>
          </p:cNvPr>
          <p:cNvPicPr>
            <a:picLocks noChangeAspect="1"/>
          </p:cNvPicPr>
          <p:nvPr/>
        </p:nvPicPr>
        <p:blipFill>
          <a:blip r:embed="rId2"/>
          <a:stretch>
            <a:fillRect/>
          </a:stretch>
        </p:blipFill>
        <p:spPr>
          <a:xfrm>
            <a:off x="4906527" y="1605770"/>
            <a:ext cx="9144019" cy="5486411"/>
          </a:xfrm>
          <a:prstGeom prst="rect">
            <a:avLst/>
          </a:prstGeom>
        </p:spPr>
      </p:pic>
    </p:spTree>
    <p:extLst>
      <p:ext uri="{BB962C8B-B14F-4D97-AF65-F5344CB8AC3E}">
        <p14:creationId xmlns:p14="http://schemas.microsoft.com/office/powerpoint/2010/main" val="221296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7855D6F5-FF72-3064-B1F8-A89CCA0AB450}"/>
              </a:ext>
            </a:extLst>
          </p:cNvPr>
          <p:cNvSpPr/>
          <p:nvPr/>
        </p:nvSpPr>
        <p:spPr>
          <a:xfrm>
            <a:off x="853439" y="1844041"/>
            <a:ext cx="6461761" cy="4937760"/>
          </a:xfrm>
          <a:prstGeom prst="roundRect">
            <a:avLst>
              <a:gd name="adj" fmla="val 12013"/>
            </a:avLst>
          </a:prstGeom>
          <a:solidFill>
            <a:srgbClr val="F2EEEE"/>
          </a:solidFill>
          <a:ln/>
        </p:spPr>
        <p:txBody>
          <a:bodyPr/>
          <a:lstStyle/>
          <a:p>
            <a:endParaRPr lang="en-US"/>
          </a:p>
        </p:txBody>
      </p:sp>
      <p:sp>
        <p:nvSpPr>
          <p:cNvPr id="2" name="Title 1">
            <a:extLst>
              <a:ext uri="{FF2B5EF4-FFF2-40B4-BE49-F238E27FC236}">
                <a16:creationId xmlns:a16="http://schemas.microsoft.com/office/drawing/2014/main" id="{BAED74F8-1F57-D59D-2338-0BB6809653A0}"/>
              </a:ext>
            </a:extLst>
          </p:cNvPr>
          <p:cNvSpPr>
            <a:spLocks noGrp="1"/>
          </p:cNvSpPr>
          <p:nvPr>
            <p:ph type="title"/>
          </p:nvPr>
        </p:nvSpPr>
        <p:spPr/>
        <p:txBody>
          <a:bodyPr/>
          <a:lstStyle/>
          <a:p>
            <a:r>
              <a:rPr lang="en-US"/>
              <a:t> </a:t>
            </a:r>
            <a:endParaRPr lang="en-US" dirty="0"/>
          </a:p>
        </p:txBody>
      </p:sp>
      <p:sp>
        <p:nvSpPr>
          <p:cNvPr id="3" name="Content Placeholder 2">
            <a:extLst>
              <a:ext uri="{FF2B5EF4-FFF2-40B4-BE49-F238E27FC236}">
                <a16:creationId xmlns:a16="http://schemas.microsoft.com/office/drawing/2014/main" id="{4D585F6E-4B32-A9E7-3542-8496722DA7B1}"/>
              </a:ext>
            </a:extLst>
          </p:cNvPr>
          <p:cNvSpPr>
            <a:spLocks noGrp="1"/>
          </p:cNvSpPr>
          <p:nvPr>
            <p:ph idx="1"/>
          </p:nvPr>
        </p:nvSpPr>
        <p:spPr>
          <a:xfrm>
            <a:off x="1005840" y="2190750"/>
            <a:ext cx="6309360" cy="5220703"/>
          </a:xfrm>
        </p:spPr>
        <p:txBody>
          <a:bodyPr/>
          <a:lstStyle/>
          <a:p>
            <a:r>
              <a:rPr lang="vi-VN" b="1" dirty="0"/>
              <a:t>Màu đỏ (sát 1.0):</a:t>
            </a:r>
            <a:r>
              <a:rPr lang="vi-VN" dirty="0"/>
              <a:t> Tương quan thuận mạnh (cái này tăng, cái kia tăng).</a:t>
            </a:r>
            <a:endParaRPr lang="en-US" dirty="0"/>
          </a:p>
          <a:p>
            <a:r>
              <a:rPr lang="vi-VN" b="1" dirty="0"/>
              <a:t>Màu xanh (sát -0.2):</a:t>
            </a:r>
            <a:r>
              <a:rPr lang="vi-VN" dirty="0"/>
              <a:t> Tương quan nghịch (cái này tăng, cái kia giảm).</a:t>
            </a:r>
            <a:endParaRPr lang="en-US" dirty="0"/>
          </a:p>
          <a:p>
            <a:r>
              <a:rPr lang="en-US" b="1" dirty="0" err="1"/>
              <a:t>Màu</a:t>
            </a:r>
            <a:r>
              <a:rPr lang="en-US" b="1" dirty="0"/>
              <a:t> </a:t>
            </a:r>
            <a:r>
              <a:rPr lang="en-US" b="1" dirty="0" err="1"/>
              <a:t>trắng</a:t>
            </a:r>
            <a:r>
              <a:rPr lang="en-US" b="1" dirty="0"/>
              <a:t>/</a:t>
            </a:r>
            <a:r>
              <a:rPr lang="en-US" b="1" dirty="0" err="1"/>
              <a:t>nhạt</a:t>
            </a:r>
            <a:r>
              <a:rPr lang="en-US" b="1" dirty="0"/>
              <a:t> (</a:t>
            </a:r>
            <a:r>
              <a:rPr lang="en-US" b="1" dirty="0" err="1"/>
              <a:t>sát</a:t>
            </a:r>
            <a:r>
              <a:rPr lang="en-US" b="1" dirty="0"/>
              <a:t> 0):</a:t>
            </a:r>
            <a:r>
              <a:rPr lang="en-US" dirty="0"/>
              <a:t> </a:t>
            </a:r>
            <a:r>
              <a:rPr lang="en-US" dirty="0" err="1"/>
              <a:t>Không</a:t>
            </a:r>
            <a:r>
              <a:rPr lang="en-US" dirty="0"/>
              <a:t> </a:t>
            </a:r>
            <a:r>
              <a:rPr lang="en-US" dirty="0" err="1"/>
              <a:t>có</a:t>
            </a:r>
            <a:r>
              <a:rPr lang="en-US" dirty="0"/>
              <a:t> </a:t>
            </a:r>
            <a:r>
              <a:rPr lang="en-US" dirty="0" err="1"/>
              <a:t>mối</a:t>
            </a:r>
            <a:r>
              <a:rPr lang="en-US" dirty="0"/>
              <a:t> </a:t>
            </a:r>
            <a:r>
              <a:rPr lang="en-US" dirty="0" err="1"/>
              <a:t>liên</a:t>
            </a:r>
            <a:r>
              <a:rPr lang="en-US" dirty="0"/>
              <a:t> </a:t>
            </a:r>
            <a:r>
              <a:rPr lang="en-US" dirty="0" err="1"/>
              <a:t>hệ</a:t>
            </a:r>
            <a:r>
              <a:rPr lang="en-US" dirty="0"/>
              <a:t> </a:t>
            </a:r>
            <a:r>
              <a:rPr lang="en-US" dirty="0" err="1"/>
              <a:t>rõ</a:t>
            </a:r>
            <a:r>
              <a:rPr lang="en-US" dirty="0"/>
              <a:t> </a:t>
            </a:r>
            <a:r>
              <a:rPr lang="en-US" dirty="0" err="1"/>
              <a:t>ràng</a:t>
            </a:r>
            <a:r>
              <a:rPr lang="en-US" dirty="0"/>
              <a:t>.</a:t>
            </a:r>
          </a:p>
        </p:txBody>
      </p:sp>
      <p:sp>
        <p:nvSpPr>
          <p:cNvPr id="5" name="Text 0">
            <a:extLst>
              <a:ext uri="{FF2B5EF4-FFF2-40B4-BE49-F238E27FC236}">
                <a16:creationId xmlns:a16="http://schemas.microsoft.com/office/drawing/2014/main" id="{6D5E3E85-8604-CE83-87B4-C466077F7C3B}"/>
              </a:ext>
            </a:extLst>
          </p:cNvPr>
          <p:cNvSpPr/>
          <p:nvPr/>
        </p:nvSpPr>
        <p:spPr>
          <a:xfrm>
            <a:off x="148829" y="421374"/>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3.2 Trực quan hóa dữ liệu ban đầu</a:t>
            </a:r>
            <a:endParaRPr lang="en-US" sz="3550" b="1" dirty="0"/>
          </a:p>
        </p:txBody>
      </p:sp>
      <p:pic>
        <p:nvPicPr>
          <p:cNvPr id="8" name="Picture 7">
            <a:extLst>
              <a:ext uri="{FF2B5EF4-FFF2-40B4-BE49-F238E27FC236}">
                <a16:creationId xmlns:a16="http://schemas.microsoft.com/office/drawing/2014/main" id="{A304551B-6559-2999-93D3-274D1AD80DF3}"/>
              </a:ext>
            </a:extLst>
          </p:cNvPr>
          <p:cNvPicPr>
            <a:picLocks noChangeAspect="1"/>
          </p:cNvPicPr>
          <p:nvPr/>
        </p:nvPicPr>
        <p:blipFill>
          <a:blip r:embed="rId2"/>
          <a:stretch>
            <a:fillRect/>
          </a:stretch>
        </p:blipFill>
        <p:spPr>
          <a:xfrm>
            <a:off x="7315200" y="1559293"/>
            <a:ext cx="7315200" cy="5852160"/>
          </a:xfrm>
          <a:prstGeom prst="rect">
            <a:avLst/>
          </a:prstGeom>
        </p:spPr>
      </p:pic>
    </p:spTree>
    <p:extLst>
      <p:ext uri="{BB962C8B-B14F-4D97-AF65-F5344CB8AC3E}">
        <p14:creationId xmlns:p14="http://schemas.microsoft.com/office/powerpoint/2010/main" val="3722198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E5DFD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4537" y="596622"/>
            <a:ext cx="5277207" cy="7036356"/>
          </a:xfrm>
          <a:prstGeom prst="rect">
            <a:avLst/>
          </a:prstGeom>
        </p:spPr>
      </p:pic>
      <p:sp>
        <p:nvSpPr>
          <p:cNvPr id="4" name="Text 1"/>
          <p:cNvSpPr/>
          <p:nvPr/>
        </p:nvSpPr>
        <p:spPr>
          <a:xfrm>
            <a:off x="6218158" y="591026"/>
            <a:ext cx="8412242" cy="1306830"/>
          </a:xfrm>
          <a:prstGeom prst="rect">
            <a:avLst/>
          </a:prstGeom>
          <a:noFill/>
          <a:ln/>
        </p:spPr>
        <p:txBody>
          <a:bodyPr wrap="square" lIns="0" tIns="0" rIns="0" bIns="0" rtlCol="0" anchor="t"/>
          <a:lstStyle/>
          <a:p>
            <a:pPr marL="0" indent="0" algn="l">
              <a:lnSpc>
                <a:spcPts val="5100"/>
              </a:lnSpc>
              <a:buNone/>
            </a:pPr>
            <a:r>
              <a:rPr lang="en-US" sz="4100" b="1">
                <a:solidFill>
                  <a:srgbClr val="282824"/>
                </a:solidFill>
                <a:latin typeface="Lato Bold" pitchFamily="34" charset="0"/>
                <a:ea typeface="Lato Bold" pitchFamily="34" charset="-122"/>
                <a:cs typeface="Lato Bold" pitchFamily="34" charset="-120"/>
              </a:rPr>
              <a:t> 3.3 Trích </a:t>
            </a:r>
            <a:r>
              <a:rPr lang="en-US" sz="4100" b="1" dirty="0">
                <a:solidFill>
                  <a:srgbClr val="282824"/>
                </a:solidFill>
                <a:latin typeface="Lato Bold" pitchFamily="34" charset="0"/>
                <a:ea typeface="Lato Bold" pitchFamily="34" charset="-122"/>
                <a:cs typeface="Lato Bold" pitchFamily="34" charset="-120"/>
              </a:rPr>
              <a:t>xuất Đặc trưng Sản phẩm &amp; Phân tích Cấu trúc Thị trường</a:t>
            </a:r>
            <a:endParaRPr lang="en-US" sz="4100" dirty="0"/>
          </a:p>
        </p:txBody>
      </p:sp>
      <p:sp>
        <p:nvSpPr>
          <p:cNvPr id="5" name="Text 2"/>
          <p:cNvSpPr/>
          <p:nvPr/>
        </p:nvSpPr>
        <p:spPr>
          <a:xfrm>
            <a:off x="6218158" y="1974890"/>
            <a:ext cx="3955971" cy="326588"/>
          </a:xfrm>
          <a:prstGeom prst="rect">
            <a:avLst/>
          </a:prstGeom>
          <a:noFill/>
          <a:ln/>
        </p:spPr>
        <p:txBody>
          <a:bodyPr wrap="none" lIns="0" tIns="0" rIns="0" bIns="0" rtlCol="0" anchor="t"/>
          <a:lstStyle/>
          <a:p>
            <a:pPr marL="0" indent="0" algn="l">
              <a:lnSpc>
                <a:spcPts val="2550"/>
              </a:lnSpc>
              <a:buNone/>
            </a:pPr>
            <a:r>
              <a:rPr lang="en-US" sz="2050" b="1" dirty="0">
                <a:solidFill>
                  <a:srgbClr val="282824"/>
                </a:solidFill>
                <a:latin typeface="Lato Bold" pitchFamily="34" charset="0"/>
                <a:ea typeface="Lato Bold" pitchFamily="34" charset="-122"/>
                <a:cs typeface="Lato Bold" pitchFamily="34" charset="-120"/>
              </a:rPr>
              <a:t>PCA &amp; CA cho Dữ liệu Đa Chiều</a:t>
            </a:r>
            <a:endParaRPr lang="en-US" sz="2050" dirty="0"/>
          </a:p>
        </p:txBody>
      </p:sp>
      <p:sp>
        <p:nvSpPr>
          <p:cNvPr id="6" name="Text 3"/>
          <p:cNvSpPr/>
          <p:nvPr/>
        </p:nvSpPr>
        <p:spPr>
          <a:xfrm>
            <a:off x="6218158" y="2590562"/>
            <a:ext cx="7680484" cy="964049"/>
          </a:xfrm>
          <a:prstGeom prst="rect">
            <a:avLst/>
          </a:prstGeom>
          <a:noFill/>
          <a:ln/>
        </p:spPr>
        <p:txBody>
          <a:bodyPr wrap="square" lIns="0" tIns="0" rIns="0" bIns="0" rtlCol="0" anchor="t"/>
          <a:lstStyle/>
          <a:p>
            <a:pPr marL="0" indent="0" algn="l">
              <a:lnSpc>
                <a:spcPts val="2500"/>
              </a:lnSpc>
              <a:buNone/>
            </a:pPr>
            <a:r>
              <a:rPr lang="en-US" sz="1600" dirty="0">
                <a:solidFill>
                  <a:srgbClr val="4A4A45"/>
                </a:solidFill>
                <a:latin typeface="Lato" pitchFamily="34" charset="0"/>
                <a:ea typeface="Lato" pitchFamily="34" charset="-122"/>
                <a:cs typeface="Lato" pitchFamily="34" charset="-120"/>
              </a:rPr>
              <a:t>Khi dữ liệu có quá nhiều cột (vừa số, vừa chữ), làm sao để gom gọn chúng lại mà không mất đi thông tin quan trọng? Đây là bài toán đau đầu mà chúng ta cần giải quyết.</a:t>
            </a:r>
            <a:endParaRPr lang="en-US" sz="1600" dirty="0"/>
          </a:p>
        </p:txBody>
      </p:sp>
      <p:sp>
        <p:nvSpPr>
          <p:cNvPr id="7" name="Shape 4"/>
          <p:cNvSpPr/>
          <p:nvPr/>
        </p:nvSpPr>
        <p:spPr>
          <a:xfrm>
            <a:off x="6218158" y="3771424"/>
            <a:ext cx="7680484" cy="2055614"/>
          </a:xfrm>
          <a:prstGeom prst="roundRect">
            <a:avLst>
              <a:gd name="adj" fmla="val 1526"/>
            </a:avLst>
          </a:prstGeom>
          <a:solidFill>
            <a:srgbClr val="E5DFD2"/>
          </a:solidFill>
          <a:ln/>
        </p:spPr>
        <p:txBody>
          <a:bodyPr/>
          <a:lstStyle/>
          <a:p>
            <a:endParaRPr lang="en-US"/>
          </a:p>
        </p:txBody>
      </p:sp>
      <p:sp>
        <p:nvSpPr>
          <p:cNvPr id="8" name="Text 5"/>
          <p:cNvSpPr/>
          <p:nvPr/>
        </p:nvSpPr>
        <p:spPr>
          <a:xfrm>
            <a:off x="6427232" y="3980498"/>
            <a:ext cx="2613779" cy="326588"/>
          </a:xfrm>
          <a:prstGeom prst="rect">
            <a:avLst/>
          </a:prstGeom>
          <a:noFill/>
          <a:ln/>
        </p:spPr>
        <p:txBody>
          <a:bodyPr wrap="none" lIns="0" tIns="0" rIns="0" bIns="0" rtlCol="0" anchor="t"/>
          <a:lstStyle/>
          <a:p>
            <a:pPr marL="0" indent="0" algn="l">
              <a:lnSpc>
                <a:spcPts val="2550"/>
              </a:lnSpc>
              <a:buNone/>
            </a:pPr>
            <a:r>
              <a:rPr lang="en-US" sz="2050" b="1" dirty="0">
                <a:solidFill>
                  <a:srgbClr val="4A4A45"/>
                </a:solidFill>
                <a:latin typeface="Lato Bold" pitchFamily="34" charset="0"/>
                <a:ea typeface="Lato Bold" pitchFamily="34" charset="-122"/>
                <a:cs typeface="Lato Bold" pitchFamily="34" charset="-120"/>
              </a:rPr>
              <a:t>Dữ liệu Định lượng</a:t>
            </a:r>
            <a:endParaRPr lang="en-US" sz="2050" dirty="0"/>
          </a:p>
        </p:txBody>
      </p:sp>
      <p:sp>
        <p:nvSpPr>
          <p:cNvPr id="9" name="Text 6"/>
          <p:cNvSpPr/>
          <p:nvPr/>
        </p:nvSpPr>
        <p:spPr>
          <a:xfrm>
            <a:off x="6427232" y="4422696"/>
            <a:ext cx="7262336" cy="321350"/>
          </a:xfrm>
          <a:prstGeom prst="rect">
            <a:avLst/>
          </a:prstGeom>
          <a:noFill/>
          <a:ln/>
        </p:spPr>
        <p:txBody>
          <a:bodyPr wrap="none" lIns="0" tIns="0" rIns="0" bIns="0" rtlCol="0" anchor="t"/>
          <a:lstStyle/>
          <a:p>
            <a:pPr marL="0" indent="0" algn="l">
              <a:lnSpc>
                <a:spcPts val="2500"/>
              </a:lnSpc>
              <a:buNone/>
            </a:pPr>
            <a:r>
              <a:rPr lang="en-US" sz="1600" dirty="0">
                <a:solidFill>
                  <a:srgbClr val="4A4A45"/>
                </a:solidFill>
                <a:latin typeface="Lato" pitchFamily="34" charset="0"/>
                <a:ea typeface="Lato" pitchFamily="34" charset="-122"/>
                <a:cs typeface="Lato" pitchFamily="34" charset="-120"/>
              </a:rPr>
              <a:t>Số lượng bán, giá giảm, Đánh giá, giá gốc, mức giảm giá, số lượt thích,</a:t>
            </a:r>
            <a:endParaRPr lang="en-US" sz="1600" dirty="0"/>
          </a:p>
        </p:txBody>
      </p:sp>
      <p:sp>
        <p:nvSpPr>
          <p:cNvPr id="10" name="Text 7"/>
          <p:cNvSpPr/>
          <p:nvPr/>
        </p:nvSpPr>
        <p:spPr>
          <a:xfrm>
            <a:off x="6427232" y="4859655"/>
            <a:ext cx="7262336" cy="321350"/>
          </a:xfrm>
          <a:prstGeom prst="rect">
            <a:avLst/>
          </a:prstGeom>
          <a:noFill/>
          <a:ln/>
        </p:spPr>
        <p:txBody>
          <a:bodyPr wrap="none" lIns="0" tIns="0" rIns="0" bIns="0" rtlCol="0" anchor="t"/>
          <a:lstStyle/>
          <a:p>
            <a:pPr marL="0" indent="0" algn="l">
              <a:lnSpc>
                <a:spcPts val="2500"/>
              </a:lnSpc>
              <a:buNone/>
            </a:pPr>
            <a:r>
              <a:rPr lang="en-US" sz="1600" dirty="0">
                <a:solidFill>
                  <a:srgbClr val="4A4A45"/>
                </a:solidFill>
                <a:latin typeface="Lato" pitchFamily="34" charset="0"/>
                <a:ea typeface="Lato" pitchFamily="34" charset="-122"/>
                <a:cs typeface="Lato" pitchFamily="34" charset="-120"/>
              </a:rPr>
              <a:t>số sao đánh giá, số lượng đánh giá</a:t>
            </a:r>
            <a:endParaRPr lang="en-US" sz="1600" dirty="0"/>
          </a:p>
        </p:txBody>
      </p:sp>
      <p:sp>
        <p:nvSpPr>
          <p:cNvPr id="11" name="Text 8"/>
          <p:cNvSpPr/>
          <p:nvPr/>
        </p:nvSpPr>
        <p:spPr>
          <a:xfrm>
            <a:off x="6427232" y="5296614"/>
            <a:ext cx="7262336" cy="321350"/>
          </a:xfrm>
          <a:prstGeom prst="rect">
            <a:avLst/>
          </a:prstGeom>
          <a:noFill/>
          <a:ln/>
        </p:spPr>
        <p:txBody>
          <a:bodyPr wrap="none" lIns="0" tIns="0" rIns="0" bIns="0" rtlCol="0" anchor="t"/>
          <a:lstStyle/>
          <a:p>
            <a:pPr marL="0" indent="0" algn="l">
              <a:lnSpc>
                <a:spcPts val="2500"/>
              </a:lnSpc>
              <a:buNone/>
            </a:pPr>
            <a:r>
              <a:rPr lang="en-US" sz="1600" b="1" dirty="0">
                <a:solidFill>
                  <a:srgbClr val="4A4A45"/>
                </a:solidFill>
                <a:latin typeface="Lato" pitchFamily="34" charset="0"/>
                <a:ea typeface="Lato" pitchFamily="34" charset="-122"/>
                <a:cs typeface="Lato" pitchFamily="34" charset="-120"/>
              </a:rPr>
              <a:t>→ Dùng PCA</a:t>
            </a:r>
            <a:endParaRPr lang="en-US" sz="1600" dirty="0"/>
          </a:p>
        </p:txBody>
      </p:sp>
      <p:sp>
        <p:nvSpPr>
          <p:cNvPr id="12" name="Shape 9"/>
          <p:cNvSpPr/>
          <p:nvPr/>
        </p:nvSpPr>
        <p:spPr>
          <a:xfrm>
            <a:off x="6218158" y="6019800"/>
            <a:ext cx="7680484" cy="1618655"/>
          </a:xfrm>
          <a:prstGeom prst="roundRect">
            <a:avLst>
              <a:gd name="adj" fmla="val 1938"/>
            </a:avLst>
          </a:prstGeom>
          <a:solidFill>
            <a:srgbClr val="E5DFD2"/>
          </a:solidFill>
          <a:ln/>
        </p:spPr>
        <p:txBody>
          <a:bodyPr/>
          <a:lstStyle/>
          <a:p>
            <a:endParaRPr lang="en-US" dirty="0"/>
          </a:p>
        </p:txBody>
      </p:sp>
      <p:sp>
        <p:nvSpPr>
          <p:cNvPr id="13" name="Text 10"/>
          <p:cNvSpPr/>
          <p:nvPr/>
        </p:nvSpPr>
        <p:spPr>
          <a:xfrm>
            <a:off x="6427232" y="6228874"/>
            <a:ext cx="2613779" cy="326588"/>
          </a:xfrm>
          <a:prstGeom prst="rect">
            <a:avLst/>
          </a:prstGeom>
          <a:noFill/>
          <a:ln/>
        </p:spPr>
        <p:txBody>
          <a:bodyPr wrap="none" lIns="0" tIns="0" rIns="0" bIns="0" rtlCol="0" anchor="t"/>
          <a:lstStyle/>
          <a:p>
            <a:pPr marL="0" indent="0" algn="l">
              <a:lnSpc>
                <a:spcPts val="2550"/>
              </a:lnSpc>
              <a:buNone/>
            </a:pPr>
            <a:r>
              <a:rPr lang="en-US" sz="2050" b="1" dirty="0">
                <a:solidFill>
                  <a:srgbClr val="4A4A45"/>
                </a:solidFill>
                <a:latin typeface="Lato Bold" pitchFamily="34" charset="0"/>
                <a:ea typeface="Lato Bold" pitchFamily="34" charset="-122"/>
                <a:cs typeface="Lato Bold" pitchFamily="34" charset="-120"/>
              </a:rPr>
              <a:t>Dữ liệu Định tính</a:t>
            </a:r>
            <a:endParaRPr lang="en-US" sz="2050" dirty="0"/>
          </a:p>
        </p:txBody>
      </p:sp>
      <p:sp>
        <p:nvSpPr>
          <p:cNvPr id="14" name="Text 11"/>
          <p:cNvSpPr/>
          <p:nvPr/>
        </p:nvSpPr>
        <p:spPr>
          <a:xfrm>
            <a:off x="6427232" y="6671072"/>
            <a:ext cx="7262336" cy="321350"/>
          </a:xfrm>
          <a:prstGeom prst="rect">
            <a:avLst/>
          </a:prstGeom>
          <a:noFill/>
          <a:ln/>
        </p:spPr>
        <p:txBody>
          <a:bodyPr wrap="none" lIns="0" tIns="0" rIns="0" bIns="0" rtlCol="0" anchor="t"/>
          <a:lstStyle/>
          <a:p>
            <a:pPr marL="0" indent="0" algn="l">
              <a:lnSpc>
                <a:spcPts val="2500"/>
              </a:lnSpc>
              <a:buNone/>
            </a:pPr>
            <a:r>
              <a:rPr lang="en-US" sz="1600" dirty="0">
                <a:solidFill>
                  <a:srgbClr val="4A4A45"/>
                </a:solidFill>
                <a:latin typeface="Lato" pitchFamily="34" charset="0"/>
                <a:ea typeface="Lato" pitchFamily="34" charset="-122"/>
                <a:cs typeface="Lato" pitchFamily="34" charset="-120"/>
              </a:rPr>
              <a:t>Thương hiệu, Địa lý</a:t>
            </a:r>
            <a:endParaRPr lang="en-US" sz="1600" dirty="0"/>
          </a:p>
        </p:txBody>
      </p:sp>
      <p:sp>
        <p:nvSpPr>
          <p:cNvPr id="15" name="Text 12"/>
          <p:cNvSpPr/>
          <p:nvPr/>
        </p:nvSpPr>
        <p:spPr>
          <a:xfrm>
            <a:off x="6427232" y="7108031"/>
            <a:ext cx="7262336" cy="321350"/>
          </a:xfrm>
          <a:prstGeom prst="rect">
            <a:avLst/>
          </a:prstGeom>
          <a:noFill/>
          <a:ln/>
        </p:spPr>
        <p:txBody>
          <a:bodyPr wrap="none" lIns="0" tIns="0" rIns="0" bIns="0" rtlCol="0" anchor="t"/>
          <a:lstStyle/>
          <a:p>
            <a:pPr marL="0" indent="0" algn="l">
              <a:lnSpc>
                <a:spcPts val="2500"/>
              </a:lnSpc>
              <a:buNone/>
            </a:pPr>
            <a:r>
              <a:rPr lang="en-US" sz="1600" b="1" dirty="0">
                <a:solidFill>
                  <a:srgbClr val="4A4A45"/>
                </a:solidFill>
                <a:latin typeface="Lato" pitchFamily="34" charset="0"/>
                <a:ea typeface="Lato" pitchFamily="34" charset="-122"/>
                <a:cs typeface="Lato" pitchFamily="34" charset="-120"/>
              </a:rPr>
              <a:t>→ </a:t>
            </a:r>
            <a:r>
              <a:rPr lang="en-US" sz="1600" b="1" dirty="0" err="1">
                <a:solidFill>
                  <a:srgbClr val="4A4A45"/>
                </a:solidFill>
                <a:latin typeface="Lato" pitchFamily="34" charset="0"/>
                <a:ea typeface="Lato" pitchFamily="34" charset="-122"/>
                <a:cs typeface="Lato" pitchFamily="34" charset="-120"/>
              </a:rPr>
              <a:t>Dùng</a:t>
            </a:r>
            <a:r>
              <a:rPr lang="en-US" sz="1600" b="1" dirty="0">
                <a:solidFill>
                  <a:srgbClr val="4A4A45"/>
                </a:solidFill>
                <a:latin typeface="Lato" pitchFamily="34" charset="0"/>
                <a:ea typeface="Lato" pitchFamily="34" charset="-122"/>
                <a:cs typeface="Lato" pitchFamily="34" charset="-120"/>
              </a:rPr>
              <a:t> CA</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6642" y="625078"/>
            <a:ext cx="10280928" cy="675680"/>
          </a:xfrm>
          <a:prstGeom prst="rect">
            <a:avLst/>
          </a:prstGeom>
          <a:noFill/>
          <a:ln/>
        </p:spPr>
        <p:txBody>
          <a:bodyPr wrap="none" lIns="0" tIns="0" rIns="0" bIns="0" rtlCol="0" anchor="t"/>
          <a:lstStyle/>
          <a:p>
            <a:pPr marL="0" indent="0" algn="l">
              <a:lnSpc>
                <a:spcPts val="5300"/>
              </a:lnSpc>
              <a:buNone/>
            </a:pPr>
            <a:r>
              <a:rPr lang="en-US" sz="4250" b="1" dirty="0">
                <a:solidFill>
                  <a:srgbClr val="282824"/>
                </a:solidFill>
                <a:latin typeface="Lato Bold" pitchFamily="34" charset="0"/>
                <a:ea typeface="Lato Bold" pitchFamily="34" charset="-122"/>
                <a:cs typeface="Lato Bold" pitchFamily="34" charset="-120"/>
              </a:rPr>
              <a:t>PCA: Biến 7 thước đo thành 2 chiều cốt lõi</a:t>
            </a:r>
            <a:endParaRPr lang="en-US" sz="4250" dirty="0"/>
          </a:p>
        </p:txBody>
      </p:sp>
      <p:sp>
        <p:nvSpPr>
          <p:cNvPr id="3" name="Text 1"/>
          <p:cNvSpPr/>
          <p:nvPr/>
        </p:nvSpPr>
        <p:spPr>
          <a:xfrm>
            <a:off x="756642" y="2795826"/>
            <a:ext cx="4233386" cy="405408"/>
          </a:xfrm>
          <a:prstGeom prst="rect">
            <a:avLst/>
          </a:prstGeom>
          <a:noFill/>
          <a:ln/>
        </p:spPr>
        <p:txBody>
          <a:bodyPr wrap="none" lIns="0" tIns="0" rIns="0" bIns="0" rtlCol="0" anchor="t"/>
          <a:lstStyle/>
          <a:p>
            <a:pPr marL="0" indent="0" algn="l">
              <a:lnSpc>
                <a:spcPts val="3150"/>
              </a:lnSpc>
              <a:buNone/>
            </a:pPr>
            <a:r>
              <a:rPr lang="en-US" sz="2550" b="1" dirty="0">
                <a:solidFill>
                  <a:srgbClr val="282824"/>
                </a:solidFill>
                <a:latin typeface="Lato Bold" pitchFamily="34" charset="0"/>
                <a:ea typeface="Lato Bold" pitchFamily="34" charset="-122"/>
                <a:cs typeface="Lato Bold" pitchFamily="34" charset="-120"/>
              </a:rPr>
              <a:t>Chuẩn hóa &amp; Ý nghĩa các trục</a:t>
            </a:r>
            <a:endParaRPr lang="en-US" sz="2550" dirty="0"/>
          </a:p>
        </p:txBody>
      </p:sp>
      <p:sp>
        <p:nvSpPr>
          <p:cNvPr id="4" name="Text 2"/>
          <p:cNvSpPr/>
          <p:nvPr/>
        </p:nvSpPr>
        <p:spPr>
          <a:xfrm>
            <a:off x="756642" y="3407212"/>
            <a:ext cx="7659291" cy="675561"/>
          </a:xfrm>
          <a:prstGeom prst="rect">
            <a:avLst/>
          </a:prstGeom>
          <a:noFill/>
          <a:ln/>
        </p:spPr>
        <p:txBody>
          <a:bodyPr wrap="square" lIns="0" tIns="0" rIns="0" bIns="0" rtlCol="0" anchor="t"/>
          <a:lstStyle/>
          <a:p>
            <a:pPr marL="0" indent="0" algn="l">
              <a:lnSpc>
                <a:spcPts val="2650"/>
              </a:lnSpc>
              <a:buNone/>
            </a:pPr>
            <a:r>
              <a:rPr lang="en-US" sz="1700" dirty="0">
                <a:solidFill>
                  <a:srgbClr val="4A4A45"/>
                </a:solidFill>
                <a:latin typeface="Lato" pitchFamily="34" charset="0"/>
                <a:ea typeface="Lato" pitchFamily="34" charset="-122"/>
                <a:cs typeface="Lato" pitchFamily="34" charset="-120"/>
              </a:rPr>
              <a:t>Trước khi chạy PCA, chúng ta dùng </a:t>
            </a:r>
            <a:r>
              <a:rPr lang="en-US" sz="1700" b="1" dirty="0">
                <a:solidFill>
                  <a:srgbClr val="4A4A45"/>
                </a:solidFill>
                <a:latin typeface="Lato" pitchFamily="34" charset="0"/>
                <a:ea typeface="Lato" pitchFamily="34" charset="-122"/>
                <a:cs typeface="Lato" pitchFamily="34" charset="-120"/>
              </a:rPr>
              <a:t>StandardScaler</a:t>
            </a:r>
            <a:r>
              <a:rPr lang="en-US" sz="1700" dirty="0">
                <a:solidFill>
                  <a:srgbClr val="4A4A45"/>
                </a:solidFill>
                <a:latin typeface="Lato" pitchFamily="34" charset="0"/>
                <a:ea typeface="Lato" pitchFamily="34" charset="-122"/>
                <a:cs typeface="Lato" pitchFamily="34" charset="-120"/>
              </a:rPr>
              <a:t> để </a:t>
            </a:r>
            <a:r>
              <a:rPr lang="en-US" sz="1700" dirty="0" err="1">
                <a:solidFill>
                  <a:srgbClr val="4A4A45"/>
                </a:solidFill>
                <a:latin typeface="Lato" pitchFamily="34" charset="0"/>
                <a:ea typeface="Lato" pitchFamily="34" charset="-122"/>
                <a:cs typeface="Lato" pitchFamily="34" charset="-120"/>
              </a:rPr>
              <a:t>chuẩn</a:t>
            </a:r>
            <a:r>
              <a:rPr lang="en-US" sz="1700" dirty="0">
                <a:solidFill>
                  <a:srgbClr val="4A4A45"/>
                </a:solidFill>
                <a:latin typeface="Lato" pitchFamily="34" charset="0"/>
                <a:ea typeface="Lato" pitchFamily="34" charset="-122"/>
                <a:cs typeface="Lato" pitchFamily="34" charset="-120"/>
              </a:rPr>
              <a:t> </a:t>
            </a:r>
            <a:r>
              <a:rPr lang="en-US" sz="1700" dirty="0" err="1">
                <a:solidFill>
                  <a:srgbClr val="4A4A45"/>
                </a:solidFill>
                <a:latin typeface="Lato" pitchFamily="34" charset="0"/>
                <a:ea typeface="Lato" pitchFamily="34" charset="-122"/>
                <a:cs typeface="Lato" pitchFamily="34" charset="-120"/>
              </a:rPr>
              <a:t>hóa</a:t>
            </a:r>
            <a:endParaRPr lang="en-US" sz="1700" dirty="0"/>
          </a:p>
        </p:txBody>
      </p:sp>
      <p:sp>
        <p:nvSpPr>
          <p:cNvPr id="5" name="Text 3"/>
          <p:cNvSpPr/>
          <p:nvPr/>
        </p:nvSpPr>
        <p:spPr>
          <a:xfrm>
            <a:off x="756642" y="4268153"/>
            <a:ext cx="7659291" cy="675561"/>
          </a:xfrm>
          <a:prstGeom prst="rect">
            <a:avLst/>
          </a:prstGeom>
          <a:noFill/>
          <a:ln/>
        </p:spPr>
        <p:txBody>
          <a:bodyPr wrap="square" lIns="0" tIns="0" rIns="0" bIns="0" rtlCol="0" anchor="t"/>
          <a:lstStyle/>
          <a:p>
            <a:pPr marL="0" indent="0" algn="l">
              <a:lnSpc>
                <a:spcPts val="2650"/>
              </a:lnSpc>
              <a:buNone/>
            </a:pPr>
            <a:r>
              <a:rPr lang="en-US" sz="1700" dirty="0">
                <a:solidFill>
                  <a:srgbClr val="4A4A45"/>
                </a:solidFill>
                <a:latin typeface="Lato" pitchFamily="34" charset="0"/>
                <a:ea typeface="Lato" pitchFamily="34" charset="-122"/>
                <a:cs typeface="Lato" pitchFamily="34" charset="-120"/>
              </a:rPr>
              <a:t>Thuật toán đã nén </a:t>
            </a:r>
            <a:r>
              <a:rPr lang="en-US" sz="1700" b="1" dirty="0">
                <a:solidFill>
                  <a:srgbClr val="282824"/>
                </a:solidFill>
                <a:latin typeface="Lato" pitchFamily="34" charset="0"/>
                <a:ea typeface="Lato" pitchFamily="34" charset="-122"/>
                <a:cs typeface="Lato" pitchFamily="34" charset="-120"/>
              </a:rPr>
              <a:t>7 cột số thành 2 trục chính</a:t>
            </a:r>
            <a:r>
              <a:rPr lang="en-US" sz="1700" dirty="0">
                <a:solidFill>
                  <a:srgbClr val="4A4A45"/>
                </a:solidFill>
                <a:latin typeface="Lato" pitchFamily="34" charset="0"/>
                <a:ea typeface="Lato" pitchFamily="34" charset="-122"/>
                <a:cs typeface="Lato" pitchFamily="34" charset="-120"/>
              </a:rPr>
              <a:t> (PC1 và PC2). Nhìn vào Bảng Trọng Số, ta thấy:</a:t>
            </a:r>
            <a:endParaRPr lang="en-US" sz="1700" dirty="0"/>
          </a:p>
        </p:txBody>
      </p:sp>
      <p:sp>
        <p:nvSpPr>
          <p:cNvPr id="6" name="Text 4"/>
          <p:cNvSpPr/>
          <p:nvPr/>
        </p:nvSpPr>
        <p:spPr>
          <a:xfrm>
            <a:off x="756642" y="5129093"/>
            <a:ext cx="7659291" cy="1423154"/>
          </a:xfrm>
          <a:prstGeom prst="rect">
            <a:avLst/>
          </a:prstGeom>
          <a:noFill/>
          <a:ln/>
        </p:spPr>
        <p:txBody>
          <a:bodyPr wrap="square" lIns="0" tIns="0" rIns="0" bIns="0" rtlCol="0" anchor="t"/>
          <a:lstStyle/>
          <a:p>
            <a:pPr marL="342900" indent="-342900" algn="l">
              <a:lnSpc>
                <a:spcPts val="2650"/>
              </a:lnSpc>
              <a:buSzPct val="100000"/>
              <a:buChar char="•"/>
            </a:pPr>
            <a:r>
              <a:rPr lang="en-US" sz="1700" b="1" dirty="0">
                <a:solidFill>
                  <a:srgbClr val="4A4A45"/>
                </a:solidFill>
                <a:latin typeface="Lato" pitchFamily="34" charset="0"/>
                <a:ea typeface="Lato" pitchFamily="34" charset="-122"/>
                <a:cs typeface="Lato" pitchFamily="34" charset="-120"/>
              </a:rPr>
              <a:t>PC1</a:t>
            </a:r>
            <a:r>
              <a:rPr lang="en-US" sz="1700" dirty="0">
                <a:solidFill>
                  <a:srgbClr val="4A4A45"/>
                </a:solidFill>
                <a:latin typeface="Lato" pitchFamily="34" charset="0"/>
                <a:ea typeface="Lato" pitchFamily="34" charset="-122"/>
                <a:cs typeface="Lato" pitchFamily="34" charset="-120"/>
              </a:rPr>
              <a:t> chịu ảnh hưởng mạnh nhất bởi cột Giá (original_price, discount_price), nên gọi là </a:t>
            </a:r>
            <a:r>
              <a:rPr lang="en-US" sz="1700" b="1" dirty="0">
                <a:solidFill>
                  <a:srgbClr val="282824"/>
                </a:solidFill>
                <a:latin typeface="Lato" pitchFamily="34" charset="0"/>
                <a:ea typeface="Lato" pitchFamily="34" charset="-122"/>
                <a:cs typeface="Lato" pitchFamily="34" charset="-120"/>
              </a:rPr>
              <a:t>Trục Phân khúc Giá</a:t>
            </a:r>
            <a:endParaRPr lang="en-US" sz="1700" dirty="0"/>
          </a:p>
          <a:p>
            <a:pPr marL="342900" indent="-342900" algn="l">
              <a:lnSpc>
                <a:spcPts val="2650"/>
              </a:lnSpc>
              <a:buSzPct val="100000"/>
              <a:buChar char="•"/>
            </a:pPr>
            <a:r>
              <a:rPr lang="en-US" sz="1700" b="1" dirty="0">
                <a:solidFill>
                  <a:srgbClr val="4A4A45"/>
                </a:solidFill>
                <a:latin typeface="Lato" pitchFamily="34" charset="0"/>
                <a:ea typeface="Lato" pitchFamily="34" charset="-122"/>
                <a:cs typeface="Lato" pitchFamily="34" charset="-120"/>
              </a:rPr>
              <a:t>PC2</a:t>
            </a:r>
            <a:r>
              <a:rPr lang="en-US" sz="1700" dirty="0">
                <a:solidFill>
                  <a:srgbClr val="4A4A45"/>
                </a:solidFill>
                <a:latin typeface="Lato" pitchFamily="34" charset="0"/>
                <a:ea typeface="Lato" pitchFamily="34" charset="-122"/>
                <a:cs typeface="Lato" pitchFamily="34" charset="-120"/>
              </a:rPr>
              <a:t> tỷ lệ thuận với sold_quantity, liked_count, nên gọi là </a:t>
            </a:r>
            <a:r>
              <a:rPr lang="en-US" sz="1700" b="1" dirty="0">
                <a:solidFill>
                  <a:srgbClr val="282824"/>
                </a:solidFill>
                <a:latin typeface="Lato" pitchFamily="34" charset="0"/>
                <a:ea typeface="Lato" pitchFamily="34" charset="-122"/>
                <a:cs typeface="Lato" pitchFamily="34" charset="-120"/>
              </a:rPr>
              <a:t>Trục Sức hút / Độ phổ biến</a:t>
            </a:r>
            <a:endParaRPr lang="en-US" sz="1700" dirty="0"/>
          </a:p>
        </p:txBody>
      </p:sp>
      <p:sp>
        <p:nvSpPr>
          <p:cNvPr id="8" name="Shape 5"/>
          <p:cNvSpPr/>
          <p:nvPr/>
        </p:nvSpPr>
        <p:spPr>
          <a:xfrm>
            <a:off x="8951000" y="5958364"/>
            <a:ext cx="4930378" cy="1414224"/>
          </a:xfrm>
          <a:prstGeom prst="roundRect">
            <a:avLst>
              <a:gd name="adj" fmla="val 2293"/>
            </a:avLst>
          </a:prstGeom>
          <a:solidFill>
            <a:srgbClr val="B6D6FC"/>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9167098" y="6290667"/>
            <a:ext cx="270153" cy="216098"/>
          </a:xfrm>
          <a:prstGeom prst="rect">
            <a:avLst/>
          </a:prstGeom>
        </p:spPr>
      </p:pic>
      <p:sp>
        <p:nvSpPr>
          <p:cNvPr id="10" name="Text 6"/>
          <p:cNvSpPr/>
          <p:nvPr/>
        </p:nvSpPr>
        <p:spPr>
          <a:xfrm>
            <a:off x="9653349" y="6218277"/>
            <a:ext cx="4011930" cy="337780"/>
          </a:xfrm>
          <a:prstGeom prst="rect">
            <a:avLst/>
          </a:prstGeom>
          <a:noFill/>
          <a:ln/>
        </p:spPr>
        <p:txBody>
          <a:bodyPr wrap="none" lIns="0" tIns="0" rIns="0" bIns="0" rtlCol="0" anchor="t"/>
          <a:lstStyle/>
          <a:p>
            <a:pPr marL="0" indent="0" algn="l">
              <a:lnSpc>
                <a:spcPts val="2650"/>
              </a:lnSpc>
              <a:buNone/>
            </a:pPr>
            <a:r>
              <a:rPr lang="en-US" sz="1700" b="1" dirty="0">
                <a:solidFill>
                  <a:srgbClr val="000000"/>
                </a:solidFill>
                <a:latin typeface="Lato" pitchFamily="34" charset="0"/>
                <a:ea typeface="Lato" pitchFamily="34" charset="-122"/>
                <a:cs typeface="Lato" pitchFamily="34" charset="-120"/>
              </a:rPr>
              <a:t>PC1 </a:t>
            </a:r>
            <a:r>
              <a:rPr lang="en-US" sz="1700" b="1" dirty="0" err="1">
                <a:solidFill>
                  <a:srgbClr val="000000"/>
                </a:solidFill>
                <a:latin typeface="Lato" pitchFamily="34" charset="0"/>
                <a:ea typeface="Lato" pitchFamily="34" charset="-122"/>
                <a:cs typeface="Lato" pitchFamily="34" charset="-120"/>
              </a:rPr>
              <a:t>giữ</a:t>
            </a:r>
            <a:r>
              <a:rPr lang="en-US" sz="1700" b="1" dirty="0">
                <a:solidFill>
                  <a:srgbClr val="000000"/>
                </a:solidFill>
                <a:latin typeface="Lato" pitchFamily="34" charset="0"/>
                <a:ea typeface="Lato" pitchFamily="34" charset="-122"/>
                <a:cs typeface="Lato" pitchFamily="34" charset="-120"/>
              </a:rPr>
              <a:t>  </a:t>
            </a:r>
            <a:r>
              <a:rPr lang="vi-VN" sz="1700" b="1" dirty="0">
                <a:solidFill>
                  <a:srgbClr val="000000"/>
                </a:solidFill>
                <a:latin typeface="Lato" pitchFamily="34" charset="0"/>
                <a:ea typeface="Lato" pitchFamily="34" charset="-122"/>
                <a:cs typeface="Lato" pitchFamily="34" charset="-120"/>
              </a:rPr>
              <a:t>32</a:t>
            </a:r>
            <a:r>
              <a:rPr lang="en-US" sz="1700" b="1" dirty="0">
                <a:solidFill>
                  <a:srgbClr val="000000"/>
                </a:solidFill>
                <a:latin typeface="Lato" pitchFamily="34" charset="0"/>
                <a:ea typeface="Lato" pitchFamily="34" charset="-122"/>
                <a:cs typeface="Lato" pitchFamily="34" charset="-120"/>
              </a:rPr>
              <a:t>.3%</a:t>
            </a:r>
            <a:endParaRPr lang="en-US" sz="1700" dirty="0"/>
          </a:p>
        </p:txBody>
      </p:sp>
      <p:sp>
        <p:nvSpPr>
          <p:cNvPr id="11" name="Text 7"/>
          <p:cNvSpPr/>
          <p:nvPr/>
        </p:nvSpPr>
        <p:spPr>
          <a:xfrm>
            <a:off x="9653349" y="6741438"/>
            <a:ext cx="4011930" cy="337780"/>
          </a:xfrm>
          <a:prstGeom prst="rect">
            <a:avLst/>
          </a:prstGeom>
          <a:noFill/>
          <a:ln/>
        </p:spPr>
        <p:txBody>
          <a:bodyPr wrap="none" lIns="0" tIns="0" rIns="0" bIns="0" rtlCol="0" anchor="t"/>
          <a:lstStyle/>
          <a:p>
            <a:pPr marL="0" indent="0" algn="l">
              <a:lnSpc>
                <a:spcPts val="2650"/>
              </a:lnSpc>
              <a:buNone/>
            </a:pPr>
            <a:r>
              <a:rPr lang="en-US" sz="1700" b="1" dirty="0">
                <a:solidFill>
                  <a:srgbClr val="000000"/>
                </a:solidFill>
                <a:latin typeface="Lato" pitchFamily="34" charset="0"/>
                <a:ea typeface="Lato" pitchFamily="34" charset="-122"/>
                <a:cs typeface="Lato" pitchFamily="34" charset="-120"/>
              </a:rPr>
              <a:t>PC2 </a:t>
            </a:r>
            <a:r>
              <a:rPr lang="en-US" sz="1700" b="1" dirty="0" err="1">
                <a:solidFill>
                  <a:srgbClr val="000000"/>
                </a:solidFill>
                <a:latin typeface="Lato" pitchFamily="34" charset="0"/>
                <a:ea typeface="Lato" pitchFamily="34" charset="-122"/>
                <a:cs typeface="Lato" pitchFamily="34" charset="-120"/>
              </a:rPr>
              <a:t>giữ</a:t>
            </a:r>
            <a:r>
              <a:rPr lang="en-US" sz="1700" b="1" dirty="0">
                <a:solidFill>
                  <a:srgbClr val="000000"/>
                </a:solidFill>
                <a:latin typeface="Lato" pitchFamily="34" charset="0"/>
                <a:ea typeface="Lato" pitchFamily="34" charset="-122"/>
                <a:cs typeface="Lato" pitchFamily="34" charset="-120"/>
              </a:rPr>
              <a:t> </a:t>
            </a:r>
            <a:r>
              <a:rPr lang="vi-VN" sz="1700" b="1" dirty="0">
                <a:solidFill>
                  <a:srgbClr val="000000"/>
                </a:solidFill>
                <a:latin typeface="Lato" pitchFamily="34" charset="0"/>
                <a:ea typeface="Lato" pitchFamily="34" charset="-122"/>
                <a:cs typeface="Lato" pitchFamily="34" charset="-120"/>
              </a:rPr>
              <a:t>21</a:t>
            </a:r>
            <a:r>
              <a:rPr lang="en-US" sz="1700" b="1" dirty="0">
                <a:solidFill>
                  <a:srgbClr val="000000"/>
                </a:solidFill>
                <a:latin typeface="Lato" pitchFamily="34" charset="0"/>
                <a:ea typeface="Lato" pitchFamily="34" charset="-122"/>
                <a:cs typeface="Lato" pitchFamily="34" charset="-120"/>
              </a:rPr>
              <a:t>.</a:t>
            </a:r>
            <a:r>
              <a:rPr lang="vi-VN" sz="1700" b="1" dirty="0">
                <a:solidFill>
                  <a:srgbClr val="000000"/>
                </a:solidFill>
                <a:latin typeface="Lato" pitchFamily="34" charset="0"/>
                <a:ea typeface="Lato" pitchFamily="34" charset="-122"/>
                <a:cs typeface="Lato" pitchFamily="34" charset="-120"/>
              </a:rPr>
              <a:t>5</a:t>
            </a:r>
            <a:r>
              <a:rPr lang="en-US" sz="1700" b="1" dirty="0">
                <a:solidFill>
                  <a:srgbClr val="000000"/>
                </a:solidFill>
                <a:latin typeface="Lato" pitchFamily="34" charset="0"/>
                <a:ea typeface="Lato" pitchFamily="34" charset="-122"/>
                <a:cs typeface="Lato" pitchFamily="34" charset="-120"/>
              </a:rPr>
              <a:t>%</a:t>
            </a:r>
            <a:endParaRPr lang="en-US" sz="1700" dirty="0"/>
          </a:p>
        </p:txBody>
      </p:sp>
      <p:pic>
        <p:nvPicPr>
          <p:cNvPr id="13" name="Picture 12">
            <a:extLst>
              <a:ext uri="{FF2B5EF4-FFF2-40B4-BE49-F238E27FC236}">
                <a16:creationId xmlns:a16="http://schemas.microsoft.com/office/drawing/2014/main" id="{DEE7F65E-E382-C46D-F007-2F522AE3691B}"/>
              </a:ext>
            </a:extLst>
          </p:cNvPr>
          <p:cNvPicPr>
            <a:picLocks noChangeAspect="1"/>
          </p:cNvPicPr>
          <p:nvPr/>
        </p:nvPicPr>
        <p:blipFill>
          <a:blip r:embed="rId4"/>
          <a:stretch>
            <a:fillRect/>
          </a:stretch>
        </p:blipFill>
        <p:spPr>
          <a:xfrm>
            <a:off x="9128917" y="1944129"/>
            <a:ext cx="4522418" cy="38288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7557AF-29EF-EF00-0C4F-0E5DA458B2FD}"/>
              </a:ext>
            </a:extLst>
          </p:cNvPr>
          <p:cNvPicPr>
            <a:picLocks noChangeAspect="1"/>
          </p:cNvPicPr>
          <p:nvPr/>
        </p:nvPicPr>
        <p:blipFill>
          <a:blip r:embed="rId3"/>
          <a:stretch>
            <a:fillRect/>
          </a:stretch>
        </p:blipFill>
        <p:spPr>
          <a:xfrm>
            <a:off x="340131" y="2371339"/>
            <a:ext cx="9144019" cy="5486411"/>
          </a:xfrm>
          <a:prstGeom prst="rect">
            <a:avLst/>
          </a:prstGeom>
        </p:spPr>
      </p:pic>
      <p:sp>
        <p:nvSpPr>
          <p:cNvPr id="4" name="Text 0"/>
          <p:cNvSpPr/>
          <p:nvPr/>
        </p:nvSpPr>
        <p:spPr>
          <a:xfrm>
            <a:off x="807720" y="177641"/>
            <a:ext cx="13028891" cy="1417558"/>
          </a:xfrm>
          <a:prstGeom prst="rect">
            <a:avLst/>
          </a:prstGeom>
          <a:noFill/>
          <a:ln/>
        </p:spPr>
        <p:txBody>
          <a:bodyPr wrap="square" lIns="0" tIns="0" rIns="0" bIns="0" rtlCol="0" anchor="t"/>
          <a:lstStyle/>
          <a:p>
            <a:pPr marL="0" indent="0" algn="ctr">
              <a:lnSpc>
                <a:spcPts val="5550"/>
              </a:lnSpc>
              <a:buNone/>
            </a:pPr>
            <a:r>
              <a:rPr lang="en-US" sz="4450" b="1" dirty="0">
                <a:solidFill>
                  <a:srgbClr val="282824"/>
                </a:solidFill>
                <a:latin typeface="Lato Bold" pitchFamily="34" charset="0"/>
                <a:ea typeface="Lato Bold" pitchFamily="34" charset="-122"/>
                <a:cs typeface="Lato Bold" pitchFamily="34" charset="-120"/>
              </a:rPr>
              <a:t>Bản đồ Định vị Sản phẩm trên không gian PCA</a:t>
            </a:r>
            <a:endParaRPr lang="en-US" sz="4450" dirty="0"/>
          </a:p>
        </p:txBody>
      </p:sp>
      <p:sp>
        <p:nvSpPr>
          <p:cNvPr id="5" name="Shape 1"/>
          <p:cNvSpPr/>
          <p:nvPr/>
        </p:nvSpPr>
        <p:spPr>
          <a:xfrm>
            <a:off x="8533556" y="1585259"/>
            <a:ext cx="5617618" cy="1286114"/>
          </a:xfrm>
          <a:prstGeom prst="roundRect">
            <a:avLst>
              <a:gd name="adj" fmla="val 1385"/>
            </a:avLst>
          </a:prstGeom>
          <a:solidFill>
            <a:srgbClr val="EFECE6"/>
          </a:solidFill>
          <a:ln w="30480">
            <a:solidFill>
              <a:srgbClr val="CBC5B8"/>
            </a:solidFill>
            <a:prstDash val="solid"/>
          </a:ln>
        </p:spPr>
        <p:txBody>
          <a:bodyPr/>
          <a:lstStyle/>
          <a:p>
            <a:endParaRPr lang="en-US"/>
          </a:p>
        </p:txBody>
      </p:sp>
      <p:sp>
        <p:nvSpPr>
          <p:cNvPr id="6" name="Text 2"/>
          <p:cNvSpPr/>
          <p:nvPr/>
        </p:nvSpPr>
        <p:spPr>
          <a:xfrm>
            <a:off x="8723585" y="1585259"/>
            <a:ext cx="2889409"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Góc phần tư trung tâm</a:t>
            </a:r>
            <a:endParaRPr lang="en-US" sz="2200" dirty="0"/>
          </a:p>
        </p:txBody>
      </p:sp>
      <p:sp>
        <p:nvSpPr>
          <p:cNvPr id="7" name="Text 3"/>
          <p:cNvSpPr/>
          <p:nvPr/>
        </p:nvSpPr>
        <p:spPr>
          <a:xfrm>
            <a:off x="8723585" y="1938934"/>
            <a:ext cx="5237560" cy="864811"/>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Đa số sản phẩm tụ tập ở đây, thể hiện phân khúc thị trường phổ biến với mức giá và sức hút trung bình</a:t>
            </a:r>
            <a:endParaRPr lang="en-US" sz="1750" dirty="0"/>
          </a:p>
        </p:txBody>
      </p:sp>
      <p:sp>
        <p:nvSpPr>
          <p:cNvPr id="8" name="Shape 4"/>
          <p:cNvSpPr/>
          <p:nvPr/>
        </p:nvSpPr>
        <p:spPr>
          <a:xfrm>
            <a:off x="10706582" y="3057882"/>
            <a:ext cx="3130029" cy="2456617"/>
          </a:xfrm>
          <a:prstGeom prst="roundRect">
            <a:avLst>
              <a:gd name="adj" fmla="val 1385"/>
            </a:avLst>
          </a:prstGeom>
          <a:solidFill>
            <a:srgbClr val="EFECE6"/>
          </a:solidFill>
          <a:ln w="30480">
            <a:solidFill>
              <a:srgbClr val="CBC5B8"/>
            </a:solidFill>
            <a:prstDash val="solid"/>
          </a:ln>
        </p:spPr>
        <p:txBody>
          <a:bodyPr/>
          <a:lstStyle/>
          <a:p>
            <a:endParaRPr lang="en-US"/>
          </a:p>
        </p:txBody>
      </p:sp>
      <p:sp>
        <p:nvSpPr>
          <p:cNvPr id="9" name="Text 5"/>
          <p:cNvSpPr/>
          <p:nvPr/>
        </p:nvSpPr>
        <p:spPr>
          <a:xfrm>
            <a:off x="11001376" y="340161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Outlier - Hàng xa xỉ</a:t>
            </a:r>
            <a:endParaRPr lang="en-US" sz="2200" dirty="0"/>
          </a:p>
        </p:txBody>
      </p:sp>
      <p:sp>
        <p:nvSpPr>
          <p:cNvPr id="10" name="Text 6"/>
          <p:cNvSpPr/>
          <p:nvPr/>
        </p:nvSpPr>
        <p:spPr>
          <a:xfrm>
            <a:off x="10914926" y="3805594"/>
            <a:ext cx="2664391" cy="1088708"/>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Những sản phẩm nằm tách biệt xa, có thể là món hàng giá cực kỳ xa xỉ nhưng bán chậm</a:t>
            </a:r>
            <a:endParaRPr lang="en-US" sz="1750" dirty="0"/>
          </a:p>
        </p:txBody>
      </p:sp>
      <p:sp>
        <p:nvSpPr>
          <p:cNvPr id="11" name="Shape 7"/>
          <p:cNvSpPr/>
          <p:nvPr/>
        </p:nvSpPr>
        <p:spPr>
          <a:xfrm>
            <a:off x="10706582" y="5741311"/>
            <a:ext cx="3130029" cy="1985963"/>
          </a:xfrm>
          <a:prstGeom prst="roundRect">
            <a:avLst>
              <a:gd name="adj" fmla="val 1966"/>
            </a:avLst>
          </a:prstGeom>
          <a:solidFill>
            <a:srgbClr val="EFECE6"/>
          </a:solidFill>
          <a:ln w="30480">
            <a:solidFill>
              <a:srgbClr val="CBC5B8"/>
            </a:solidFill>
            <a:prstDash val="solid"/>
          </a:ln>
        </p:spPr>
        <p:txBody>
          <a:bodyPr/>
          <a:lstStyle/>
          <a:p>
            <a:endParaRPr lang="en-US"/>
          </a:p>
        </p:txBody>
      </p:sp>
      <p:sp>
        <p:nvSpPr>
          <p:cNvPr id="12" name="Text 8"/>
          <p:cNvSpPr/>
          <p:nvPr/>
        </p:nvSpPr>
        <p:spPr>
          <a:xfrm>
            <a:off x="10831692" y="5998606"/>
            <a:ext cx="2875836"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Outlier - Hàng bùng nổ</a:t>
            </a:r>
            <a:endParaRPr lang="en-US" sz="2200" dirty="0"/>
          </a:p>
        </p:txBody>
      </p:sp>
      <p:sp>
        <p:nvSpPr>
          <p:cNvPr id="13" name="Text 9"/>
          <p:cNvSpPr/>
          <p:nvPr/>
        </p:nvSpPr>
        <p:spPr>
          <a:xfrm>
            <a:off x="10914926" y="6489025"/>
            <a:ext cx="266438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Hàng giá siêu rẻ mà lượt mua bùng nổ, tạo thành điểm nổi bật trên bản đồ</a:t>
            </a:r>
            <a:endParaRPr lang="en-US" sz="1750" dirty="0"/>
          </a:p>
        </p:txBody>
      </p:sp>
      <p:sp>
        <p:nvSpPr>
          <p:cNvPr id="14" name="Text 10"/>
          <p:cNvSpPr/>
          <p:nvPr/>
        </p:nvSpPr>
        <p:spPr>
          <a:xfrm>
            <a:off x="1320522" y="7714265"/>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Bản đồ này là tiền đề hoàn hảo để chạy K-Means phân khúc ở bước sau.</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E5DFD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0965" y="591860"/>
            <a:ext cx="5284351" cy="7045881"/>
          </a:xfrm>
          <a:prstGeom prst="rect">
            <a:avLst/>
          </a:prstGeom>
        </p:spPr>
      </p:pic>
      <p:sp>
        <p:nvSpPr>
          <p:cNvPr id="4" name="Text 1"/>
          <p:cNvSpPr/>
          <p:nvPr/>
        </p:nvSpPr>
        <p:spPr>
          <a:xfrm>
            <a:off x="6193393" y="591979"/>
            <a:ext cx="5050393" cy="631269"/>
          </a:xfrm>
          <a:prstGeom prst="rect">
            <a:avLst/>
          </a:prstGeom>
          <a:noFill/>
          <a:ln/>
        </p:spPr>
        <p:txBody>
          <a:bodyPr wrap="none" lIns="0" tIns="0" rIns="0" bIns="0" rtlCol="0" anchor="t"/>
          <a:lstStyle/>
          <a:p>
            <a:pPr marL="0" indent="0" algn="l">
              <a:lnSpc>
                <a:spcPts val="4950"/>
              </a:lnSpc>
              <a:buNone/>
            </a:pPr>
            <a:r>
              <a:rPr lang="en-US" sz="3950" b="1" dirty="0">
                <a:solidFill>
                  <a:srgbClr val="282824"/>
                </a:solidFill>
                <a:latin typeface="Lato Bold" pitchFamily="34" charset="0"/>
                <a:ea typeface="Lato Bold" pitchFamily="34" charset="-122"/>
                <a:cs typeface="Lato Bold" pitchFamily="34" charset="-120"/>
              </a:rPr>
              <a:t>Tại sao lại </a:t>
            </a:r>
            <a:r>
              <a:rPr lang="en-US" sz="3950" b="1" dirty="0" err="1">
                <a:solidFill>
                  <a:srgbClr val="282824"/>
                </a:solidFill>
                <a:latin typeface="Lato Bold" pitchFamily="34" charset="0"/>
                <a:ea typeface="Lato Bold" pitchFamily="34" charset="-122"/>
                <a:cs typeface="Lato Bold" pitchFamily="34" charset="-120"/>
              </a:rPr>
              <a:t>cần</a:t>
            </a:r>
            <a:r>
              <a:rPr lang="en-US" sz="3950" b="1" dirty="0">
                <a:solidFill>
                  <a:srgbClr val="282824"/>
                </a:solidFill>
                <a:latin typeface="Lato Bold" pitchFamily="34" charset="0"/>
                <a:ea typeface="Lato Bold" pitchFamily="34" charset="-122"/>
                <a:cs typeface="Lato Bold" pitchFamily="34" charset="-120"/>
              </a:rPr>
              <a:t> CA?</a:t>
            </a:r>
            <a:endParaRPr lang="en-US" sz="3950" dirty="0"/>
          </a:p>
        </p:txBody>
      </p:sp>
      <p:pic>
        <p:nvPicPr>
          <p:cNvPr id="5" name="Image 1" descr="preencoded.png"/>
          <p:cNvPicPr>
            <a:picLocks noChangeAspect="1"/>
          </p:cNvPicPr>
          <p:nvPr/>
        </p:nvPicPr>
        <p:blipFill>
          <a:blip r:embed="rId4"/>
          <a:stretch>
            <a:fillRect/>
          </a:stretch>
        </p:blipFill>
        <p:spPr>
          <a:xfrm>
            <a:off x="6193393" y="1493044"/>
            <a:ext cx="1010007" cy="1438394"/>
          </a:xfrm>
          <a:prstGeom prst="rect">
            <a:avLst/>
          </a:prstGeom>
        </p:spPr>
      </p:pic>
      <p:sp>
        <p:nvSpPr>
          <p:cNvPr id="6" name="Text 2"/>
          <p:cNvSpPr/>
          <p:nvPr/>
        </p:nvSpPr>
        <p:spPr>
          <a:xfrm>
            <a:off x="7383304" y="1694974"/>
            <a:ext cx="2525197" cy="315635"/>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Dữ liệu Phân loại</a:t>
            </a:r>
            <a:endParaRPr lang="en-US" sz="1950" dirty="0"/>
          </a:p>
        </p:txBody>
      </p:sp>
      <p:sp>
        <p:nvSpPr>
          <p:cNvPr id="7" name="Text 3"/>
          <p:cNvSpPr/>
          <p:nvPr/>
        </p:nvSpPr>
        <p:spPr>
          <a:xfrm>
            <a:off x="7383304" y="2118479"/>
            <a:ext cx="6540103" cy="611029"/>
          </a:xfrm>
          <a:prstGeom prst="rect">
            <a:avLst/>
          </a:prstGeom>
          <a:noFill/>
          <a:ln/>
        </p:spPr>
        <p:txBody>
          <a:bodyPr wrap="square" lIns="0" tIns="0" rIns="0" bIns="0" rtlCol="0" anchor="t"/>
          <a:lstStyle/>
          <a:p>
            <a:pPr marL="0" indent="0" algn="l">
              <a:lnSpc>
                <a:spcPts val="2400"/>
              </a:lnSpc>
              <a:buNone/>
            </a:pPr>
            <a:r>
              <a:rPr lang="en-US" sz="1550" dirty="0">
                <a:solidFill>
                  <a:srgbClr val="4A4A45"/>
                </a:solidFill>
                <a:latin typeface="Lato" pitchFamily="34" charset="0"/>
                <a:ea typeface="Lato" pitchFamily="34" charset="-122"/>
                <a:cs typeface="Lato" pitchFamily="34" charset="-120"/>
              </a:rPr>
              <a:t>brand và shop_location là dữ liệu chữ, không thể dùng số học thông thường</a:t>
            </a:r>
            <a:endParaRPr lang="en-US" sz="1550" dirty="0"/>
          </a:p>
        </p:txBody>
      </p:sp>
      <p:pic>
        <p:nvPicPr>
          <p:cNvPr id="8" name="Image 2" descr="preencoded.png"/>
          <p:cNvPicPr>
            <a:picLocks noChangeAspect="1"/>
          </p:cNvPicPr>
          <p:nvPr/>
        </p:nvPicPr>
        <p:blipFill>
          <a:blip r:embed="rId5"/>
          <a:stretch>
            <a:fillRect/>
          </a:stretch>
        </p:blipFill>
        <p:spPr>
          <a:xfrm>
            <a:off x="6193393" y="2931438"/>
            <a:ext cx="1010007" cy="1438394"/>
          </a:xfrm>
          <a:prstGeom prst="rect">
            <a:avLst/>
          </a:prstGeom>
        </p:spPr>
      </p:pic>
      <p:sp>
        <p:nvSpPr>
          <p:cNvPr id="9" name="Text 4"/>
          <p:cNvSpPr/>
          <p:nvPr/>
        </p:nvSpPr>
        <p:spPr>
          <a:xfrm>
            <a:off x="7383304" y="3133368"/>
            <a:ext cx="2525197" cy="315635"/>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PCA Vô dụng</a:t>
            </a:r>
            <a:endParaRPr lang="en-US" sz="1950" dirty="0"/>
          </a:p>
        </p:txBody>
      </p:sp>
      <p:sp>
        <p:nvSpPr>
          <p:cNvPr id="10" name="Text 5"/>
          <p:cNvSpPr/>
          <p:nvPr/>
        </p:nvSpPr>
        <p:spPr>
          <a:xfrm>
            <a:off x="7383304" y="3556873"/>
            <a:ext cx="6540103" cy="611029"/>
          </a:xfrm>
          <a:prstGeom prst="rect">
            <a:avLst/>
          </a:prstGeom>
          <a:noFill/>
          <a:ln/>
        </p:spPr>
        <p:txBody>
          <a:bodyPr wrap="square" lIns="0" tIns="0" rIns="0" bIns="0" rtlCol="0" anchor="t"/>
          <a:lstStyle/>
          <a:p>
            <a:pPr marL="0" indent="0" algn="l">
              <a:lnSpc>
                <a:spcPts val="2400"/>
              </a:lnSpc>
              <a:buNone/>
            </a:pPr>
            <a:r>
              <a:rPr lang="en-US" sz="1550" dirty="0">
                <a:solidFill>
                  <a:srgbClr val="4A4A45"/>
                </a:solidFill>
                <a:latin typeface="Lato" pitchFamily="34" charset="0"/>
                <a:ea typeface="Lato" pitchFamily="34" charset="-122"/>
                <a:cs typeface="Lato" pitchFamily="34" charset="-120"/>
              </a:rPr>
              <a:t>PCA rất tốt với các con số, nhưng vô dụng với dữ liệu chữ như Tên Hãng và Tên Tỉnh Thành</a:t>
            </a:r>
            <a:endParaRPr lang="en-US" sz="1550" dirty="0"/>
          </a:p>
        </p:txBody>
      </p:sp>
      <p:pic>
        <p:nvPicPr>
          <p:cNvPr id="11" name="Image 3" descr="preencoded.png"/>
          <p:cNvPicPr>
            <a:picLocks noChangeAspect="1"/>
          </p:cNvPicPr>
          <p:nvPr/>
        </p:nvPicPr>
        <p:blipFill>
          <a:blip r:embed="rId6"/>
          <a:stretch>
            <a:fillRect/>
          </a:stretch>
        </p:blipFill>
        <p:spPr>
          <a:xfrm>
            <a:off x="6193393" y="4369832"/>
            <a:ext cx="1010007" cy="1438394"/>
          </a:xfrm>
          <a:prstGeom prst="rect">
            <a:avLst/>
          </a:prstGeom>
        </p:spPr>
      </p:pic>
      <p:sp>
        <p:nvSpPr>
          <p:cNvPr id="12" name="Text 6"/>
          <p:cNvSpPr/>
          <p:nvPr/>
        </p:nvSpPr>
        <p:spPr>
          <a:xfrm>
            <a:off x="7383304" y="4571762"/>
            <a:ext cx="2525197" cy="315635"/>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CA Giải quyết</a:t>
            </a:r>
            <a:endParaRPr lang="en-US" sz="1950" dirty="0"/>
          </a:p>
        </p:txBody>
      </p:sp>
      <p:sp>
        <p:nvSpPr>
          <p:cNvPr id="13" name="Text 7"/>
          <p:cNvSpPr/>
          <p:nvPr/>
        </p:nvSpPr>
        <p:spPr>
          <a:xfrm>
            <a:off x="7383304" y="4995267"/>
            <a:ext cx="6540103" cy="611029"/>
          </a:xfrm>
          <a:prstGeom prst="rect">
            <a:avLst/>
          </a:prstGeom>
          <a:noFill/>
          <a:ln/>
        </p:spPr>
        <p:txBody>
          <a:bodyPr wrap="square" lIns="0" tIns="0" rIns="0" bIns="0" rtlCol="0" anchor="t"/>
          <a:lstStyle/>
          <a:p>
            <a:pPr marL="0" indent="0" algn="l">
              <a:lnSpc>
                <a:spcPts val="2400"/>
              </a:lnSpc>
              <a:buNone/>
            </a:pPr>
            <a:r>
              <a:rPr lang="en-US" sz="1550" dirty="0">
                <a:solidFill>
                  <a:srgbClr val="4A4A45"/>
                </a:solidFill>
                <a:latin typeface="Lato" pitchFamily="34" charset="0"/>
                <a:ea typeface="Lato" pitchFamily="34" charset="-122"/>
                <a:cs typeface="Lato" pitchFamily="34" charset="-120"/>
              </a:rPr>
              <a:t>Dùng khoảng cách Chi-square để đo lường mức độ tương quan giữa các nhãn</a:t>
            </a:r>
            <a:endParaRPr lang="en-US" sz="1550" dirty="0"/>
          </a:p>
        </p:txBody>
      </p:sp>
      <p:sp>
        <p:nvSpPr>
          <p:cNvPr id="14" name="Text 8"/>
          <p:cNvSpPr/>
          <p:nvPr/>
        </p:nvSpPr>
        <p:spPr>
          <a:xfrm>
            <a:off x="6496407" y="6213038"/>
            <a:ext cx="7427000" cy="1222058"/>
          </a:xfrm>
          <a:prstGeom prst="rect">
            <a:avLst/>
          </a:prstGeom>
          <a:noFill/>
          <a:ln/>
        </p:spPr>
        <p:txBody>
          <a:bodyPr wrap="square" lIns="0" tIns="0" rIns="0" bIns="0" rtlCol="0" anchor="t"/>
          <a:lstStyle/>
          <a:p>
            <a:pPr marL="0" indent="0" algn="l">
              <a:lnSpc>
                <a:spcPts val="2400"/>
              </a:lnSpc>
              <a:buNone/>
            </a:pPr>
            <a:r>
              <a:rPr lang="en-US" sz="1550" dirty="0">
                <a:solidFill>
                  <a:srgbClr val="4A4A45"/>
                </a:solidFill>
                <a:latin typeface="Lato" pitchFamily="34" charset="0"/>
                <a:ea typeface="Lato" pitchFamily="34" charset="-122"/>
                <a:cs typeface="Lato" pitchFamily="34" charset="-120"/>
              </a:rPr>
              <a:t>Để trả lời câu hỏi </a:t>
            </a:r>
            <a:r>
              <a:rPr lang="en-US" sz="1550" i="1" dirty="0">
                <a:solidFill>
                  <a:srgbClr val="4A4A45"/>
                </a:solidFill>
                <a:latin typeface="Lato" pitchFamily="34" charset="0"/>
                <a:ea typeface="Lato" pitchFamily="34" charset="-122"/>
                <a:cs typeface="Lato" pitchFamily="34" charset="-120"/>
              </a:rPr>
              <a:t>"Hãng nào hay mở shop ở đâu?"</a:t>
            </a:r>
            <a:r>
              <a:rPr lang="en-US" sz="1550" dirty="0">
                <a:solidFill>
                  <a:srgbClr val="4A4A45"/>
                </a:solidFill>
                <a:latin typeface="Lato" pitchFamily="34" charset="0"/>
                <a:ea typeface="Lato" pitchFamily="34" charset="-122"/>
                <a:cs typeface="Lato" pitchFamily="34" charset="-120"/>
              </a:rPr>
              <a:t>, chúng ta sử </a:t>
            </a:r>
            <a:r>
              <a:rPr lang="en-US" sz="1550">
                <a:solidFill>
                  <a:srgbClr val="4A4A45"/>
                </a:solidFill>
                <a:latin typeface="Lato" pitchFamily="34" charset="0"/>
                <a:ea typeface="Lato" pitchFamily="34" charset="-122"/>
                <a:cs typeface="Lato" pitchFamily="34" charset="-120"/>
              </a:rPr>
              <a:t>dụng </a:t>
            </a:r>
            <a:r>
              <a:rPr lang="en-US" sz="1550" b="1">
                <a:solidFill>
                  <a:srgbClr val="4A4A45"/>
                </a:solidFill>
                <a:latin typeface="Lato" pitchFamily="34" charset="0"/>
                <a:ea typeface="Lato" pitchFamily="34" charset="-122"/>
                <a:cs typeface="Lato" pitchFamily="34" charset="-120"/>
              </a:rPr>
              <a:t>Correspondence </a:t>
            </a:r>
            <a:r>
              <a:rPr lang="en-US" sz="1550" b="1" dirty="0">
                <a:solidFill>
                  <a:srgbClr val="4A4A45"/>
                </a:solidFill>
                <a:latin typeface="Lato" pitchFamily="34" charset="0"/>
                <a:ea typeface="Lato" pitchFamily="34" charset="-122"/>
                <a:cs typeface="Lato" pitchFamily="34" charset="-120"/>
              </a:rPr>
              <a:t>Analysis (CA)</a:t>
            </a:r>
            <a:r>
              <a:rPr lang="en-US" sz="1550" dirty="0">
                <a:solidFill>
                  <a:srgbClr val="4A4A45"/>
                </a:solidFill>
                <a:latin typeface="Lato" pitchFamily="34" charset="0"/>
                <a:ea typeface="Lato" pitchFamily="34" charset="-122"/>
                <a:cs typeface="Lato" pitchFamily="34" charset="-120"/>
              </a:rPr>
              <a:t>. Thuật toán này không dùng khoảng cách hình học thông thường mà dùng khoảng cách Chi-bình phương để tìm ra nét đặc thù của từng nhãn.</a:t>
            </a:r>
            <a:endParaRPr lang="en-US" sz="1550" dirty="0"/>
          </a:p>
        </p:txBody>
      </p:sp>
      <p:sp>
        <p:nvSpPr>
          <p:cNvPr id="15" name="Shape 9"/>
          <p:cNvSpPr/>
          <p:nvPr/>
        </p:nvSpPr>
        <p:spPr>
          <a:xfrm>
            <a:off x="6193393" y="6010632"/>
            <a:ext cx="22860" cy="1626870"/>
          </a:xfrm>
          <a:prstGeom prst="rect">
            <a:avLst/>
          </a:prstGeom>
          <a:solidFill>
            <a:srgbClr val="282824"/>
          </a:solid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492707" y="293585"/>
            <a:ext cx="6534507"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Bản đồ Tương </a:t>
            </a:r>
            <a:r>
              <a:rPr lang="en-US" sz="4450" b="1">
                <a:solidFill>
                  <a:srgbClr val="282824"/>
                </a:solidFill>
                <a:latin typeface="Lato Bold" pitchFamily="34" charset="0"/>
                <a:ea typeface="Lato Bold" pitchFamily="34" charset="-122"/>
                <a:cs typeface="Lato Bold" pitchFamily="34" charset="-120"/>
              </a:rPr>
              <a:t>quan CA</a:t>
            </a:r>
            <a:endParaRPr lang="en-US" sz="4450" dirty="0"/>
          </a:p>
        </p:txBody>
      </p:sp>
      <p:sp>
        <p:nvSpPr>
          <p:cNvPr id="5" name="Text 1"/>
          <p:cNvSpPr/>
          <p:nvPr/>
        </p:nvSpPr>
        <p:spPr>
          <a:xfrm>
            <a:off x="492707" y="100236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Thương hiệu &amp; Vị trí</a:t>
            </a:r>
            <a:endParaRPr lang="en-US" sz="2200" dirty="0"/>
          </a:p>
        </p:txBody>
      </p:sp>
      <p:sp>
        <p:nvSpPr>
          <p:cNvPr id="6" name="Text 2"/>
          <p:cNvSpPr/>
          <p:nvPr/>
        </p:nvSpPr>
        <p:spPr>
          <a:xfrm>
            <a:off x="492707" y="1923670"/>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282824"/>
                </a:solidFill>
                <a:latin typeface="Lato Bold" pitchFamily="34" charset="0"/>
                <a:ea typeface="Lato Bold" pitchFamily="34" charset="-122"/>
                <a:cs typeface="Lato Bold" pitchFamily="34" charset="-120"/>
              </a:rPr>
              <a:t>Vùng Lõi (Gần 0,0)</a:t>
            </a:r>
            <a:endParaRPr lang="en-US" sz="2650" dirty="0"/>
          </a:p>
        </p:txBody>
      </p:sp>
      <p:sp>
        <p:nvSpPr>
          <p:cNvPr id="7" name="Text 3"/>
          <p:cNvSpPr/>
          <p:nvPr/>
        </p:nvSpPr>
        <p:spPr>
          <a:xfrm>
            <a:off x="492707" y="2575775"/>
            <a:ext cx="350150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Các điểm nằm ở đây mang tính </a:t>
            </a:r>
            <a:r>
              <a:rPr lang="en-US" sz="1750" b="1" dirty="0">
                <a:solidFill>
                  <a:srgbClr val="4A4A45"/>
                </a:solidFill>
                <a:latin typeface="Lato" pitchFamily="34" charset="0"/>
                <a:ea typeface="Lato" pitchFamily="34" charset="-122"/>
                <a:cs typeface="Lato" pitchFamily="34" charset="-120"/>
              </a:rPr>
              <a:t>đại trà</a:t>
            </a:r>
            <a:r>
              <a:rPr lang="en-US" sz="1750" dirty="0">
                <a:solidFill>
                  <a:srgbClr val="4A4A45"/>
                </a:solidFill>
                <a:latin typeface="Lato" pitchFamily="34" charset="0"/>
                <a:ea typeface="Lato" pitchFamily="34" charset="-122"/>
                <a:cs typeface="Lato" pitchFamily="34" charset="-120"/>
              </a:rPr>
              <a:t>:</a:t>
            </a:r>
            <a:endParaRPr lang="en-US" sz="1750" dirty="0"/>
          </a:p>
        </p:txBody>
      </p:sp>
      <p:sp>
        <p:nvSpPr>
          <p:cNvPr id="8" name="Text 4"/>
          <p:cNvSpPr/>
          <p:nvPr/>
        </p:nvSpPr>
        <p:spPr>
          <a:xfrm>
            <a:off x="492707" y="3505653"/>
            <a:ext cx="3501509" cy="20523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TP.HCM, Hà Nội</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Samsung, Apple</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Hãng lớn thì đâu cũng bán</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Thành phố lớn thì hãng nào cũng có</a:t>
            </a:r>
            <a:endParaRPr lang="en-US" sz="1750" dirty="0"/>
          </a:p>
        </p:txBody>
      </p:sp>
      <p:sp>
        <p:nvSpPr>
          <p:cNvPr id="9" name="Text 5"/>
          <p:cNvSpPr/>
          <p:nvPr/>
        </p:nvSpPr>
        <p:spPr>
          <a:xfrm>
            <a:off x="2369599" y="5163406"/>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282824"/>
                </a:solidFill>
                <a:latin typeface="Lato Bold" pitchFamily="34" charset="0"/>
                <a:ea typeface="Lato Bold" pitchFamily="34" charset="-122"/>
                <a:cs typeface="Lato Bold" pitchFamily="34" charset="-120"/>
              </a:rPr>
              <a:t>Vùng Rìa (Xa 0,0)</a:t>
            </a:r>
            <a:endParaRPr lang="en-US" sz="2650" dirty="0"/>
          </a:p>
        </p:txBody>
      </p:sp>
      <p:sp>
        <p:nvSpPr>
          <p:cNvPr id="10" name="Text 6"/>
          <p:cNvSpPr/>
          <p:nvPr/>
        </p:nvSpPr>
        <p:spPr>
          <a:xfrm>
            <a:off x="2369599" y="5815511"/>
            <a:ext cx="35015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Thể hiện sự </a:t>
            </a:r>
            <a:r>
              <a:rPr lang="en-US" sz="1750" b="1" dirty="0">
                <a:solidFill>
                  <a:srgbClr val="4A4A45"/>
                </a:solidFill>
                <a:latin typeface="Lato" pitchFamily="34" charset="0"/>
                <a:ea typeface="Lato" pitchFamily="34" charset="-122"/>
                <a:cs typeface="Lato" pitchFamily="34" charset="-120"/>
              </a:rPr>
              <a:t>dị biệt</a:t>
            </a:r>
            <a:r>
              <a:rPr lang="en-US" sz="1750" dirty="0">
                <a:solidFill>
                  <a:srgbClr val="4A4A45"/>
                </a:solidFill>
                <a:latin typeface="Lato" pitchFamily="34" charset="0"/>
                <a:ea typeface="Lato" pitchFamily="34" charset="-122"/>
                <a:cs typeface="Lato" pitchFamily="34" charset="-120"/>
              </a:rPr>
              <a:t>:</a:t>
            </a:r>
            <a:endParaRPr lang="en-US" sz="1750" dirty="0"/>
          </a:p>
        </p:txBody>
      </p:sp>
      <p:sp>
        <p:nvSpPr>
          <p:cNvPr id="11" name="Text 7"/>
          <p:cNvSpPr/>
          <p:nvPr/>
        </p:nvSpPr>
        <p:spPr>
          <a:xfrm>
            <a:off x="2369599" y="6382487"/>
            <a:ext cx="35015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Các hãng trôi dạt ra xa tâm</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Không phủ sóng toàn quốc</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Tập trung thị trường ngách</a:t>
            </a:r>
            <a:endParaRPr lang="en-US" sz="1750" dirty="0"/>
          </a:p>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Phân phối khu vực tỉnh lẻ</a:t>
            </a:r>
            <a:endParaRPr lang="en-US" sz="1750" dirty="0"/>
          </a:p>
        </p:txBody>
      </p:sp>
      <p:pic>
        <p:nvPicPr>
          <p:cNvPr id="12" name="Picture 11">
            <a:extLst>
              <a:ext uri="{FF2B5EF4-FFF2-40B4-BE49-F238E27FC236}">
                <a16:creationId xmlns:a16="http://schemas.microsoft.com/office/drawing/2014/main" id="{377DB18A-AA91-FAB4-0650-469F60D3BDBD}"/>
              </a:ext>
            </a:extLst>
          </p:cNvPr>
          <p:cNvPicPr>
            <a:picLocks noChangeAspect="1"/>
          </p:cNvPicPr>
          <p:nvPr/>
        </p:nvPicPr>
        <p:blipFill>
          <a:blip r:embed="rId4"/>
          <a:stretch>
            <a:fillRect/>
          </a:stretch>
        </p:blipFill>
        <p:spPr>
          <a:xfrm>
            <a:off x="5771929" y="1666486"/>
            <a:ext cx="8341123" cy="55607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82923"/>
            <a:ext cx="6121956"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Tiền đề cho phân tích AI</a:t>
            </a:r>
            <a:endParaRPr lang="en-US" sz="4450" dirty="0"/>
          </a:p>
        </p:txBody>
      </p:sp>
      <p:sp>
        <p:nvSpPr>
          <p:cNvPr id="3" name="Text 1"/>
          <p:cNvSpPr/>
          <p:nvPr/>
        </p:nvSpPr>
        <p:spPr>
          <a:xfrm>
            <a:off x="793790" y="2282428"/>
            <a:ext cx="3922752"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Machine Learning với K-Means</a:t>
            </a:r>
            <a:endParaRPr lang="en-US" sz="2200" dirty="0"/>
          </a:p>
        </p:txBody>
      </p:sp>
      <p:sp>
        <p:nvSpPr>
          <p:cNvPr id="4" name="Text 2"/>
          <p:cNvSpPr/>
          <p:nvPr/>
        </p:nvSpPr>
        <p:spPr>
          <a:xfrm>
            <a:off x="793790" y="2976920"/>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01</a:t>
            </a:r>
            <a:endParaRPr lang="en-US" sz="1750" dirty="0"/>
          </a:p>
        </p:txBody>
      </p:sp>
      <p:sp>
        <p:nvSpPr>
          <p:cNvPr id="5" name="Shape 3"/>
          <p:cNvSpPr/>
          <p:nvPr/>
        </p:nvSpPr>
        <p:spPr>
          <a:xfrm>
            <a:off x="793790" y="3331964"/>
            <a:ext cx="4196358" cy="30480"/>
          </a:xfrm>
          <a:prstGeom prst="rect">
            <a:avLst/>
          </a:prstGeom>
          <a:solidFill>
            <a:srgbClr val="282824"/>
          </a:solidFill>
          <a:ln/>
        </p:spPr>
        <p:txBody>
          <a:bodyPr/>
          <a:lstStyle/>
          <a:p>
            <a:endParaRPr lang="en-US"/>
          </a:p>
        </p:txBody>
      </p:sp>
      <p:sp>
        <p:nvSpPr>
          <p:cNvPr id="6" name="Text 4"/>
          <p:cNvSpPr/>
          <p:nvPr/>
        </p:nvSpPr>
        <p:spPr>
          <a:xfrm>
            <a:off x="793790" y="35062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Dữ liệu Nhiễu</a:t>
            </a:r>
            <a:endParaRPr lang="en-US" sz="2200" dirty="0"/>
          </a:p>
        </p:txBody>
      </p:sp>
      <p:sp>
        <p:nvSpPr>
          <p:cNvPr id="7" name="Text 5"/>
          <p:cNvSpPr/>
          <p:nvPr/>
        </p:nvSpPr>
        <p:spPr>
          <a:xfrm>
            <a:off x="793790" y="3996690"/>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Khối dữ liệu khổng lồ và phức tạp với nhiều cột số và chữ</a:t>
            </a:r>
            <a:endParaRPr lang="en-US" sz="1750" dirty="0"/>
          </a:p>
        </p:txBody>
      </p:sp>
      <p:sp>
        <p:nvSpPr>
          <p:cNvPr id="8" name="Text 6"/>
          <p:cNvSpPr/>
          <p:nvPr/>
        </p:nvSpPr>
        <p:spPr>
          <a:xfrm>
            <a:off x="5216962" y="2976920"/>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02</a:t>
            </a:r>
            <a:endParaRPr lang="en-US" sz="1750" dirty="0"/>
          </a:p>
        </p:txBody>
      </p:sp>
      <p:sp>
        <p:nvSpPr>
          <p:cNvPr id="9" name="Shape 7"/>
          <p:cNvSpPr/>
          <p:nvPr/>
        </p:nvSpPr>
        <p:spPr>
          <a:xfrm>
            <a:off x="5216962" y="3331964"/>
            <a:ext cx="4196358" cy="30480"/>
          </a:xfrm>
          <a:prstGeom prst="rect">
            <a:avLst/>
          </a:prstGeom>
          <a:solidFill>
            <a:srgbClr val="282824"/>
          </a:solidFill>
          <a:ln/>
        </p:spPr>
        <p:txBody>
          <a:bodyPr/>
          <a:lstStyle/>
          <a:p>
            <a:endParaRPr lang="en-US"/>
          </a:p>
        </p:txBody>
      </p:sp>
      <p:sp>
        <p:nvSpPr>
          <p:cNvPr id="10" name="Text 8"/>
          <p:cNvSpPr/>
          <p:nvPr/>
        </p:nvSpPr>
        <p:spPr>
          <a:xfrm>
            <a:off x="5216962" y="35062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PCA </a:t>
            </a:r>
            <a:r>
              <a:rPr lang="en-US" sz="2200" b="1">
                <a:solidFill>
                  <a:srgbClr val="4A4A45"/>
                </a:solidFill>
                <a:latin typeface="Lato Bold" pitchFamily="34" charset="0"/>
                <a:ea typeface="Lato Bold" pitchFamily="34" charset="-122"/>
                <a:cs typeface="Lato Bold" pitchFamily="34" charset="-120"/>
              </a:rPr>
              <a:t>&amp; CA</a:t>
            </a:r>
            <a:endParaRPr lang="en-US" sz="2200" dirty="0"/>
          </a:p>
        </p:txBody>
      </p:sp>
      <p:sp>
        <p:nvSpPr>
          <p:cNvPr id="11" name="Text 9"/>
          <p:cNvSpPr/>
          <p:nvPr/>
        </p:nvSpPr>
        <p:spPr>
          <a:xfrm>
            <a:off x="5216962" y="3996690"/>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Ép dữ liệu thành những bộ tọa độ số học gọn gàng, có tính đại diện cao nhất</a:t>
            </a:r>
            <a:endParaRPr lang="en-US" sz="1750" dirty="0"/>
          </a:p>
        </p:txBody>
      </p:sp>
      <p:sp>
        <p:nvSpPr>
          <p:cNvPr id="12" name="Text 10"/>
          <p:cNvSpPr/>
          <p:nvPr/>
        </p:nvSpPr>
        <p:spPr>
          <a:xfrm>
            <a:off x="9640133" y="2976920"/>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Light" pitchFamily="34" charset="0"/>
                <a:ea typeface="Lato Light" pitchFamily="34" charset="-122"/>
                <a:cs typeface="Lato Light" pitchFamily="34" charset="-120"/>
              </a:rPr>
              <a:t>03</a:t>
            </a:r>
            <a:endParaRPr lang="en-US" sz="1750" dirty="0"/>
          </a:p>
        </p:txBody>
      </p:sp>
      <p:sp>
        <p:nvSpPr>
          <p:cNvPr id="13" name="Shape 11"/>
          <p:cNvSpPr/>
          <p:nvPr/>
        </p:nvSpPr>
        <p:spPr>
          <a:xfrm>
            <a:off x="9640133" y="3331964"/>
            <a:ext cx="4196358" cy="30480"/>
          </a:xfrm>
          <a:prstGeom prst="rect">
            <a:avLst/>
          </a:prstGeom>
          <a:solidFill>
            <a:srgbClr val="282824"/>
          </a:solidFill>
          <a:ln/>
        </p:spPr>
        <p:txBody>
          <a:bodyPr/>
          <a:lstStyle/>
          <a:p>
            <a:endParaRPr lang="en-US"/>
          </a:p>
        </p:txBody>
      </p:sp>
      <p:sp>
        <p:nvSpPr>
          <p:cNvPr id="14" name="Text 12"/>
          <p:cNvSpPr/>
          <p:nvPr/>
        </p:nvSpPr>
        <p:spPr>
          <a:xfrm>
            <a:off x="9640133" y="35062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Tọa độ Sạch</a:t>
            </a:r>
            <a:endParaRPr lang="en-US" sz="2200" dirty="0"/>
          </a:p>
        </p:txBody>
      </p:sp>
      <p:sp>
        <p:nvSpPr>
          <p:cNvPr id="15" name="Text 13"/>
          <p:cNvSpPr/>
          <p:nvPr/>
        </p:nvSpPr>
        <p:spPr>
          <a:xfrm>
            <a:off x="9640133" y="3996690"/>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Đặc trưng thuần khiết, tối ưu và sẵn sàng cho K-Means</a:t>
            </a:r>
            <a:endParaRPr lang="en-US" sz="1750" dirty="0"/>
          </a:p>
        </p:txBody>
      </p:sp>
      <p:sp>
        <p:nvSpPr>
          <p:cNvPr id="16" name="Text 14"/>
          <p:cNvSpPr/>
          <p:nvPr/>
        </p:nvSpPr>
        <p:spPr>
          <a:xfrm>
            <a:off x="1133951" y="5402818"/>
            <a:ext cx="12702659" cy="1088708"/>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Qua 2 công cụ PCA </a:t>
            </a:r>
            <a:r>
              <a:rPr lang="en-US" sz="1750" dirty="0" err="1">
                <a:solidFill>
                  <a:srgbClr val="4A4A45"/>
                </a:solidFill>
                <a:latin typeface="Lato" pitchFamily="34" charset="0"/>
                <a:ea typeface="Lato" pitchFamily="34" charset="-122"/>
                <a:cs typeface="Lato" pitchFamily="34" charset="-120"/>
              </a:rPr>
              <a:t>và</a:t>
            </a:r>
            <a:r>
              <a:rPr lang="en-US" sz="1750" dirty="0">
                <a:solidFill>
                  <a:srgbClr val="4A4A45"/>
                </a:solidFill>
                <a:latin typeface="Lato" pitchFamily="34" charset="0"/>
                <a:ea typeface="Lato" pitchFamily="34" charset="-122"/>
                <a:cs typeface="Lato" pitchFamily="34" charset="-120"/>
              </a:rPr>
              <a:t> CA, chúng ta đã thành công 'ép' một khối dữ liệu khổng lồ và phức tạp thành những bộ tọa độ số học gọn gàng, có tính đại diện cao nhất (như được xuất ra trong các file CSV). Đến đây, dữ liệu đã hoàn toàn sạch sẽ, tối ưu và sẵn sàng để áp dụng thuật toán K-Means để gom cụm thị trường.</a:t>
            </a:r>
            <a:endParaRPr lang="en-US" sz="1750" dirty="0"/>
          </a:p>
        </p:txBody>
      </p:sp>
      <p:sp>
        <p:nvSpPr>
          <p:cNvPr id="17" name="Shape 15"/>
          <p:cNvSpPr/>
          <p:nvPr/>
        </p:nvSpPr>
        <p:spPr>
          <a:xfrm>
            <a:off x="793790" y="5147667"/>
            <a:ext cx="30480" cy="1599009"/>
          </a:xfrm>
          <a:prstGeom prst="rect">
            <a:avLst/>
          </a:prstGeom>
          <a:solidFill>
            <a:srgbClr val="282824"/>
          </a:solid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2451-85FF-F069-180A-4D5CBCB26A8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E583A9F7-0C51-1CD2-5DD6-45D55628EFAA}"/>
              </a:ext>
            </a:extLst>
          </p:cNvPr>
          <p:cNvSpPr/>
          <p:nvPr/>
        </p:nvSpPr>
        <p:spPr>
          <a:xfrm>
            <a:off x="148829" y="13788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3831081A-B489-886F-7155-6970C11A185A}"/>
              </a:ext>
            </a:extLst>
          </p:cNvPr>
          <p:cNvSpPr/>
          <p:nvPr/>
        </p:nvSpPr>
        <p:spPr>
          <a:xfrm>
            <a:off x="698127" y="3069910"/>
            <a:ext cx="4912529"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7DD198D5-0EE3-5780-3C1F-D292B9E8352E}"/>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Lựa chọn số cụm (k = ?)</a:t>
            </a:r>
            <a:endParaRPr lang="en-US" sz="2400" b="1" dirty="0"/>
          </a:p>
        </p:txBody>
      </p:sp>
      <p:sp>
        <p:nvSpPr>
          <p:cNvPr id="18" name="Text 3">
            <a:extLst>
              <a:ext uri="{FF2B5EF4-FFF2-40B4-BE49-F238E27FC236}">
                <a16:creationId xmlns:a16="http://schemas.microsoft.com/office/drawing/2014/main" id="{D309CAB2-BDEA-3575-00CD-C6B8873A3F11}"/>
              </a:ext>
            </a:extLst>
          </p:cNvPr>
          <p:cNvSpPr/>
          <p:nvPr/>
        </p:nvSpPr>
        <p:spPr>
          <a:xfrm>
            <a:off x="1074422" y="3653132"/>
            <a:ext cx="4188994" cy="2379677"/>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K = 2 : Chỉ phân cụm được 2 nhóm ( giá rẻ bán chạy - giá cao bán ế )</a:t>
            </a: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K = 3 : Mô hình phân cụm linh hoạt hơn ( Phân khúc Thấp – Trung Bình – Cao (flagship) </a:t>
            </a:r>
            <a:endParaRPr lang="vi-VN"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53287731-3137-4C4D-CEE5-DF52E5E099EA}"/>
              </a:ext>
            </a:extLst>
          </p:cNvPr>
          <p:cNvPicPr>
            <a:picLocks noChangeAspect="1"/>
          </p:cNvPicPr>
          <p:nvPr/>
        </p:nvPicPr>
        <p:blipFill>
          <a:blip r:embed="rId3"/>
          <a:stretch>
            <a:fillRect/>
          </a:stretch>
        </p:blipFill>
        <p:spPr>
          <a:xfrm>
            <a:off x="6992975" y="704862"/>
            <a:ext cx="7315215" cy="3657607"/>
          </a:xfrm>
          <a:prstGeom prst="rect">
            <a:avLst/>
          </a:prstGeom>
        </p:spPr>
      </p:pic>
      <p:pic>
        <p:nvPicPr>
          <p:cNvPr id="7" name="Picture 6">
            <a:extLst>
              <a:ext uri="{FF2B5EF4-FFF2-40B4-BE49-F238E27FC236}">
                <a16:creationId xmlns:a16="http://schemas.microsoft.com/office/drawing/2014/main" id="{9F22CC97-02E3-2A5E-A3C7-299E7B73E2C5}"/>
              </a:ext>
            </a:extLst>
          </p:cNvPr>
          <p:cNvPicPr>
            <a:picLocks noChangeAspect="1"/>
          </p:cNvPicPr>
          <p:nvPr/>
        </p:nvPicPr>
        <p:blipFill>
          <a:blip r:embed="rId4"/>
          <a:stretch>
            <a:fillRect/>
          </a:stretch>
        </p:blipFill>
        <p:spPr>
          <a:xfrm>
            <a:off x="6992974" y="4362469"/>
            <a:ext cx="7315215" cy="3657607"/>
          </a:xfrm>
          <a:prstGeom prst="rect">
            <a:avLst/>
          </a:prstGeom>
        </p:spPr>
      </p:pic>
    </p:spTree>
    <p:extLst>
      <p:ext uri="{BB962C8B-B14F-4D97-AF65-F5344CB8AC3E}">
        <p14:creationId xmlns:p14="http://schemas.microsoft.com/office/powerpoint/2010/main" val="109746079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D5584-9F5E-E269-F2FA-2A76288B3212}"/>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5726333-9F6F-038C-7D1F-2FDCC7C35F40}"/>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3.4 Gom cụm và huấn luyện </a:t>
            </a:r>
            <a:endParaRPr lang="en-US" sz="3550" b="1" dirty="0"/>
          </a:p>
        </p:txBody>
      </p:sp>
      <p:sp>
        <p:nvSpPr>
          <p:cNvPr id="16" name="Shape 1">
            <a:extLst>
              <a:ext uri="{FF2B5EF4-FFF2-40B4-BE49-F238E27FC236}">
                <a16:creationId xmlns:a16="http://schemas.microsoft.com/office/drawing/2014/main" id="{4AB80645-9335-93CF-A30A-2C86514B49AB}"/>
              </a:ext>
            </a:extLst>
          </p:cNvPr>
          <p:cNvSpPr/>
          <p:nvPr/>
        </p:nvSpPr>
        <p:spPr>
          <a:xfrm>
            <a:off x="148829" y="2902270"/>
            <a:ext cx="6617073" cy="3071826"/>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05CB83F0-49F8-6517-9033-70F8F5F7CE58}"/>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19F39FD7-E028-6A87-C3A4-8788C22D56F3}"/>
              </a:ext>
            </a:extLst>
          </p:cNvPr>
          <p:cNvSpPr/>
          <p:nvPr/>
        </p:nvSpPr>
        <p:spPr>
          <a:xfrm>
            <a:off x="302161" y="3056504"/>
            <a:ext cx="6120941" cy="3552640"/>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Sau khi xác định được rạnh giới các cụm, nhóm sử dụng phép toán “Aggregated Mean “ – tính trung bình gộp.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Biến các con số tọa độ trên hình  Con số kinh doanh biết nói để có cái nhìn tổng quan về marketing</a:t>
            </a:r>
            <a:endParaRPr lang="en-US"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0D461480-C69D-7E8E-FBA9-60A8FB3DC2C5}"/>
              </a:ext>
            </a:extLst>
          </p:cNvPr>
          <p:cNvPicPr>
            <a:picLocks noChangeAspect="1"/>
          </p:cNvPicPr>
          <p:nvPr/>
        </p:nvPicPr>
        <p:blipFill>
          <a:blip r:embed="rId3"/>
          <a:srcRect l="6130"/>
          <a:stretch>
            <a:fillRect/>
          </a:stretch>
        </p:blipFill>
        <p:spPr>
          <a:xfrm>
            <a:off x="7192537" y="2408656"/>
            <a:ext cx="7805853" cy="5820944"/>
          </a:xfrm>
          <a:prstGeom prst="rect">
            <a:avLst/>
          </a:prstGeom>
        </p:spPr>
      </p:pic>
      <p:pic>
        <p:nvPicPr>
          <p:cNvPr id="2" name="Picture 1">
            <a:extLst>
              <a:ext uri="{FF2B5EF4-FFF2-40B4-BE49-F238E27FC236}">
                <a16:creationId xmlns:a16="http://schemas.microsoft.com/office/drawing/2014/main" id="{17AFEC3F-C573-FA86-3842-8B19AEA869CE}"/>
              </a:ext>
            </a:extLst>
          </p:cNvPr>
          <p:cNvPicPr>
            <a:picLocks noChangeAspect="1"/>
          </p:cNvPicPr>
          <p:nvPr/>
        </p:nvPicPr>
        <p:blipFill>
          <a:blip r:embed="rId4"/>
          <a:stretch>
            <a:fillRect/>
          </a:stretch>
        </p:blipFill>
        <p:spPr>
          <a:xfrm>
            <a:off x="2194825" y="719834"/>
            <a:ext cx="9568789" cy="1801244"/>
          </a:xfrm>
          <a:prstGeom prst="rect">
            <a:avLst/>
          </a:prstGeom>
        </p:spPr>
      </p:pic>
    </p:spTree>
    <p:extLst>
      <p:ext uri="{BB962C8B-B14F-4D97-AF65-F5344CB8AC3E}">
        <p14:creationId xmlns:p14="http://schemas.microsoft.com/office/powerpoint/2010/main" val="94563137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16D9C-25C5-DAC3-E5F6-742CF68FEC61}"/>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A9481B6-D198-305E-7350-4EA2FD20E1C0}"/>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3.4 Gom cụm và huấn luyện </a:t>
            </a:r>
            <a:endParaRPr lang="en-US" sz="3550" b="1" dirty="0"/>
          </a:p>
        </p:txBody>
      </p:sp>
      <p:sp>
        <p:nvSpPr>
          <p:cNvPr id="16" name="Shape 1">
            <a:extLst>
              <a:ext uri="{FF2B5EF4-FFF2-40B4-BE49-F238E27FC236}">
                <a16:creationId xmlns:a16="http://schemas.microsoft.com/office/drawing/2014/main" id="{3FF8B277-58EC-1462-31B9-C229CA5C4B13}"/>
              </a:ext>
            </a:extLst>
          </p:cNvPr>
          <p:cNvSpPr/>
          <p:nvPr/>
        </p:nvSpPr>
        <p:spPr>
          <a:xfrm>
            <a:off x="148829" y="2902269"/>
            <a:ext cx="7578966" cy="5204667"/>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B1150F12-FD9D-DCA6-528D-3FECED09CA32}"/>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15BF97BD-A71A-2C41-707F-1AE5D36708B6}"/>
              </a:ext>
            </a:extLst>
          </p:cNvPr>
          <p:cNvSpPr/>
          <p:nvPr/>
        </p:nvSpPr>
        <p:spPr>
          <a:xfrm>
            <a:off x="431044" y="3189515"/>
            <a:ext cx="6845824" cy="4872013"/>
          </a:xfrm>
          <a:prstGeom prst="rect">
            <a:avLst/>
          </a:prstGeom>
          <a:noFill/>
          <a:ln/>
        </p:spPr>
        <p:txBody>
          <a:bodyPr wrap="square" lIns="0" tIns="0" rIns="0" bIns="0" rtlCol="0" anchor="t"/>
          <a:lstStyle/>
          <a:p>
            <a:pPr marL="342900" indent="-342900" algn="just">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Cụm 0</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thấp, mức giảm giá sâu nhất</a:t>
            </a:r>
            <a:r>
              <a:rPr lang="en-US" sz="2000">
                <a:solidFill>
                  <a:srgbClr val="464646"/>
                </a:solidFill>
                <a:latin typeface="Arimo Medium" pitchFamily="34" charset="0"/>
                <a:ea typeface="Arimo Medium" pitchFamily="34" charset="-122"/>
                <a:cs typeface="Arimo Medium" pitchFamily="34" charset="-120"/>
              </a:rPr>
              <a:t>,</a:t>
            </a:r>
            <a:r>
              <a:rPr lang="vi-VN" sz="2000">
                <a:solidFill>
                  <a:srgbClr val="464646"/>
                </a:solidFill>
                <a:latin typeface="Arimo Medium" pitchFamily="34" charset="0"/>
                <a:ea typeface="Arimo Medium" pitchFamily="34" charset="-122"/>
                <a:cs typeface="Arimo Medium" pitchFamily="34" charset="-120"/>
              </a:rPr>
              <a:t> số lượng bán ra áp đảo và nhiều lượt đánh giá nhất (60.6). </a:t>
            </a:r>
            <a:r>
              <a:rPr lang="en-US" sz="2000">
                <a:solidFill>
                  <a:srgbClr val="464646"/>
                </a:solidFill>
                <a:latin typeface="Arimo Medium" pitchFamily="34" charset="0"/>
                <a:ea typeface="Arimo Medium" pitchFamily="34" charset="-122"/>
                <a:cs typeface="Arimo Medium" pitchFamily="34" charset="-120"/>
              </a:rPr>
              <a:t>Đ</a:t>
            </a:r>
            <a:r>
              <a:rPr lang="vi-VN" sz="2000">
                <a:solidFill>
                  <a:srgbClr val="464646"/>
                </a:solidFill>
                <a:latin typeface="Arimo Medium" pitchFamily="34" charset="0"/>
                <a:ea typeface="Arimo Medium" pitchFamily="34" charset="-122"/>
                <a:cs typeface="Arimo Medium" pitchFamily="34" charset="-120"/>
              </a:rPr>
              <a:t>ánh giá sao thấp nhất và lượt thích (liked_count) khá khiêm tốn</a:t>
            </a:r>
            <a:r>
              <a:rPr lang="en-US" sz="2000">
                <a:solidFill>
                  <a:srgbClr val="464646"/>
                </a:solidFill>
                <a:latin typeface="Arimo Medium" pitchFamily="34" charset="0"/>
                <a:ea typeface="Arimo Medium" pitchFamily="34" charset="-122"/>
                <a:cs typeface="Arimo Medium" pitchFamily="34" charset="-120"/>
              </a:rPr>
              <a:t>.</a:t>
            </a:r>
          </a:p>
          <a:p>
            <a:pPr marL="342900" indent="-342900" algn="just">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Khách hàng rất nhạy cảm về giá và ra quyết định dựa trên khuyến mãi. Điểm sao thấp báo hiệu rủi ro về kỳ vọng khách hàng hoặc dịch vụ</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Tx/>
              <a:buChar char="-"/>
            </a:pP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Đưa các sản </a:t>
            </a:r>
            <a:r>
              <a:rPr lang="en-US" sz="2000">
                <a:solidFill>
                  <a:srgbClr val="464646"/>
                </a:solidFill>
                <a:latin typeface="Arimo Medium" pitchFamily="34" charset="0"/>
                <a:ea typeface="Arimo Medium" pitchFamily="34" charset="-122"/>
                <a:cs typeface="Arimo Medium" pitchFamily="34" charset="-120"/>
              </a:rPr>
              <a:t>vào</a:t>
            </a:r>
            <a:r>
              <a:rPr lang="vi-VN" sz="2000">
                <a:solidFill>
                  <a:srgbClr val="464646"/>
                </a:solidFill>
                <a:latin typeface="Arimo Medium" pitchFamily="34" charset="0"/>
                <a:ea typeface="Arimo Medium" pitchFamily="34" charset="-122"/>
                <a:cs typeface="Arimo Medium" pitchFamily="34" charset="-120"/>
              </a:rPr>
              <a:t> các chiến dịch Mega Sale (11.11, 12.12), Flash Sale để kéo lượng truy cập lớn.</a:t>
            </a: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Cần xem xét lại khâu đóng gói, vận chuyển hoặc mô tả sản phẩm cũng như dịch vụ chăm sóc khác</a:t>
            </a:r>
            <a:r>
              <a:rPr lang="en-US" sz="2000">
                <a:solidFill>
                  <a:srgbClr val="464646"/>
                </a:solidFill>
                <a:latin typeface="Arimo Medium" pitchFamily="34" charset="0"/>
                <a:ea typeface="Arimo Medium" pitchFamily="34" charset="-122"/>
                <a:cs typeface="Arimo Medium" pitchFamily="34" charset="-120"/>
              </a:rPr>
              <a:t>h hàng.</a:t>
            </a:r>
            <a:endParaRPr lang="vi-VN" sz="2000">
              <a:solidFill>
                <a:srgbClr val="464646"/>
              </a:solidFill>
              <a:latin typeface="Arimo Medium" pitchFamily="34" charset="0"/>
              <a:ea typeface="Arimo Medium" pitchFamily="34" charset="-122"/>
              <a:cs typeface="Arimo Medium" pitchFamily="34" charset="-120"/>
            </a:endParaRPr>
          </a:p>
        </p:txBody>
      </p:sp>
      <p:pic>
        <p:nvPicPr>
          <p:cNvPr id="4" name="Picture 3">
            <a:extLst>
              <a:ext uri="{FF2B5EF4-FFF2-40B4-BE49-F238E27FC236}">
                <a16:creationId xmlns:a16="http://schemas.microsoft.com/office/drawing/2014/main" id="{79AD68E7-C2CC-A365-7468-84F89D04F3CA}"/>
              </a:ext>
            </a:extLst>
          </p:cNvPr>
          <p:cNvPicPr>
            <a:picLocks noChangeAspect="1"/>
          </p:cNvPicPr>
          <p:nvPr/>
        </p:nvPicPr>
        <p:blipFill>
          <a:blip r:embed="rId3"/>
          <a:srcRect l="6130"/>
          <a:stretch>
            <a:fillRect/>
          </a:stretch>
        </p:blipFill>
        <p:spPr>
          <a:xfrm>
            <a:off x="7559082" y="2687436"/>
            <a:ext cx="7147889" cy="5330290"/>
          </a:xfrm>
          <a:prstGeom prst="rect">
            <a:avLst/>
          </a:prstGeom>
        </p:spPr>
      </p:pic>
      <p:pic>
        <p:nvPicPr>
          <p:cNvPr id="2" name="Picture 1">
            <a:extLst>
              <a:ext uri="{FF2B5EF4-FFF2-40B4-BE49-F238E27FC236}">
                <a16:creationId xmlns:a16="http://schemas.microsoft.com/office/drawing/2014/main" id="{7DA4DB4E-570D-C2F0-1F6A-04B8CA13C9B8}"/>
              </a:ext>
            </a:extLst>
          </p:cNvPr>
          <p:cNvPicPr>
            <a:picLocks noChangeAspect="1"/>
          </p:cNvPicPr>
          <p:nvPr/>
        </p:nvPicPr>
        <p:blipFill>
          <a:blip r:embed="rId4"/>
          <a:stretch>
            <a:fillRect/>
          </a:stretch>
        </p:blipFill>
        <p:spPr>
          <a:xfrm>
            <a:off x="2774688" y="607412"/>
            <a:ext cx="9568789" cy="1801244"/>
          </a:xfrm>
          <a:prstGeom prst="rect">
            <a:avLst/>
          </a:prstGeom>
        </p:spPr>
      </p:pic>
    </p:spTree>
    <p:extLst>
      <p:ext uri="{BB962C8B-B14F-4D97-AF65-F5344CB8AC3E}">
        <p14:creationId xmlns:p14="http://schemas.microsoft.com/office/powerpoint/2010/main" val="32730791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18178-E25A-AD81-6768-29700460166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36664B7-283C-C3B4-56DE-1936AEBB9DE2}"/>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3.4 Gom cụm và huấn luyện </a:t>
            </a:r>
            <a:endParaRPr lang="en-US" sz="3550" b="1" dirty="0"/>
          </a:p>
        </p:txBody>
      </p:sp>
      <p:sp>
        <p:nvSpPr>
          <p:cNvPr id="16" name="Shape 1">
            <a:extLst>
              <a:ext uri="{FF2B5EF4-FFF2-40B4-BE49-F238E27FC236}">
                <a16:creationId xmlns:a16="http://schemas.microsoft.com/office/drawing/2014/main" id="{5DCC6459-959D-3592-1B4C-5873CB5E52B5}"/>
              </a:ext>
            </a:extLst>
          </p:cNvPr>
          <p:cNvSpPr/>
          <p:nvPr/>
        </p:nvSpPr>
        <p:spPr>
          <a:xfrm>
            <a:off x="148829" y="2902269"/>
            <a:ext cx="7578966" cy="5204667"/>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6CFE6D79-725A-B25B-3C2F-894E180B3DAF}"/>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68281DE3-5AC2-E4E9-A5FD-C2B136A31CAC}"/>
              </a:ext>
            </a:extLst>
          </p:cNvPr>
          <p:cNvSpPr/>
          <p:nvPr/>
        </p:nvSpPr>
        <p:spPr>
          <a:xfrm>
            <a:off x="431044" y="3189515"/>
            <a:ext cx="6845824" cy="4872013"/>
          </a:xfrm>
          <a:prstGeom prst="rect">
            <a:avLst/>
          </a:prstGeom>
          <a:noFill/>
          <a:ln/>
        </p:spPr>
        <p:txBody>
          <a:bodyPr wrap="square" lIns="0" tIns="0" rIns="0" bIns="0" rtlCol="0" anchor="t"/>
          <a:lstStyle/>
          <a:p>
            <a:pPr marL="342900" indent="-342900" algn="just">
              <a:lnSpc>
                <a:spcPts val="2850"/>
              </a:lnSpc>
              <a:buFontTx/>
              <a:buChar char="-"/>
            </a:pPr>
            <a:r>
              <a:rPr lang="en-US" sz="2000" b="1">
                <a:solidFill>
                  <a:srgbClr val="464646"/>
                </a:solidFill>
                <a:latin typeface="Arimo Medium" pitchFamily="34" charset="0"/>
                <a:ea typeface="Arimo Medium" pitchFamily="34" charset="-122"/>
                <a:cs typeface="Arimo Medium" pitchFamily="34" charset="-120"/>
              </a:rPr>
              <a:t>Cụm 1</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Giá cao nhất, mức giảm giá thấp nhất</a:t>
            </a:r>
            <a:r>
              <a:rPr lang="en-US" sz="2000">
                <a:solidFill>
                  <a:srgbClr val="464646"/>
                </a:solidFill>
                <a:latin typeface="Arimo Medium" pitchFamily="34" charset="0"/>
                <a:ea typeface="Arimo Medium" pitchFamily="34" charset="-122"/>
                <a:cs typeface="Arimo Medium" pitchFamily="34" charset="-120"/>
              </a:rPr>
              <a:t>, l</a:t>
            </a:r>
            <a:r>
              <a:rPr lang="vi-VN" sz="2000">
                <a:solidFill>
                  <a:srgbClr val="464646"/>
                </a:solidFill>
                <a:latin typeface="Arimo Medium" pitchFamily="34" charset="0"/>
                <a:ea typeface="Arimo Medium" pitchFamily="34" charset="-122"/>
                <a:cs typeface="Arimo Medium" pitchFamily="34" charset="-120"/>
              </a:rPr>
              <a:t>ượt Thích khủng (3879) và đánh giá sao cao nhất (4.92). Lượng bán ra ở mức ổn định (218).</a:t>
            </a:r>
          </a:p>
          <a:p>
            <a:pPr marL="342900" indent="-342900" algn="just">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Người dùng rất thích, khao khát sở hữu, và ai đã mua thì cực kỳ hài lòng (sao 4.92). </a:t>
            </a:r>
          </a:p>
          <a:p>
            <a:pPr algn="just">
              <a:lnSpc>
                <a:spcPts val="2850"/>
              </a:lnSpc>
            </a:pP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Tập trung vào nội dung quảng bá chất lượng cao, và sử dụng KOL để review trải nghiệm.</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Tặng họ một voucher nhỏ độc quyền đến những người đã đưa sản phẩm vào giỏ hàng hoặc đã nhấn thích</a:t>
            </a:r>
            <a:r>
              <a:rPr lang="en-US" sz="2000">
                <a:solidFill>
                  <a:srgbClr val="464646"/>
                </a:solidFill>
                <a:latin typeface="Arimo Medium" pitchFamily="34" charset="0"/>
                <a:ea typeface="Arimo Medium" pitchFamily="34" charset="-122"/>
                <a:cs typeface="Arimo Medium" pitchFamily="34" charset="-120"/>
              </a:rPr>
              <a:t>.</a:t>
            </a: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Chăm sóc Khách hàng VIP: Tạo chương trình khách hàng thân thiết cho tệp người mua nhóm này.</a:t>
            </a:r>
          </a:p>
        </p:txBody>
      </p:sp>
      <p:pic>
        <p:nvPicPr>
          <p:cNvPr id="4" name="Picture 3">
            <a:extLst>
              <a:ext uri="{FF2B5EF4-FFF2-40B4-BE49-F238E27FC236}">
                <a16:creationId xmlns:a16="http://schemas.microsoft.com/office/drawing/2014/main" id="{856F6378-9FBA-413D-784E-2EA7D7BF87CF}"/>
              </a:ext>
            </a:extLst>
          </p:cNvPr>
          <p:cNvPicPr>
            <a:picLocks noChangeAspect="1"/>
          </p:cNvPicPr>
          <p:nvPr/>
        </p:nvPicPr>
        <p:blipFill>
          <a:blip r:embed="rId3"/>
          <a:srcRect l="6130"/>
          <a:stretch>
            <a:fillRect/>
          </a:stretch>
        </p:blipFill>
        <p:spPr>
          <a:xfrm>
            <a:off x="7559082" y="2687436"/>
            <a:ext cx="7147889" cy="5330290"/>
          </a:xfrm>
          <a:prstGeom prst="rect">
            <a:avLst/>
          </a:prstGeom>
        </p:spPr>
      </p:pic>
      <p:pic>
        <p:nvPicPr>
          <p:cNvPr id="2" name="Picture 1">
            <a:extLst>
              <a:ext uri="{FF2B5EF4-FFF2-40B4-BE49-F238E27FC236}">
                <a16:creationId xmlns:a16="http://schemas.microsoft.com/office/drawing/2014/main" id="{7FF7B6A1-FCBE-FBD6-C93C-E0834787E9DF}"/>
              </a:ext>
            </a:extLst>
          </p:cNvPr>
          <p:cNvPicPr>
            <a:picLocks noChangeAspect="1"/>
          </p:cNvPicPr>
          <p:nvPr/>
        </p:nvPicPr>
        <p:blipFill>
          <a:blip r:embed="rId4"/>
          <a:stretch>
            <a:fillRect/>
          </a:stretch>
        </p:blipFill>
        <p:spPr>
          <a:xfrm>
            <a:off x="2774688" y="607412"/>
            <a:ext cx="9568789" cy="1801244"/>
          </a:xfrm>
          <a:prstGeom prst="rect">
            <a:avLst/>
          </a:prstGeom>
        </p:spPr>
      </p:pic>
    </p:spTree>
    <p:extLst>
      <p:ext uri="{BB962C8B-B14F-4D97-AF65-F5344CB8AC3E}">
        <p14:creationId xmlns:p14="http://schemas.microsoft.com/office/powerpoint/2010/main" val="32877031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FC6A-8C2E-CCA8-2C7D-FB14F7ECE54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528BE17-5C6F-AC3A-47E3-CFEC1E1FE255}"/>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3.4 Gom cụm và huấn luyện </a:t>
            </a:r>
            <a:endParaRPr lang="en-US" sz="3550" b="1" dirty="0"/>
          </a:p>
        </p:txBody>
      </p:sp>
      <p:sp>
        <p:nvSpPr>
          <p:cNvPr id="16" name="Shape 1">
            <a:extLst>
              <a:ext uri="{FF2B5EF4-FFF2-40B4-BE49-F238E27FC236}">
                <a16:creationId xmlns:a16="http://schemas.microsoft.com/office/drawing/2014/main" id="{709C4A5F-6E8E-6083-B9E9-0DEA5F719441}"/>
              </a:ext>
            </a:extLst>
          </p:cNvPr>
          <p:cNvSpPr/>
          <p:nvPr/>
        </p:nvSpPr>
        <p:spPr>
          <a:xfrm>
            <a:off x="148829" y="2902269"/>
            <a:ext cx="7578966" cy="5204667"/>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4FFDE056-CC03-37A5-8CEA-98BE725DF062}"/>
              </a:ext>
            </a:extLst>
          </p:cNvPr>
          <p:cNvSpPr/>
          <p:nvPr/>
        </p:nvSpPr>
        <p:spPr>
          <a:xfrm>
            <a:off x="851459" y="3210878"/>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2A31A1AC-7114-B43A-FC9A-895259B9F55E}"/>
              </a:ext>
            </a:extLst>
          </p:cNvPr>
          <p:cNvSpPr/>
          <p:nvPr/>
        </p:nvSpPr>
        <p:spPr>
          <a:xfrm>
            <a:off x="431044" y="3189515"/>
            <a:ext cx="6845824" cy="4872013"/>
          </a:xfrm>
          <a:prstGeom prst="rect">
            <a:avLst/>
          </a:prstGeom>
          <a:noFill/>
          <a:ln/>
        </p:spPr>
        <p:txBody>
          <a:bodyPr wrap="square" lIns="0" tIns="0" rIns="0" bIns="0" rtlCol="0" anchor="t"/>
          <a:lstStyle/>
          <a:p>
            <a:pPr marL="342900" indent="-342900" algn="just">
              <a:lnSpc>
                <a:spcPts val="2850"/>
              </a:lnSpc>
              <a:buFontTx/>
              <a:buChar char="-"/>
            </a:pPr>
            <a:r>
              <a:rPr lang="en-US" sz="2000" b="1">
                <a:solidFill>
                  <a:srgbClr val="464646"/>
                </a:solidFill>
                <a:latin typeface="Arimo Medium" pitchFamily="34" charset="0"/>
                <a:ea typeface="Arimo Medium" pitchFamily="34" charset="-122"/>
                <a:cs typeface="Arimo Medium" pitchFamily="34" charset="-120"/>
              </a:rPr>
              <a:t>Cụm 2</a:t>
            </a:r>
            <a:r>
              <a:rPr lang="en-US" sz="2000">
                <a:solidFill>
                  <a:srgbClr val="464646"/>
                </a:solidFill>
                <a:latin typeface="Arimo Medium" pitchFamily="34" charset="0"/>
                <a:ea typeface="Arimo Medium" pitchFamily="34" charset="-122"/>
                <a:cs typeface="Arimo Medium" pitchFamily="34" charset="-120"/>
              </a:rPr>
              <a:t>: Giá </a:t>
            </a:r>
            <a:r>
              <a:rPr lang="vi-VN" sz="2000">
                <a:solidFill>
                  <a:srgbClr val="464646"/>
                </a:solidFill>
                <a:latin typeface="Arimo Medium" pitchFamily="34" charset="0"/>
                <a:ea typeface="Arimo Medium" pitchFamily="34" charset="-122"/>
                <a:cs typeface="Arimo Medium" pitchFamily="34" charset="-120"/>
              </a:rPr>
              <a:t>tầm trung</a:t>
            </a:r>
            <a:r>
              <a:rPr lang="en-US" sz="2000">
                <a:solidFill>
                  <a:srgbClr val="464646"/>
                </a:solidFill>
                <a:latin typeface="Arimo Medium" pitchFamily="34" charset="0"/>
                <a:ea typeface="Arimo Medium" pitchFamily="34" charset="-122"/>
                <a:cs typeface="Arimo Medium" pitchFamily="34" charset="-120"/>
              </a:rPr>
              <a:t>, s</a:t>
            </a:r>
            <a:r>
              <a:rPr lang="vi-VN" sz="2000">
                <a:solidFill>
                  <a:srgbClr val="464646"/>
                </a:solidFill>
                <a:latin typeface="Arimo Medium" pitchFamily="34" charset="0"/>
                <a:ea typeface="Arimo Medium" pitchFamily="34" charset="-122"/>
                <a:cs typeface="Arimo Medium" pitchFamily="34" charset="-120"/>
              </a:rPr>
              <a:t>ố lượng bán thấp nhất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rất ít người đánh giá</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chất lượng </a:t>
            </a:r>
            <a:r>
              <a:rPr lang="en-US" sz="2000">
                <a:solidFill>
                  <a:srgbClr val="464646"/>
                </a:solidFill>
                <a:latin typeface="Arimo Medium" pitchFamily="34" charset="0"/>
                <a:ea typeface="Arimo Medium" pitchFamily="34" charset="-122"/>
                <a:cs typeface="Arimo Medium" pitchFamily="34" charset="-120"/>
              </a:rPr>
              <a:t>khá tốt -</a:t>
            </a:r>
            <a:r>
              <a:rPr lang="vi-VN" sz="2000">
                <a:solidFill>
                  <a:srgbClr val="464646"/>
                </a:solidFill>
                <a:latin typeface="Arimo Medium" pitchFamily="34" charset="0"/>
                <a:ea typeface="Arimo Medium" pitchFamily="34" charset="-122"/>
                <a:cs typeface="Arimo Medium" pitchFamily="34" charset="-120"/>
              </a:rPr>
              <a:t> 4.87 sao.</a:t>
            </a:r>
          </a:p>
          <a:p>
            <a:pPr marL="342900" indent="-342900" algn="just">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S</a:t>
            </a:r>
            <a:r>
              <a:rPr lang="vi-VN" sz="2000">
                <a:solidFill>
                  <a:srgbClr val="464646"/>
                </a:solidFill>
                <a:latin typeface="Arimo Medium" pitchFamily="34" charset="0"/>
                <a:ea typeface="Arimo Medium" pitchFamily="34" charset="-122"/>
                <a:cs typeface="Arimo Medium" pitchFamily="34" charset="-120"/>
              </a:rPr>
              <a:t>ản phẩm kén người mua hoặc mới lên sàn, chưa có nhiều độ phủ</a:t>
            </a:r>
            <a:r>
              <a:rPr lang="en-US" sz="2000">
                <a:solidFill>
                  <a:srgbClr val="464646"/>
                </a:solidFill>
                <a:latin typeface="Arimo Medium" pitchFamily="34" charset="0"/>
                <a:ea typeface="Arimo Medium" pitchFamily="34" charset="-122"/>
                <a:cs typeface="Arimo Medium" pitchFamily="34" charset="-120"/>
              </a:rPr>
              <a:t>.</a:t>
            </a:r>
          </a:p>
          <a:p>
            <a:pPr marL="342900" indent="-342900" algn="just">
              <a:lnSpc>
                <a:spcPts val="2850"/>
              </a:lnSpc>
              <a:buFont typeface="Wingdings" panose="05000000000000000000" pitchFamily="2" charset="2"/>
              <a:buChar char="è"/>
            </a:pPr>
            <a:r>
              <a:rPr lang="en-US" sz="2000">
                <a:solidFill>
                  <a:srgbClr val="464646"/>
                </a:solidFill>
                <a:latin typeface="Arimo Medium" pitchFamily="34" charset="0"/>
                <a:ea typeface="Arimo Medium" pitchFamily="34" charset="-122"/>
                <a:cs typeface="Arimo Medium" pitchFamily="34" charset="-120"/>
              </a:rPr>
              <a:t>C</a:t>
            </a:r>
            <a:r>
              <a:rPr lang="vi-VN" sz="2000">
                <a:solidFill>
                  <a:srgbClr val="464646"/>
                </a:solidFill>
                <a:latin typeface="Arimo Medium" pitchFamily="34" charset="0"/>
                <a:ea typeface="Arimo Medium" pitchFamily="34" charset="-122"/>
                <a:cs typeface="Arimo Medium" pitchFamily="34" charset="-120"/>
              </a:rPr>
              <a:t>hạy các chương trình tặng quà/hoàn xu để khuyến khích những người đã mua để lại đánh giá chi tiết (có hình ảnh/video). </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Tăng cường đấu thầu từ khóa và quảng cáo Khám phá để tăng lượt hiển thị cho nhóm này, giúp sản phẩm tiếp cận đúng tệp khách hàng mục tiêu.</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ts val="2850"/>
              </a:lnSpc>
              <a:buFont typeface="Wingdings" panose="05000000000000000000" pitchFamily="2" charset="2"/>
              <a:buChar char="è"/>
            </a:pPr>
            <a:r>
              <a:rPr lang="vi-VN" sz="2000">
                <a:solidFill>
                  <a:srgbClr val="464646"/>
                </a:solidFill>
                <a:latin typeface="Arimo Medium" pitchFamily="34" charset="0"/>
                <a:ea typeface="Arimo Medium" pitchFamily="34" charset="-122"/>
                <a:cs typeface="Arimo Medium" pitchFamily="34" charset="-120"/>
              </a:rPr>
              <a:t>Ghép cặp cụm 2 với các sản phẩm hot ở Cụm 0. Ví dụ: "Mua sản phẩm (Cụm 0) để được giảm ngay 30% cho sản phẩm (Cụm 2)".</a:t>
            </a:r>
          </a:p>
        </p:txBody>
      </p:sp>
      <p:pic>
        <p:nvPicPr>
          <p:cNvPr id="4" name="Picture 3">
            <a:extLst>
              <a:ext uri="{FF2B5EF4-FFF2-40B4-BE49-F238E27FC236}">
                <a16:creationId xmlns:a16="http://schemas.microsoft.com/office/drawing/2014/main" id="{A7A9E6DA-1EEF-6E24-3A50-431D2CA7B2FE}"/>
              </a:ext>
            </a:extLst>
          </p:cNvPr>
          <p:cNvPicPr>
            <a:picLocks noChangeAspect="1"/>
          </p:cNvPicPr>
          <p:nvPr/>
        </p:nvPicPr>
        <p:blipFill>
          <a:blip r:embed="rId3"/>
          <a:srcRect l="6130"/>
          <a:stretch>
            <a:fillRect/>
          </a:stretch>
        </p:blipFill>
        <p:spPr>
          <a:xfrm>
            <a:off x="7559082" y="2687436"/>
            <a:ext cx="7147889" cy="5330290"/>
          </a:xfrm>
          <a:prstGeom prst="rect">
            <a:avLst/>
          </a:prstGeom>
        </p:spPr>
      </p:pic>
      <p:pic>
        <p:nvPicPr>
          <p:cNvPr id="2" name="Picture 1">
            <a:extLst>
              <a:ext uri="{FF2B5EF4-FFF2-40B4-BE49-F238E27FC236}">
                <a16:creationId xmlns:a16="http://schemas.microsoft.com/office/drawing/2014/main" id="{5FADD095-0CD1-0469-1DA6-400477A37A08}"/>
              </a:ext>
            </a:extLst>
          </p:cNvPr>
          <p:cNvPicPr>
            <a:picLocks noChangeAspect="1"/>
          </p:cNvPicPr>
          <p:nvPr/>
        </p:nvPicPr>
        <p:blipFill>
          <a:blip r:embed="rId4"/>
          <a:stretch>
            <a:fillRect/>
          </a:stretch>
        </p:blipFill>
        <p:spPr>
          <a:xfrm>
            <a:off x="2774688" y="607412"/>
            <a:ext cx="9568789" cy="1801244"/>
          </a:xfrm>
          <a:prstGeom prst="rect">
            <a:avLst/>
          </a:prstGeom>
        </p:spPr>
      </p:pic>
    </p:spTree>
    <p:extLst>
      <p:ext uri="{BB962C8B-B14F-4D97-AF65-F5344CB8AC3E}">
        <p14:creationId xmlns:p14="http://schemas.microsoft.com/office/powerpoint/2010/main" val="393325901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6B4E-DC2E-08D1-E3E3-6E7101BA7A1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74BB2F31-697F-F213-8F1A-3FCFDE35251C}"/>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54D5F5C1-E7D4-25BF-4AA8-2BDEED0E33A1}"/>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9F72D6CA-AD4C-7172-5574-025DE0990F31}"/>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844F891-FC9F-3CB1-67AB-709B4B11BA96}"/>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Một "khu rừng" gồm hàng trăm "cây quyết định" (Decision Trees) cùng biểu quyết để đưa ra kết quả.</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Chuyên trị dữ liệu bản</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 Random Forest không chỉ dự đoán kết quả, nó còn cho biết biến số nào quan trọng nhất. </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vi-VN" sz="2000" b="1">
                <a:solidFill>
                  <a:srgbClr val="464646"/>
                </a:solidFill>
                <a:latin typeface="Arimo Medium" pitchFamily="34" charset="0"/>
                <a:ea typeface="Arimo Medium" pitchFamily="34" charset="-122"/>
                <a:cs typeface="Arimo Medium" pitchFamily="34" charset="-120"/>
              </a:rPr>
              <a:t>XGBoost</a:t>
            </a:r>
            <a:r>
              <a:rPr lang="vi-VN" sz="2000">
                <a:solidFill>
                  <a:srgbClr val="464646"/>
                </a:solidFill>
                <a:latin typeface="Arimo Medium" pitchFamily="34" charset="0"/>
                <a:ea typeface="Arimo Medium" pitchFamily="34" charset="-122"/>
                <a:cs typeface="Arimo Medium" pitchFamily="34" charset="-120"/>
              </a:rPr>
              <a:t> : Chạy chậm hơn Random Forest một chút và khó tinh chỉnh tham số hơn.</a:t>
            </a:r>
            <a:endParaRPr lang="en-US" sz="2000">
              <a:solidFill>
                <a:srgbClr val="464646"/>
              </a:solidFill>
              <a:latin typeface="Arimo Medium" pitchFamily="34" charset="0"/>
              <a:ea typeface="Arimo Medium" pitchFamily="34" charset="-122"/>
              <a:cs typeface="Arimo Medium" pitchFamily="34" charset="-120"/>
            </a:endParaRPr>
          </a:p>
        </p:txBody>
      </p:sp>
      <p:sp>
        <p:nvSpPr>
          <p:cNvPr id="6" name="Text 2">
            <a:extLst>
              <a:ext uri="{FF2B5EF4-FFF2-40B4-BE49-F238E27FC236}">
                <a16:creationId xmlns:a16="http://schemas.microsoft.com/office/drawing/2014/main" id="{DD05DE2C-E13E-DFB4-1D07-2AAE710903EA}"/>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Random Forest</a:t>
            </a:r>
            <a:endParaRPr lang="en-US" sz="2400" b="1" dirty="0"/>
          </a:p>
        </p:txBody>
      </p:sp>
      <p:pic>
        <p:nvPicPr>
          <p:cNvPr id="2052" name="Picture 4" descr="Random Forest Simple Explanation. Understanding the Random Forest with an…  | by Will Koehrsen | Medium">
            <a:extLst>
              <a:ext uri="{FF2B5EF4-FFF2-40B4-BE49-F238E27FC236}">
                <a16:creationId xmlns:a16="http://schemas.microsoft.com/office/drawing/2014/main" id="{14004E58-6074-9BC6-25E6-D77BAC8453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456" y="2005912"/>
            <a:ext cx="6338105" cy="4753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14504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B240-85CE-82C7-99FA-540F9DD08FE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C7C7CD3-8DDB-A64F-2401-1383F1486B34}"/>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8B019684-4385-F81A-C594-CBB694088F37}"/>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37DF893A-DA3D-586C-350E-0E6F79610EF4}"/>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4432BDA1-3960-0457-E58E-CECC6C31A867}"/>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90.67 % </a:t>
            </a:r>
          </a:p>
        </p:txBody>
      </p:sp>
      <p:sp>
        <p:nvSpPr>
          <p:cNvPr id="6" name="Text 2">
            <a:extLst>
              <a:ext uri="{FF2B5EF4-FFF2-40B4-BE49-F238E27FC236}">
                <a16:creationId xmlns:a16="http://schemas.microsoft.com/office/drawing/2014/main" id="{22A74D15-566B-41A9-A2FA-53456C4DBEBF}"/>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10" name="Picture 9">
            <a:extLst>
              <a:ext uri="{FF2B5EF4-FFF2-40B4-BE49-F238E27FC236}">
                <a16:creationId xmlns:a16="http://schemas.microsoft.com/office/drawing/2014/main" id="{A04159D3-F3A9-11C6-34C7-D15E016FB75E}"/>
              </a:ext>
            </a:extLst>
          </p:cNvPr>
          <p:cNvPicPr>
            <a:picLocks noChangeAspect="1"/>
          </p:cNvPicPr>
          <p:nvPr/>
        </p:nvPicPr>
        <p:blipFill>
          <a:blip r:embed="rId3"/>
          <a:stretch>
            <a:fillRect/>
          </a:stretch>
        </p:blipFill>
        <p:spPr>
          <a:xfrm>
            <a:off x="35854" y="5837350"/>
            <a:ext cx="7377923" cy="881909"/>
          </a:xfrm>
          <a:prstGeom prst="rect">
            <a:avLst/>
          </a:prstGeom>
        </p:spPr>
      </p:pic>
      <p:pic>
        <p:nvPicPr>
          <p:cNvPr id="2" name="Picture 1">
            <a:extLst>
              <a:ext uri="{FF2B5EF4-FFF2-40B4-BE49-F238E27FC236}">
                <a16:creationId xmlns:a16="http://schemas.microsoft.com/office/drawing/2014/main" id="{3F9B3C64-A465-E488-6EAC-40ABD087B0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93860" y="1708079"/>
            <a:ext cx="6417247" cy="4813441"/>
          </a:xfrm>
          <a:prstGeom prst="rect">
            <a:avLst/>
          </a:prstGeom>
        </p:spPr>
      </p:pic>
      <p:pic>
        <p:nvPicPr>
          <p:cNvPr id="5" name="Picture 4">
            <a:extLst>
              <a:ext uri="{FF2B5EF4-FFF2-40B4-BE49-F238E27FC236}">
                <a16:creationId xmlns:a16="http://schemas.microsoft.com/office/drawing/2014/main" id="{7B7F23A7-D868-18AC-17F6-967F5805EE28}"/>
              </a:ext>
            </a:extLst>
          </p:cNvPr>
          <p:cNvPicPr>
            <a:picLocks noChangeAspect="1"/>
          </p:cNvPicPr>
          <p:nvPr/>
        </p:nvPicPr>
        <p:blipFill>
          <a:blip r:embed="rId5"/>
          <a:stretch>
            <a:fillRect/>
          </a:stretch>
        </p:blipFill>
        <p:spPr>
          <a:xfrm>
            <a:off x="8110850" y="2072695"/>
            <a:ext cx="6370960" cy="4042702"/>
          </a:xfrm>
          <a:prstGeom prst="rect">
            <a:avLst/>
          </a:prstGeom>
        </p:spPr>
      </p:pic>
      <p:pic>
        <p:nvPicPr>
          <p:cNvPr id="8" name="Picture 7">
            <a:extLst>
              <a:ext uri="{FF2B5EF4-FFF2-40B4-BE49-F238E27FC236}">
                <a16:creationId xmlns:a16="http://schemas.microsoft.com/office/drawing/2014/main" id="{BC40330E-E29D-206D-025B-A42DCC708E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893860" y="-3076049"/>
            <a:ext cx="5940425" cy="3712845"/>
          </a:xfrm>
          <a:prstGeom prst="rect">
            <a:avLst/>
          </a:prstGeom>
        </p:spPr>
      </p:pic>
      <p:pic>
        <p:nvPicPr>
          <p:cNvPr id="9" name="Picture 8">
            <a:extLst>
              <a:ext uri="{FF2B5EF4-FFF2-40B4-BE49-F238E27FC236}">
                <a16:creationId xmlns:a16="http://schemas.microsoft.com/office/drawing/2014/main" id="{EC7C6488-5A0B-7E31-D89B-297ECD2438D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34090" y="2072695"/>
            <a:ext cx="5940425" cy="3564255"/>
          </a:xfrm>
          <a:prstGeom prst="rect">
            <a:avLst/>
          </a:prstGeom>
        </p:spPr>
      </p:pic>
    </p:spTree>
    <p:extLst>
      <p:ext uri="{BB962C8B-B14F-4D97-AF65-F5344CB8AC3E}">
        <p14:creationId xmlns:p14="http://schemas.microsoft.com/office/powerpoint/2010/main" val="26099495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B4ED3-B27F-A5FA-DE6C-EFACD04BBA0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FB92B54-0F3C-9C51-09A8-BB66ED516260}"/>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DEE11066-AF00-2F9D-2CA3-B6C8CB6AB3A9}"/>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825B908D-E5E9-9335-1274-973A6C12DC1A}"/>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A93805C0-E659-5019-C458-D061BC74B55C}"/>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90.67 % </a:t>
            </a:r>
          </a:p>
        </p:txBody>
      </p:sp>
      <p:sp>
        <p:nvSpPr>
          <p:cNvPr id="6" name="Text 2">
            <a:extLst>
              <a:ext uri="{FF2B5EF4-FFF2-40B4-BE49-F238E27FC236}">
                <a16:creationId xmlns:a16="http://schemas.microsoft.com/office/drawing/2014/main" id="{72D844F8-7A90-D7DB-3372-B40E97FA1C1F}"/>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10" name="Picture 9">
            <a:extLst>
              <a:ext uri="{FF2B5EF4-FFF2-40B4-BE49-F238E27FC236}">
                <a16:creationId xmlns:a16="http://schemas.microsoft.com/office/drawing/2014/main" id="{41D3ACE2-68AE-6ACB-D810-2FB9D02ABD9D}"/>
              </a:ext>
            </a:extLst>
          </p:cNvPr>
          <p:cNvPicPr>
            <a:picLocks noChangeAspect="1"/>
          </p:cNvPicPr>
          <p:nvPr/>
        </p:nvPicPr>
        <p:blipFill>
          <a:blip r:embed="rId3"/>
          <a:stretch>
            <a:fillRect/>
          </a:stretch>
        </p:blipFill>
        <p:spPr>
          <a:xfrm>
            <a:off x="35854" y="5837350"/>
            <a:ext cx="7377923" cy="881909"/>
          </a:xfrm>
          <a:prstGeom prst="rect">
            <a:avLst/>
          </a:prstGeom>
        </p:spPr>
      </p:pic>
      <p:pic>
        <p:nvPicPr>
          <p:cNvPr id="2" name="Picture 1">
            <a:extLst>
              <a:ext uri="{FF2B5EF4-FFF2-40B4-BE49-F238E27FC236}">
                <a16:creationId xmlns:a16="http://schemas.microsoft.com/office/drawing/2014/main" id="{C2AA841C-2843-0FDD-03F5-252C2FCF43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30233" y="1720563"/>
            <a:ext cx="7178097" cy="5384138"/>
          </a:xfrm>
          <a:prstGeom prst="rect">
            <a:avLst/>
          </a:prstGeom>
        </p:spPr>
      </p:pic>
      <p:pic>
        <p:nvPicPr>
          <p:cNvPr id="5" name="Picture 4">
            <a:extLst>
              <a:ext uri="{FF2B5EF4-FFF2-40B4-BE49-F238E27FC236}">
                <a16:creationId xmlns:a16="http://schemas.microsoft.com/office/drawing/2014/main" id="{A1DE59C8-50F5-DEBD-9161-44EF48248596}"/>
              </a:ext>
            </a:extLst>
          </p:cNvPr>
          <p:cNvPicPr>
            <a:picLocks noChangeAspect="1"/>
          </p:cNvPicPr>
          <p:nvPr/>
        </p:nvPicPr>
        <p:blipFill>
          <a:blip r:embed="rId5"/>
          <a:stretch>
            <a:fillRect/>
          </a:stretch>
        </p:blipFill>
        <p:spPr>
          <a:xfrm>
            <a:off x="8949050" y="13655095"/>
            <a:ext cx="6370960" cy="4042702"/>
          </a:xfrm>
          <a:prstGeom prst="rect">
            <a:avLst/>
          </a:prstGeom>
        </p:spPr>
      </p:pic>
      <p:pic>
        <p:nvPicPr>
          <p:cNvPr id="8" name="Picture 7">
            <a:extLst>
              <a:ext uri="{FF2B5EF4-FFF2-40B4-BE49-F238E27FC236}">
                <a16:creationId xmlns:a16="http://schemas.microsoft.com/office/drawing/2014/main" id="{1C6BFA61-D55A-BD53-F83B-7966339F27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893860" y="-3076049"/>
            <a:ext cx="5940425" cy="3712845"/>
          </a:xfrm>
          <a:prstGeom prst="rect">
            <a:avLst/>
          </a:prstGeom>
        </p:spPr>
      </p:pic>
      <p:pic>
        <p:nvPicPr>
          <p:cNvPr id="9" name="Picture 8">
            <a:extLst>
              <a:ext uri="{FF2B5EF4-FFF2-40B4-BE49-F238E27FC236}">
                <a16:creationId xmlns:a16="http://schemas.microsoft.com/office/drawing/2014/main" id="{EABD40DA-D52B-4D5F-8212-4448E16F6C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34090" y="2072695"/>
            <a:ext cx="5940425" cy="3564255"/>
          </a:xfrm>
          <a:prstGeom prst="rect">
            <a:avLst/>
          </a:prstGeom>
        </p:spPr>
      </p:pic>
    </p:spTree>
    <p:extLst>
      <p:ext uri="{BB962C8B-B14F-4D97-AF65-F5344CB8AC3E}">
        <p14:creationId xmlns:p14="http://schemas.microsoft.com/office/powerpoint/2010/main" val="272324612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D192-E9C9-228F-671E-2D279E77135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F11ACFF-A88A-2056-4687-BD205315F6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13777" y="2006342"/>
            <a:ext cx="7272749" cy="4545565"/>
          </a:xfrm>
          <a:prstGeom prst="rect">
            <a:avLst/>
          </a:prstGeom>
        </p:spPr>
      </p:pic>
      <p:sp>
        <p:nvSpPr>
          <p:cNvPr id="3" name="Text 0">
            <a:extLst>
              <a:ext uri="{FF2B5EF4-FFF2-40B4-BE49-F238E27FC236}">
                <a16:creationId xmlns:a16="http://schemas.microsoft.com/office/drawing/2014/main" id="{F4C04C49-966E-3211-BB41-836C8355FF43}"/>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A04462DB-F6CC-770B-BF21-73E3DF299D0C}"/>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82D9721A-DC6C-E616-E9C1-FA9593F3461F}"/>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EFB2EE4C-CC5A-5757-1D94-E4FD4190D055}"/>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90.67 % </a:t>
            </a:r>
          </a:p>
        </p:txBody>
      </p:sp>
      <p:sp>
        <p:nvSpPr>
          <p:cNvPr id="6" name="Text 2">
            <a:extLst>
              <a:ext uri="{FF2B5EF4-FFF2-40B4-BE49-F238E27FC236}">
                <a16:creationId xmlns:a16="http://schemas.microsoft.com/office/drawing/2014/main" id="{29F204CF-9BEC-7D9B-4A31-BAA8E0636D6B}"/>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10" name="Picture 9">
            <a:extLst>
              <a:ext uri="{FF2B5EF4-FFF2-40B4-BE49-F238E27FC236}">
                <a16:creationId xmlns:a16="http://schemas.microsoft.com/office/drawing/2014/main" id="{6996582E-219C-6B8A-1946-8B0A08E0544C}"/>
              </a:ext>
            </a:extLst>
          </p:cNvPr>
          <p:cNvPicPr>
            <a:picLocks noChangeAspect="1"/>
          </p:cNvPicPr>
          <p:nvPr/>
        </p:nvPicPr>
        <p:blipFill>
          <a:blip r:embed="rId4"/>
          <a:stretch>
            <a:fillRect/>
          </a:stretch>
        </p:blipFill>
        <p:spPr>
          <a:xfrm>
            <a:off x="35854" y="5837350"/>
            <a:ext cx="7377923" cy="881909"/>
          </a:xfrm>
          <a:prstGeom prst="rect">
            <a:avLst/>
          </a:prstGeom>
        </p:spPr>
      </p:pic>
      <p:pic>
        <p:nvPicPr>
          <p:cNvPr id="2" name="Picture 1">
            <a:extLst>
              <a:ext uri="{FF2B5EF4-FFF2-40B4-BE49-F238E27FC236}">
                <a16:creationId xmlns:a16="http://schemas.microsoft.com/office/drawing/2014/main" id="{9403535D-9956-3A7D-D37C-F8B0887E47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70627" y="12402973"/>
            <a:ext cx="6417247" cy="4813441"/>
          </a:xfrm>
          <a:prstGeom prst="rect">
            <a:avLst/>
          </a:prstGeom>
        </p:spPr>
      </p:pic>
      <p:pic>
        <p:nvPicPr>
          <p:cNvPr id="5" name="Picture 4">
            <a:extLst>
              <a:ext uri="{FF2B5EF4-FFF2-40B4-BE49-F238E27FC236}">
                <a16:creationId xmlns:a16="http://schemas.microsoft.com/office/drawing/2014/main" id="{29C48932-5AFB-F3B2-2562-49323E333DFA}"/>
              </a:ext>
            </a:extLst>
          </p:cNvPr>
          <p:cNvPicPr>
            <a:picLocks noChangeAspect="1"/>
          </p:cNvPicPr>
          <p:nvPr/>
        </p:nvPicPr>
        <p:blipFill>
          <a:blip r:embed="rId6"/>
          <a:stretch>
            <a:fillRect/>
          </a:stretch>
        </p:blipFill>
        <p:spPr>
          <a:xfrm>
            <a:off x="8949050" y="13655095"/>
            <a:ext cx="6370960" cy="4042702"/>
          </a:xfrm>
          <a:prstGeom prst="rect">
            <a:avLst/>
          </a:prstGeom>
        </p:spPr>
      </p:pic>
      <p:pic>
        <p:nvPicPr>
          <p:cNvPr id="9" name="Picture 8">
            <a:extLst>
              <a:ext uri="{FF2B5EF4-FFF2-40B4-BE49-F238E27FC236}">
                <a16:creationId xmlns:a16="http://schemas.microsoft.com/office/drawing/2014/main" id="{384E3895-1470-835B-47FE-AAFACFA4578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34090" y="2072695"/>
            <a:ext cx="5940425" cy="3564255"/>
          </a:xfrm>
          <a:prstGeom prst="rect">
            <a:avLst/>
          </a:prstGeom>
        </p:spPr>
      </p:pic>
    </p:spTree>
    <p:extLst>
      <p:ext uri="{BB962C8B-B14F-4D97-AF65-F5344CB8AC3E}">
        <p14:creationId xmlns:p14="http://schemas.microsoft.com/office/powerpoint/2010/main" val="25379541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63BF7-8DB6-794A-8540-25A746784CE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8994F5B-884A-A852-5DA0-3A1C88FBFA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3167" y="2005912"/>
            <a:ext cx="7471379" cy="4482827"/>
          </a:xfrm>
          <a:prstGeom prst="rect">
            <a:avLst/>
          </a:prstGeom>
        </p:spPr>
      </p:pic>
      <p:sp>
        <p:nvSpPr>
          <p:cNvPr id="3" name="Text 0">
            <a:extLst>
              <a:ext uri="{FF2B5EF4-FFF2-40B4-BE49-F238E27FC236}">
                <a16:creationId xmlns:a16="http://schemas.microsoft.com/office/drawing/2014/main" id="{4B50F232-E30B-E8AB-B233-68A6E8D0A311}"/>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6" name="Shape 1">
            <a:extLst>
              <a:ext uri="{FF2B5EF4-FFF2-40B4-BE49-F238E27FC236}">
                <a16:creationId xmlns:a16="http://schemas.microsoft.com/office/drawing/2014/main" id="{95530EA8-C971-8269-2135-8E9609E2A90E}"/>
              </a:ext>
            </a:extLst>
          </p:cNvPr>
          <p:cNvSpPr/>
          <p:nvPr/>
        </p:nvSpPr>
        <p:spPr>
          <a:xfrm>
            <a:off x="524507" y="2005912"/>
            <a:ext cx="6617073" cy="4813441"/>
          </a:xfrm>
          <a:prstGeom prst="roundRect">
            <a:avLst>
              <a:gd name="adj" fmla="val 12013"/>
            </a:avLst>
          </a:prstGeom>
          <a:solidFill>
            <a:srgbClr val="F2EEEE"/>
          </a:solidFill>
          <a:ln/>
        </p:spPr>
        <p:txBody>
          <a:bodyPr/>
          <a:lstStyle/>
          <a:p>
            <a:endParaRPr lang="en-US"/>
          </a:p>
        </p:txBody>
      </p:sp>
      <p:sp>
        <p:nvSpPr>
          <p:cNvPr id="17" name="Text 2">
            <a:extLst>
              <a:ext uri="{FF2B5EF4-FFF2-40B4-BE49-F238E27FC236}">
                <a16:creationId xmlns:a16="http://schemas.microsoft.com/office/drawing/2014/main" id="{10873B3C-9C63-0722-9229-EEF8EE50FBD3}"/>
              </a:ext>
            </a:extLst>
          </p:cNvPr>
          <p:cNvSpPr/>
          <p:nvPr/>
        </p:nvSpPr>
        <p:spPr>
          <a:xfrm>
            <a:off x="677839" y="4094046"/>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18" name="Text 3">
            <a:extLst>
              <a:ext uri="{FF2B5EF4-FFF2-40B4-BE49-F238E27FC236}">
                <a16:creationId xmlns:a16="http://schemas.microsoft.com/office/drawing/2014/main" id="{83AD4B03-8423-FDA1-25CD-93D5E93FC7E9}"/>
              </a:ext>
            </a:extLst>
          </p:cNvPr>
          <p:cNvSpPr/>
          <p:nvPr/>
        </p:nvSpPr>
        <p:spPr>
          <a:xfrm>
            <a:off x="677839" y="2889080"/>
            <a:ext cx="5859778" cy="3306868"/>
          </a:xfrm>
          <a:prstGeom prst="rect">
            <a:avLst/>
          </a:prstGeom>
          <a:noFill/>
          <a:ln/>
        </p:spPr>
        <p:txBody>
          <a:bodyPr wrap="square" lIns="0" tIns="0" rIns="0" bIns="0" rtlCol="0" anchor="t"/>
          <a:lstStyle/>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Input</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Hãng gì, bán ở đâu, giá</a:t>
            </a:r>
            <a:r>
              <a:rPr lang="en-US" sz="2000">
                <a:solidFill>
                  <a:srgbClr val="464646"/>
                </a:solidFill>
                <a:latin typeface="Arimo Medium" pitchFamily="34" charset="0"/>
                <a:ea typeface="Arimo Medium" pitchFamily="34" charset="-122"/>
                <a:cs typeface="Arimo Medium" pitchFamily="34" charset="-120"/>
              </a:rPr>
              <a:t>,…</a:t>
            </a:r>
          </a:p>
          <a:p>
            <a:pPr marL="342900" indent="-342900">
              <a:lnSpc>
                <a:spcPts val="2850"/>
              </a:lnSpc>
              <a:buFontTx/>
              <a:buChar char="-"/>
            </a:pPr>
            <a:r>
              <a:rPr lang="vi-VN" sz="2000">
                <a:solidFill>
                  <a:srgbClr val="464646"/>
                </a:solidFill>
                <a:latin typeface="Arimo Medium" pitchFamily="34" charset="0"/>
                <a:ea typeface="Arimo Medium" pitchFamily="34" charset="-122"/>
                <a:cs typeface="Arimo Medium" pitchFamily="34" charset="-120"/>
              </a:rPr>
              <a:t>Output: Cụm nào (Cluster 0, 1 hay 2) mà K-Means vừa tạo ra.</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Với dữ liệu chữ </a:t>
            </a:r>
            <a:r>
              <a:rPr lang="en-US" sz="2000">
                <a:solidFill>
                  <a:srgbClr val="464646"/>
                </a:solidFill>
                <a:latin typeface="Arimo Medium" pitchFamily="34" charset="0"/>
                <a:ea typeface="Arimo Medium" pitchFamily="34" charset="-122"/>
                <a:cs typeface="Arimo Medium" pitchFamily="34" charset="-120"/>
                <a:sym typeface="Wingdings" panose="05000000000000000000" pitchFamily="2" charset="2"/>
              </a:rPr>
              <a:t> Label Encoding</a:t>
            </a:r>
            <a:endParaRPr lang="en-US" sz="2000">
              <a:solidFill>
                <a:srgbClr val="464646"/>
              </a:solidFill>
              <a:latin typeface="Arimo Medium" pitchFamily="34" charset="0"/>
              <a:ea typeface="Arimo Medium" pitchFamily="34" charset="-122"/>
              <a:cs typeface="Arimo Medium" pitchFamily="34" charset="-120"/>
            </a:endParaRPr>
          </a:p>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Chia tập train / test theo tỉ lệ 80 : 20</a:t>
            </a:r>
          </a:p>
          <a:p>
            <a:pPr>
              <a:lnSpc>
                <a:spcPts val="2850"/>
              </a:lnSpc>
            </a:pPr>
            <a:r>
              <a:rPr lang="en-US" sz="2000">
                <a:solidFill>
                  <a:srgbClr val="464646"/>
                </a:solidFill>
                <a:latin typeface="Arimo Medium" pitchFamily="34" charset="0"/>
                <a:ea typeface="Arimo Medium" pitchFamily="34" charset="-122"/>
                <a:cs typeface="Arimo Medium" pitchFamily="34" charset="-120"/>
              </a:rPr>
              <a:t>-    Độ chính xác: 90.67 % </a:t>
            </a:r>
          </a:p>
        </p:txBody>
      </p:sp>
      <p:sp>
        <p:nvSpPr>
          <p:cNvPr id="6" name="Text 2">
            <a:extLst>
              <a:ext uri="{FF2B5EF4-FFF2-40B4-BE49-F238E27FC236}">
                <a16:creationId xmlns:a16="http://schemas.microsoft.com/office/drawing/2014/main" id="{E0814C2E-69CA-2340-9929-7116FBB4F313}"/>
              </a:ext>
            </a:extLst>
          </p:cNvPr>
          <p:cNvSpPr/>
          <p:nvPr/>
        </p:nvSpPr>
        <p:spPr>
          <a:xfrm>
            <a:off x="677839" y="2287003"/>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Chi tiết mô hình</a:t>
            </a:r>
            <a:endParaRPr lang="en-US" sz="2400" b="1" dirty="0"/>
          </a:p>
        </p:txBody>
      </p:sp>
      <p:pic>
        <p:nvPicPr>
          <p:cNvPr id="10" name="Picture 9">
            <a:extLst>
              <a:ext uri="{FF2B5EF4-FFF2-40B4-BE49-F238E27FC236}">
                <a16:creationId xmlns:a16="http://schemas.microsoft.com/office/drawing/2014/main" id="{3B1741E2-FB8C-CEFA-BDD2-7C673DAE92B3}"/>
              </a:ext>
            </a:extLst>
          </p:cNvPr>
          <p:cNvPicPr>
            <a:picLocks noChangeAspect="1"/>
          </p:cNvPicPr>
          <p:nvPr/>
        </p:nvPicPr>
        <p:blipFill>
          <a:blip r:embed="rId4"/>
          <a:stretch>
            <a:fillRect/>
          </a:stretch>
        </p:blipFill>
        <p:spPr>
          <a:xfrm>
            <a:off x="35854" y="5837350"/>
            <a:ext cx="7377923" cy="881909"/>
          </a:xfrm>
          <a:prstGeom prst="rect">
            <a:avLst/>
          </a:prstGeom>
        </p:spPr>
      </p:pic>
      <p:pic>
        <p:nvPicPr>
          <p:cNvPr id="2" name="Picture 1">
            <a:extLst>
              <a:ext uri="{FF2B5EF4-FFF2-40B4-BE49-F238E27FC236}">
                <a16:creationId xmlns:a16="http://schemas.microsoft.com/office/drawing/2014/main" id="{BC495917-9CCB-B512-6898-CA39632C56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70627" y="12402973"/>
            <a:ext cx="6417247" cy="4813441"/>
          </a:xfrm>
          <a:prstGeom prst="rect">
            <a:avLst/>
          </a:prstGeom>
        </p:spPr>
      </p:pic>
      <p:pic>
        <p:nvPicPr>
          <p:cNvPr id="5" name="Picture 4">
            <a:extLst>
              <a:ext uri="{FF2B5EF4-FFF2-40B4-BE49-F238E27FC236}">
                <a16:creationId xmlns:a16="http://schemas.microsoft.com/office/drawing/2014/main" id="{957BB9EA-0074-56E6-096E-02ABBF247154}"/>
              </a:ext>
            </a:extLst>
          </p:cNvPr>
          <p:cNvPicPr>
            <a:picLocks noChangeAspect="1"/>
          </p:cNvPicPr>
          <p:nvPr/>
        </p:nvPicPr>
        <p:blipFill>
          <a:blip r:embed="rId6"/>
          <a:stretch>
            <a:fillRect/>
          </a:stretch>
        </p:blipFill>
        <p:spPr>
          <a:xfrm>
            <a:off x="8949050" y="13655095"/>
            <a:ext cx="6370960" cy="4042702"/>
          </a:xfrm>
          <a:prstGeom prst="rect">
            <a:avLst/>
          </a:prstGeom>
        </p:spPr>
      </p:pic>
      <p:pic>
        <p:nvPicPr>
          <p:cNvPr id="8" name="Picture 7">
            <a:extLst>
              <a:ext uri="{FF2B5EF4-FFF2-40B4-BE49-F238E27FC236}">
                <a16:creationId xmlns:a16="http://schemas.microsoft.com/office/drawing/2014/main" id="{B92DE66B-45DF-2EF5-984A-722A438576B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02732" y="13503569"/>
            <a:ext cx="5940425" cy="3712845"/>
          </a:xfrm>
          <a:prstGeom prst="rect">
            <a:avLst/>
          </a:prstGeom>
        </p:spPr>
      </p:pic>
    </p:spTree>
    <p:extLst>
      <p:ext uri="{BB962C8B-B14F-4D97-AF65-F5344CB8AC3E}">
        <p14:creationId xmlns:p14="http://schemas.microsoft.com/office/powerpoint/2010/main" val="18927310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72C6-D4CE-4D70-BB25-0AE72D024E4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1346A69-5700-C636-2F93-5FD03FBF9176}"/>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7" name="Text 2">
            <a:extLst>
              <a:ext uri="{FF2B5EF4-FFF2-40B4-BE49-F238E27FC236}">
                <a16:creationId xmlns:a16="http://schemas.microsoft.com/office/drawing/2014/main" id="{B6CB4DB8-0289-C943-D823-351FCC4F9348}"/>
              </a:ext>
            </a:extLst>
          </p:cNvPr>
          <p:cNvSpPr/>
          <p:nvPr/>
        </p:nvSpPr>
        <p:spPr>
          <a:xfrm>
            <a:off x="455831" y="4102933"/>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4" name="Shape 1">
            <a:extLst>
              <a:ext uri="{FF2B5EF4-FFF2-40B4-BE49-F238E27FC236}">
                <a16:creationId xmlns:a16="http://schemas.microsoft.com/office/drawing/2014/main" id="{DEF77B35-36B7-E0E3-1C41-BF709DFEEAC2}"/>
              </a:ext>
            </a:extLst>
          </p:cNvPr>
          <p:cNvSpPr/>
          <p:nvPr/>
        </p:nvSpPr>
        <p:spPr>
          <a:xfrm>
            <a:off x="3611035" y="838829"/>
            <a:ext cx="6617073" cy="730046"/>
          </a:xfrm>
          <a:prstGeom prst="roundRect">
            <a:avLst>
              <a:gd name="adj" fmla="val 12013"/>
            </a:avLst>
          </a:prstGeom>
          <a:solidFill>
            <a:srgbClr val="F2EEEE"/>
          </a:solidFill>
          <a:ln/>
        </p:spPr>
        <p:txBody>
          <a:bodyPr/>
          <a:lstStyle/>
          <a:p>
            <a:endParaRPr lang="en-US"/>
          </a:p>
        </p:txBody>
      </p:sp>
      <p:sp>
        <p:nvSpPr>
          <p:cNvPr id="5" name="Text 3">
            <a:extLst>
              <a:ext uri="{FF2B5EF4-FFF2-40B4-BE49-F238E27FC236}">
                <a16:creationId xmlns:a16="http://schemas.microsoft.com/office/drawing/2014/main" id="{E7FBAD0F-7710-343E-8556-887FE8895F9D}"/>
              </a:ext>
            </a:extLst>
          </p:cNvPr>
          <p:cNvSpPr/>
          <p:nvPr/>
        </p:nvSpPr>
        <p:spPr>
          <a:xfrm>
            <a:off x="3998543" y="1034245"/>
            <a:ext cx="5859778" cy="391643"/>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Streamlit</a:t>
            </a:r>
          </a:p>
        </p:txBody>
      </p:sp>
      <p:sp>
        <p:nvSpPr>
          <p:cNvPr id="6" name="Text 2">
            <a:extLst>
              <a:ext uri="{FF2B5EF4-FFF2-40B4-BE49-F238E27FC236}">
                <a16:creationId xmlns:a16="http://schemas.microsoft.com/office/drawing/2014/main" id="{02AA9F2E-D0F1-08D5-7B49-F533A57FE700}"/>
              </a:ext>
            </a:extLst>
          </p:cNvPr>
          <p:cNvSpPr/>
          <p:nvPr/>
        </p:nvSpPr>
        <p:spPr>
          <a:xfrm>
            <a:off x="3764367" y="838829"/>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Thư viện hỗ trợ</a:t>
            </a:r>
            <a:endParaRPr lang="en-US" sz="2400" b="1" dirty="0"/>
          </a:p>
        </p:txBody>
      </p:sp>
      <p:pic>
        <p:nvPicPr>
          <p:cNvPr id="7" name="Picture 6">
            <a:extLst>
              <a:ext uri="{FF2B5EF4-FFF2-40B4-BE49-F238E27FC236}">
                <a16:creationId xmlns:a16="http://schemas.microsoft.com/office/drawing/2014/main" id="{86322D1D-B0A2-981A-D09D-939866EE6B1E}"/>
              </a:ext>
            </a:extLst>
          </p:cNvPr>
          <p:cNvPicPr>
            <a:picLocks noChangeAspect="1"/>
          </p:cNvPicPr>
          <p:nvPr/>
        </p:nvPicPr>
        <p:blipFill>
          <a:blip r:embed="rId3"/>
          <a:stretch>
            <a:fillRect/>
          </a:stretch>
        </p:blipFill>
        <p:spPr>
          <a:xfrm>
            <a:off x="291552" y="1833352"/>
            <a:ext cx="13273760" cy="5362003"/>
          </a:xfrm>
          <a:prstGeom prst="rect">
            <a:avLst/>
          </a:prstGeom>
        </p:spPr>
      </p:pic>
    </p:spTree>
    <p:extLst>
      <p:ext uri="{BB962C8B-B14F-4D97-AF65-F5344CB8AC3E}">
        <p14:creationId xmlns:p14="http://schemas.microsoft.com/office/powerpoint/2010/main" val="23603039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8A5B-BC92-2B0B-FD0B-EB9E8E6E890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4CFC23F-C3C8-B3F1-3EFD-3DAFFA244AEF}"/>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7" name="Text 2">
            <a:extLst>
              <a:ext uri="{FF2B5EF4-FFF2-40B4-BE49-F238E27FC236}">
                <a16:creationId xmlns:a16="http://schemas.microsoft.com/office/drawing/2014/main" id="{A7969983-42FC-048F-ED90-565BBF97F76F}"/>
              </a:ext>
            </a:extLst>
          </p:cNvPr>
          <p:cNvSpPr/>
          <p:nvPr/>
        </p:nvSpPr>
        <p:spPr>
          <a:xfrm>
            <a:off x="455831" y="4102933"/>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4" name="Shape 1">
            <a:extLst>
              <a:ext uri="{FF2B5EF4-FFF2-40B4-BE49-F238E27FC236}">
                <a16:creationId xmlns:a16="http://schemas.microsoft.com/office/drawing/2014/main" id="{43945806-DA30-E172-A800-3A3B89D802D9}"/>
              </a:ext>
            </a:extLst>
          </p:cNvPr>
          <p:cNvSpPr/>
          <p:nvPr/>
        </p:nvSpPr>
        <p:spPr>
          <a:xfrm>
            <a:off x="3611035" y="838829"/>
            <a:ext cx="6617073" cy="730046"/>
          </a:xfrm>
          <a:prstGeom prst="roundRect">
            <a:avLst>
              <a:gd name="adj" fmla="val 12013"/>
            </a:avLst>
          </a:prstGeom>
          <a:solidFill>
            <a:srgbClr val="F2EEEE"/>
          </a:solidFill>
          <a:ln/>
        </p:spPr>
        <p:txBody>
          <a:bodyPr/>
          <a:lstStyle/>
          <a:p>
            <a:endParaRPr lang="en-US"/>
          </a:p>
        </p:txBody>
      </p:sp>
      <p:sp>
        <p:nvSpPr>
          <p:cNvPr id="5" name="Text 3">
            <a:extLst>
              <a:ext uri="{FF2B5EF4-FFF2-40B4-BE49-F238E27FC236}">
                <a16:creationId xmlns:a16="http://schemas.microsoft.com/office/drawing/2014/main" id="{116AA3BB-F6FD-93C3-3A83-26C33BB33D57}"/>
              </a:ext>
            </a:extLst>
          </p:cNvPr>
          <p:cNvSpPr/>
          <p:nvPr/>
        </p:nvSpPr>
        <p:spPr>
          <a:xfrm>
            <a:off x="3998543" y="1034245"/>
            <a:ext cx="5859778" cy="391643"/>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Streamlit</a:t>
            </a:r>
          </a:p>
        </p:txBody>
      </p:sp>
      <p:sp>
        <p:nvSpPr>
          <p:cNvPr id="6" name="Text 2">
            <a:extLst>
              <a:ext uri="{FF2B5EF4-FFF2-40B4-BE49-F238E27FC236}">
                <a16:creationId xmlns:a16="http://schemas.microsoft.com/office/drawing/2014/main" id="{8D88084C-6FFC-50E7-6D70-BA81AEC3BF5D}"/>
              </a:ext>
            </a:extLst>
          </p:cNvPr>
          <p:cNvSpPr/>
          <p:nvPr/>
        </p:nvSpPr>
        <p:spPr>
          <a:xfrm>
            <a:off x="3764367" y="838829"/>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Thư viện hỗ trợ</a:t>
            </a:r>
            <a:endParaRPr lang="en-US" sz="2400" b="1" dirty="0"/>
          </a:p>
        </p:txBody>
      </p:sp>
      <p:pic>
        <p:nvPicPr>
          <p:cNvPr id="9" name="Picture 8">
            <a:extLst>
              <a:ext uri="{FF2B5EF4-FFF2-40B4-BE49-F238E27FC236}">
                <a16:creationId xmlns:a16="http://schemas.microsoft.com/office/drawing/2014/main" id="{0BF89570-BD0B-334B-0A7A-A718F42E5E62}"/>
              </a:ext>
            </a:extLst>
          </p:cNvPr>
          <p:cNvPicPr>
            <a:picLocks noChangeAspect="1"/>
          </p:cNvPicPr>
          <p:nvPr/>
        </p:nvPicPr>
        <p:blipFill>
          <a:blip r:embed="rId3"/>
          <a:stretch>
            <a:fillRect/>
          </a:stretch>
        </p:blipFill>
        <p:spPr>
          <a:xfrm>
            <a:off x="734760" y="1478051"/>
            <a:ext cx="13160880" cy="5273497"/>
          </a:xfrm>
          <a:prstGeom prst="rect">
            <a:avLst/>
          </a:prstGeom>
        </p:spPr>
      </p:pic>
    </p:spTree>
    <p:extLst>
      <p:ext uri="{BB962C8B-B14F-4D97-AF65-F5344CB8AC3E}">
        <p14:creationId xmlns:p14="http://schemas.microsoft.com/office/powerpoint/2010/main" val="15958253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5F71-56A9-FB76-01A7-4C87B4E5A53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CB4973D-40DF-BF1E-40B7-5C4BA87724BE}"/>
              </a:ext>
            </a:extLst>
          </p:cNvPr>
          <p:cNvSpPr/>
          <p:nvPr/>
        </p:nvSpPr>
        <p:spPr>
          <a:xfrm>
            <a:off x="148829" y="23106"/>
            <a:ext cx="14332981"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3.5 Gom cụm và huấn luyện </a:t>
            </a:r>
            <a:endParaRPr lang="en-US" sz="3550" b="1" dirty="0"/>
          </a:p>
        </p:txBody>
      </p:sp>
      <p:sp>
        <p:nvSpPr>
          <p:cNvPr id="17" name="Text 2">
            <a:extLst>
              <a:ext uri="{FF2B5EF4-FFF2-40B4-BE49-F238E27FC236}">
                <a16:creationId xmlns:a16="http://schemas.microsoft.com/office/drawing/2014/main" id="{F764EABA-AEA6-B9FF-8545-8501DD903BB1}"/>
              </a:ext>
            </a:extLst>
          </p:cNvPr>
          <p:cNvSpPr/>
          <p:nvPr/>
        </p:nvSpPr>
        <p:spPr>
          <a:xfrm>
            <a:off x="455831" y="4102933"/>
            <a:ext cx="4585577" cy="327474"/>
          </a:xfrm>
          <a:prstGeom prst="rect">
            <a:avLst/>
          </a:prstGeom>
          <a:noFill/>
          <a:ln/>
        </p:spPr>
        <p:txBody>
          <a:bodyPr wrap="none" lIns="0" tIns="0" rIns="0" bIns="0" rtlCol="0" anchor="t"/>
          <a:lstStyle/>
          <a:p>
            <a:pPr algn="ctr">
              <a:lnSpc>
                <a:spcPts val="2750"/>
              </a:lnSpc>
            </a:pPr>
            <a:endParaRPr lang="en-US" sz="2400" b="1" dirty="0"/>
          </a:p>
        </p:txBody>
      </p:sp>
      <p:sp>
        <p:nvSpPr>
          <p:cNvPr id="4" name="Shape 1">
            <a:extLst>
              <a:ext uri="{FF2B5EF4-FFF2-40B4-BE49-F238E27FC236}">
                <a16:creationId xmlns:a16="http://schemas.microsoft.com/office/drawing/2014/main" id="{D3046E10-D79D-C2AA-56B8-D89ED2925254}"/>
              </a:ext>
            </a:extLst>
          </p:cNvPr>
          <p:cNvSpPr/>
          <p:nvPr/>
        </p:nvSpPr>
        <p:spPr>
          <a:xfrm>
            <a:off x="3611035" y="838829"/>
            <a:ext cx="6617073" cy="730046"/>
          </a:xfrm>
          <a:prstGeom prst="roundRect">
            <a:avLst>
              <a:gd name="adj" fmla="val 12013"/>
            </a:avLst>
          </a:prstGeom>
          <a:solidFill>
            <a:srgbClr val="F2EEEE"/>
          </a:solidFill>
          <a:ln/>
        </p:spPr>
        <p:txBody>
          <a:bodyPr/>
          <a:lstStyle/>
          <a:p>
            <a:endParaRPr lang="en-US"/>
          </a:p>
        </p:txBody>
      </p:sp>
      <p:sp>
        <p:nvSpPr>
          <p:cNvPr id="5" name="Text 3">
            <a:extLst>
              <a:ext uri="{FF2B5EF4-FFF2-40B4-BE49-F238E27FC236}">
                <a16:creationId xmlns:a16="http://schemas.microsoft.com/office/drawing/2014/main" id="{303E4798-8BD9-5084-5CC8-2180FCB841A5}"/>
              </a:ext>
            </a:extLst>
          </p:cNvPr>
          <p:cNvSpPr/>
          <p:nvPr/>
        </p:nvSpPr>
        <p:spPr>
          <a:xfrm>
            <a:off x="3998543" y="1034245"/>
            <a:ext cx="5859778" cy="391643"/>
          </a:xfrm>
          <a:prstGeom prst="rect">
            <a:avLst/>
          </a:prstGeom>
          <a:noFill/>
          <a:ln/>
        </p:spPr>
        <p:txBody>
          <a:bodyPr wrap="square" lIns="0" tIns="0" rIns="0" bIns="0" rtlCol="0" anchor="t"/>
          <a:lstStyle/>
          <a:p>
            <a:pPr marL="342900" indent="-342900">
              <a:lnSpc>
                <a:spcPts val="2850"/>
              </a:lnSpc>
              <a:buFontTx/>
              <a:buChar char="-"/>
            </a:pPr>
            <a:r>
              <a:rPr lang="en-US" sz="2000">
                <a:solidFill>
                  <a:srgbClr val="464646"/>
                </a:solidFill>
                <a:latin typeface="Arimo Medium" pitchFamily="34" charset="0"/>
                <a:ea typeface="Arimo Medium" pitchFamily="34" charset="-122"/>
                <a:cs typeface="Arimo Medium" pitchFamily="34" charset="-120"/>
              </a:rPr>
              <a:t>Streamlit</a:t>
            </a:r>
          </a:p>
        </p:txBody>
      </p:sp>
      <p:sp>
        <p:nvSpPr>
          <p:cNvPr id="6" name="Text 2">
            <a:extLst>
              <a:ext uri="{FF2B5EF4-FFF2-40B4-BE49-F238E27FC236}">
                <a16:creationId xmlns:a16="http://schemas.microsoft.com/office/drawing/2014/main" id="{DCDB75C5-8D66-273A-9FB0-6B23E16A8A90}"/>
              </a:ext>
            </a:extLst>
          </p:cNvPr>
          <p:cNvSpPr/>
          <p:nvPr/>
        </p:nvSpPr>
        <p:spPr>
          <a:xfrm>
            <a:off x="3764367" y="838829"/>
            <a:ext cx="6093954" cy="323385"/>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Thư viện hỗ trợ</a:t>
            </a:r>
            <a:endParaRPr lang="en-US" sz="2400" b="1" dirty="0"/>
          </a:p>
        </p:txBody>
      </p:sp>
      <p:pic>
        <p:nvPicPr>
          <p:cNvPr id="2" name="Picture 1">
            <a:extLst>
              <a:ext uri="{FF2B5EF4-FFF2-40B4-BE49-F238E27FC236}">
                <a16:creationId xmlns:a16="http://schemas.microsoft.com/office/drawing/2014/main" id="{733C8604-F447-7551-8F1E-708C1C35883D}"/>
              </a:ext>
            </a:extLst>
          </p:cNvPr>
          <p:cNvPicPr>
            <a:picLocks noChangeAspect="1"/>
          </p:cNvPicPr>
          <p:nvPr/>
        </p:nvPicPr>
        <p:blipFill>
          <a:blip r:embed="rId3"/>
          <a:stretch>
            <a:fillRect/>
          </a:stretch>
        </p:blipFill>
        <p:spPr>
          <a:xfrm>
            <a:off x="561272" y="2199587"/>
            <a:ext cx="13083528" cy="5377732"/>
          </a:xfrm>
          <a:prstGeom prst="rect">
            <a:avLst/>
          </a:prstGeom>
        </p:spPr>
      </p:pic>
    </p:spTree>
    <p:extLst>
      <p:ext uri="{BB962C8B-B14F-4D97-AF65-F5344CB8AC3E}">
        <p14:creationId xmlns:p14="http://schemas.microsoft.com/office/powerpoint/2010/main" val="6126288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4344-2594-AE2C-E927-3AE17DE4AE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05CFFD-2033-8205-4760-270976CC5E50}"/>
              </a:ext>
            </a:extLst>
          </p:cNvPr>
          <p:cNvSpPr/>
          <p:nvPr/>
        </p:nvSpPr>
        <p:spPr>
          <a:xfrm>
            <a:off x="1" y="244906"/>
            <a:ext cx="14634210" cy="566976"/>
          </a:xfrm>
          <a:prstGeom prst="rect">
            <a:avLst/>
          </a:prstGeom>
          <a:noFill/>
          <a:ln/>
        </p:spPr>
        <p:txBody>
          <a:bodyPr wrap="none" lIns="0" tIns="0" rIns="0" bIns="0" rtlCol="0" anchor="t"/>
          <a:lstStyle/>
          <a:p>
            <a:pPr marL="0" indent="0" algn="ctr">
              <a:lnSpc>
                <a:spcPts val="4450"/>
              </a:lnSpc>
              <a:buNone/>
            </a:pPr>
            <a:r>
              <a:rPr lang="en-US" sz="3550" b="1">
                <a:solidFill>
                  <a:srgbClr val="030303"/>
                </a:solidFill>
                <a:latin typeface="Arimo Semi Bold" pitchFamily="34" charset="0"/>
                <a:ea typeface="Arimo Semi Bold" pitchFamily="34" charset="-122"/>
                <a:cs typeface="Arimo Semi Bold" pitchFamily="34" charset="-120"/>
              </a:rPr>
              <a:t>4. Kết luận</a:t>
            </a:r>
            <a:endParaRPr lang="en-US" sz="3550" b="1" dirty="0"/>
          </a:p>
        </p:txBody>
      </p:sp>
      <p:sp>
        <p:nvSpPr>
          <p:cNvPr id="15" name="Shape 1">
            <a:extLst>
              <a:ext uri="{FF2B5EF4-FFF2-40B4-BE49-F238E27FC236}">
                <a16:creationId xmlns:a16="http://schemas.microsoft.com/office/drawing/2014/main" id="{21596A30-7694-8F10-0888-A08850196839}"/>
              </a:ext>
            </a:extLst>
          </p:cNvPr>
          <p:cNvSpPr/>
          <p:nvPr/>
        </p:nvSpPr>
        <p:spPr>
          <a:xfrm>
            <a:off x="7679742" y="1029082"/>
            <a:ext cx="6625273" cy="6819518"/>
          </a:xfrm>
          <a:prstGeom prst="roundRect">
            <a:avLst>
              <a:gd name="adj" fmla="val 12013"/>
            </a:avLst>
          </a:prstGeom>
          <a:solidFill>
            <a:srgbClr val="F2EEEE"/>
          </a:solidFill>
          <a:ln/>
        </p:spPr>
        <p:txBody>
          <a:bodyPr/>
          <a:lstStyle/>
          <a:p>
            <a:endParaRPr lang="en-US"/>
          </a:p>
        </p:txBody>
      </p:sp>
      <p:sp>
        <p:nvSpPr>
          <p:cNvPr id="19" name="Text 2">
            <a:extLst>
              <a:ext uri="{FF2B5EF4-FFF2-40B4-BE49-F238E27FC236}">
                <a16:creationId xmlns:a16="http://schemas.microsoft.com/office/drawing/2014/main" id="{9AA5AF38-7781-0C66-7190-36F5C9CE7AFE}"/>
              </a:ext>
            </a:extLst>
          </p:cNvPr>
          <p:cNvSpPr/>
          <p:nvPr/>
        </p:nvSpPr>
        <p:spPr>
          <a:xfrm>
            <a:off x="8015003" y="1170050"/>
            <a:ext cx="6000080"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Các điểm chưa làm được / cần cải thiện</a:t>
            </a:r>
            <a:endParaRPr lang="en-US" sz="2400" b="1" dirty="0"/>
          </a:p>
        </p:txBody>
      </p:sp>
      <p:sp>
        <p:nvSpPr>
          <p:cNvPr id="20" name="Text 3">
            <a:extLst>
              <a:ext uri="{FF2B5EF4-FFF2-40B4-BE49-F238E27FC236}">
                <a16:creationId xmlns:a16="http://schemas.microsoft.com/office/drawing/2014/main" id="{1562DCB1-A5F6-3B0F-247E-DC32D7DFDEC5}"/>
              </a:ext>
            </a:extLst>
          </p:cNvPr>
          <p:cNvSpPr/>
          <p:nvPr/>
        </p:nvSpPr>
        <p:spPr>
          <a:xfrm>
            <a:off x="8015002" y="1660886"/>
            <a:ext cx="6000080" cy="4693616"/>
          </a:xfrm>
          <a:prstGeom prst="rect">
            <a:avLst/>
          </a:prstGeom>
          <a:noFill/>
          <a:ln/>
        </p:spPr>
        <p:txBody>
          <a:bodyPr wrap="square" lIns="0" tIns="0" rIns="0" bIns="0" rtlCol="0" anchor="t"/>
          <a:lstStyle/>
          <a:p>
            <a:pPr marL="342900" indent="-342900">
              <a:lnSpc>
                <a:spcPct val="150000"/>
              </a:lnSpc>
              <a:buFont typeface="Arial" panose="020B0604020202020204" pitchFamily="34" charset="0"/>
              <a:buChar char="•"/>
            </a:pPr>
            <a:r>
              <a:rPr lang="vi-VN" sz="2000">
                <a:solidFill>
                  <a:srgbClr val="464646"/>
                </a:solidFill>
                <a:latin typeface="Arimo Medium" pitchFamily="34" charset="0"/>
                <a:ea typeface="Arimo Medium" pitchFamily="34" charset="-122"/>
                <a:cs typeface="Arimo Medium" pitchFamily="34" charset="-120"/>
              </a:rPr>
              <a:t>Mở rộng bộ dữ liệu</a:t>
            </a:r>
            <a:r>
              <a:rPr lang="en-US" sz="2000">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Tập dữ liệu hiện tại chủ yếu tập trung mạnh ở phân khúc dưới 15 triệu. Để AI dự báo sắc nét hơn cần cào them</a:t>
            </a:r>
            <a:r>
              <a:rPr lang="en-US" sz="2000">
                <a:solidFill>
                  <a:srgbClr val="464646"/>
                </a:solidFill>
                <a:latin typeface="Arimo Medium" pitchFamily="34" charset="0"/>
                <a:ea typeface="Arimo Medium" pitchFamily="34" charset="-122"/>
                <a:cs typeface="Arimo Medium" pitchFamily="34" charset="-120"/>
              </a:rPr>
              <a:t> nhiều</a:t>
            </a:r>
            <a:r>
              <a:rPr lang="vi-VN" sz="2000">
                <a:solidFill>
                  <a:srgbClr val="464646"/>
                </a:solidFill>
                <a:latin typeface="Arimo Medium" pitchFamily="34" charset="0"/>
                <a:ea typeface="Arimo Medium" pitchFamily="34" charset="-122"/>
                <a:cs typeface="Arimo Medium" pitchFamily="34" charset="-120"/>
              </a:rPr>
              <a:t> dữ liệu </a:t>
            </a:r>
            <a:r>
              <a:rPr lang="en-US" sz="2000">
                <a:solidFill>
                  <a:srgbClr val="464646"/>
                </a:solidFill>
                <a:latin typeface="Arimo Medium" pitchFamily="34" charset="0"/>
                <a:ea typeface="Arimo Medium" pitchFamily="34" charset="-122"/>
                <a:cs typeface="Arimo Medium" pitchFamily="34" charset="-120"/>
              </a:rPr>
              <a:t>hơn.</a:t>
            </a:r>
          </a:p>
          <a:p>
            <a:pPr marL="342900" indent="-342900">
              <a:lnSpc>
                <a:spcPct val="150000"/>
              </a:lnSpc>
              <a:buFont typeface="Arial" panose="020B0604020202020204" pitchFamily="34" charset="0"/>
              <a:buChar char="•"/>
            </a:pPr>
            <a:r>
              <a:rPr lang="vi-VN" sz="2000">
                <a:solidFill>
                  <a:srgbClr val="464646"/>
                </a:solidFill>
                <a:latin typeface="Arimo Medium" pitchFamily="34" charset="0"/>
                <a:ea typeface="Arimo Medium" pitchFamily="34" charset="-122"/>
                <a:cs typeface="Arimo Medium" pitchFamily="34" charset="-120"/>
              </a:rPr>
              <a:t>Thiếu phân tích Cảm xúc: Hiện tại nhóm </a:t>
            </a:r>
            <a:r>
              <a:rPr lang="en-US" sz="2000">
                <a:solidFill>
                  <a:srgbClr val="464646"/>
                </a:solidFill>
                <a:latin typeface="Arimo Medium" pitchFamily="34" charset="0"/>
                <a:ea typeface="Arimo Medium" pitchFamily="34" charset="-122"/>
                <a:cs typeface="Arimo Medium" pitchFamily="34" charset="-120"/>
              </a:rPr>
              <a:t>chưa thể </a:t>
            </a:r>
            <a:r>
              <a:rPr lang="vi-VN" sz="2000">
                <a:solidFill>
                  <a:srgbClr val="464646"/>
                </a:solidFill>
                <a:latin typeface="Arimo Medium" pitchFamily="34" charset="0"/>
                <a:ea typeface="Arimo Medium" pitchFamily="34" charset="-122"/>
                <a:cs typeface="Arimo Medium" pitchFamily="34" charset="-120"/>
              </a:rPr>
              <a:t>chạy các mô hình NLP (Xử lý ngôn ngữ tự nhiên), giúp hiểu rõ khách hàng chê máy Cụm 2 ở điểm nào (camera, pin, hay thái độ shop)</a:t>
            </a:r>
            <a:r>
              <a:rPr lang="en-US" sz="2000">
                <a:solidFill>
                  <a:srgbClr val="464646"/>
                </a:solidFill>
                <a:latin typeface="Arimo Medium" pitchFamily="34" charset="0"/>
                <a:ea typeface="Arimo Medium" pitchFamily="34" charset="-122"/>
                <a:cs typeface="Arimo Medium" pitchFamily="34" charset="-120"/>
              </a:rPr>
              <a:t>, từ đó có những kế hoạch marketing tốt hơn.</a:t>
            </a:r>
            <a:endParaRPr lang="vi-VN" sz="2000">
              <a:solidFill>
                <a:srgbClr val="464646"/>
              </a:solidFill>
              <a:latin typeface="Arimo Medium" pitchFamily="34" charset="0"/>
              <a:ea typeface="Arimo Medium" pitchFamily="34" charset="-122"/>
              <a:cs typeface="Arimo Medium" pitchFamily="34" charset="-120"/>
            </a:endParaRPr>
          </a:p>
        </p:txBody>
      </p:sp>
      <p:sp>
        <p:nvSpPr>
          <p:cNvPr id="3" name="Shape 1">
            <a:extLst>
              <a:ext uri="{FF2B5EF4-FFF2-40B4-BE49-F238E27FC236}">
                <a16:creationId xmlns:a16="http://schemas.microsoft.com/office/drawing/2014/main" id="{A2D14FC6-3605-97C8-9560-26F759FCBF0C}"/>
              </a:ext>
            </a:extLst>
          </p:cNvPr>
          <p:cNvSpPr/>
          <p:nvPr/>
        </p:nvSpPr>
        <p:spPr>
          <a:xfrm>
            <a:off x="442620" y="1902099"/>
            <a:ext cx="6625273" cy="4589398"/>
          </a:xfrm>
          <a:prstGeom prst="roundRect">
            <a:avLst>
              <a:gd name="adj" fmla="val 12013"/>
            </a:avLst>
          </a:prstGeom>
          <a:solidFill>
            <a:srgbClr val="F2EEEE"/>
          </a:solidFill>
          <a:ln/>
        </p:spPr>
        <p:txBody>
          <a:bodyPr/>
          <a:lstStyle/>
          <a:p>
            <a:endParaRPr lang="en-US"/>
          </a:p>
        </p:txBody>
      </p:sp>
      <p:sp>
        <p:nvSpPr>
          <p:cNvPr id="5" name="Text 2">
            <a:extLst>
              <a:ext uri="{FF2B5EF4-FFF2-40B4-BE49-F238E27FC236}">
                <a16:creationId xmlns:a16="http://schemas.microsoft.com/office/drawing/2014/main" id="{96C8B709-46B5-FFF3-91A7-667918C77EA5}"/>
              </a:ext>
            </a:extLst>
          </p:cNvPr>
          <p:cNvSpPr/>
          <p:nvPr/>
        </p:nvSpPr>
        <p:spPr>
          <a:xfrm>
            <a:off x="777881" y="2065799"/>
            <a:ext cx="6000080" cy="327474"/>
          </a:xfrm>
          <a:prstGeom prst="rect">
            <a:avLst/>
          </a:prstGeom>
          <a:noFill/>
          <a:ln/>
        </p:spPr>
        <p:txBody>
          <a:bodyPr wrap="none" lIns="0" tIns="0" rIns="0" bIns="0" rtlCol="0" anchor="t"/>
          <a:lstStyle/>
          <a:p>
            <a:pPr algn="ctr">
              <a:lnSpc>
                <a:spcPts val="2750"/>
              </a:lnSpc>
            </a:pPr>
            <a:r>
              <a:rPr lang="en-US" sz="2400" b="1">
                <a:solidFill>
                  <a:srgbClr val="464646"/>
                </a:solidFill>
                <a:latin typeface="Arimo Medium" pitchFamily="34" charset="0"/>
                <a:ea typeface="Arimo Medium" pitchFamily="34" charset="-122"/>
                <a:cs typeface="Arimo Medium" pitchFamily="34" charset="-120"/>
              </a:rPr>
              <a:t>Những điểm nhóm đã làm được</a:t>
            </a:r>
            <a:endParaRPr lang="vi-VN" sz="2400" b="1">
              <a:solidFill>
                <a:srgbClr val="464646"/>
              </a:solidFill>
              <a:latin typeface="Arimo Medium" pitchFamily="34" charset="0"/>
              <a:ea typeface="Arimo Medium" pitchFamily="34" charset="-122"/>
              <a:cs typeface="Arimo Medium" pitchFamily="34" charset="-120"/>
            </a:endParaRPr>
          </a:p>
        </p:txBody>
      </p:sp>
      <p:sp>
        <p:nvSpPr>
          <p:cNvPr id="6" name="Text 3">
            <a:extLst>
              <a:ext uri="{FF2B5EF4-FFF2-40B4-BE49-F238E27FC236}">
                <a16:creationId xmlns:a16="http://schemas.microsoft.com/office/drawing/2014/main" id="{D429DBD5-A94A-D67A-0ABC-0FA14B241E08}"/>
              </a:ext>
            </a:extLst>
          </p:cNvPr>
          <p:cNvSpPr/>
          <p:nvPr/>
        </p:nvSpPr>
        <p:spPr>
          <a:xfrm>
            <a:off x="615320" y="2533902"/>
            <a:ext cx="6000080" cy="440463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Pipeline hoàn chỉnh</a:t>
            </a:r>
            <a:r>
              <a:rPr lang="vi-VN" sz="2000">
                <a:solidFill>
                  <a:srgbClr val="464646"/>
                </a:solidFill>
                <a:latin typeface="Arimo Medium" pitchFamily="34" charset="0"/>
                <a:ea typeface="Arimo Medium" pitchFamily="34" charset="-122"/>
                <a:cs typeface="Arimo Medium" pitchFamily="34" charset="-120"/>
              </a:rPr>
              <a:t>: Xây dựng luồng AI thực chiến (Làm sạch -&gt; Giảm chiều dữ liệu PCA/MCA -&gt; Phân cụm K-Means không giám sát -&gt; Huấn luyện dự báo Random Forest có giám sát.</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Dữ liệu thậ</a:t>
            </a:r>
            <a:r>
              <a:rPr lang="en-US" sz="2000" b="1">
                <a:solidFill>
                  <a:srgbClr val="464646"/>
                </a:solidFill>
                <a:latin typeface="Arimo Medium" pitchFamily="34" charset="0"/>
                <a:ea typeface="Arimo Medium" pitchFamily="34" charset="-122"/>
                <a:cs typeface="Arimo Medium" pitchFamily="34" charset="-120"/>
              </a:rPr>
              <a:t>t</a:t>
            </a:r>
            <a:r>
              <a:rPr lang="vi-VN" sz="2000" b="1">
                <a:solidFill>
                  <a:srgbClr val="464646"/>
                </a:solidFill>
                <a:latin typeface="Arimo Medium" pitchFamily="34" charset="0"/>
                <a:ea typeface="Arimo Medium" pitchFamily="34" charset="-122"/>
                <a:cs typeface="Arimo Medium" pitchFamily="34" charset="-120"/>
              </a:rPr>
              <a:t>. </a:t>
            </a:r>
            <a:r>
              <a:rPr lang="vi-VN" sz="2000">
                <a:solidFill>
                  <a:srgbClr val="464646"/>
                </a:solidFill>
                <a:latin typeface="Arimo Medium" pitchFamily="34" charset="0"/>
                <a:ea typeface="Arimo Medium" pitchFamily="34" charset="-122"/>
                <a:cs typeface="Arimo Medium" pitchFamily="34" charset="-120"/>
              </a:rPr>
              <a:t>Nhóm đã xử lý dữ liệu Shopee thực tế nhiều nhiễu</a:t>
            </a:r>
            <a:endParaRPr lang="en-US" sz="2000">
              <a:solidFill>
                <a:srgbClr val="464646"/>
              </a:solidFill>
              <a:latin typeface="Arimo Medium" pitchFamily="34" charset="0"/>
              <a:ea typeface="Arimo Medium" pitchFamily="34" charset="-122"/>
              <a:cs typeface="Arimo Medium" pitchFamily="34" charset="-120"/>
            </a:endParaRPr>
          </a:p>
          <a:p>
            <a:pPr marL="342900" indent="-342900" algn="just">
              <a:lnSpc>
                <a:spcPct val="150000"/>
              </a:lnSpc>
              <a:buFont typeface="Arial" panose="020B0604020202020204" pitchFamily="34" charset="0"/>
              <a:buChar char="•"/>
            </a:pPr>
            <a:r>
              <a:rPr lang="vi-VN" sz="2000" b="1">
                <a:solidFill>
                  <a:srgbClr val="464646"/>
                </a:solidFill>
                <a:latin typeface="Arimo Medium" pitchFamily="34" charset="0"/>
                <a:ea typeface="Arimo Medium" pitchFamily="34" charset="-122"/>
                <a:cs typeface="Arimo Medium" pitchFamily="34" charset="-120"/>
              </a:rPr>
              <a:t>Tính ứng dụng</a:t>
            </a:r>
            <a:r>
              <a:rPr lang="vi-VN" sz="2000">
                <a:solidFill>
                  <a:srgbClr val="464646"/>
                </a:solidFill>
                <a:latin typeface="Arimo Medium" pitchFamily="34" charset="0"/>
                <a:ea typeface="Arimo Medium" pitchFamily="34" charset="-122"/>
                <a:cs typeface="Arimo Medium" pitchFamily="34" charset="-120"/>
              </a:rPr>
              <a:t>: </a:t>
            </a:r>
            <a:r>
              <a:rPr lang="en-US" sz="2000">
                <a:solidFill>
                  <a:srgbClr val="464646"/>
                </a:solidFill>
                <a:latin typeface="Arimo Medium" pitchFamily="34" charset="0"/>
                <a:ea typeface="Arimo Medium" pitchFamily="34" charset="-122"/>
                <a:cs typeface="Arimo Medium" pitchFamily="34" charset="-120"/>
              </a:rPr>
              <a:t>Triển khai g</a:t>
            </a:r>
            <a:r>
              <a:rPr lang="vi-VN" sz="2000">
                <a:solidFill>
                  <a:srgbClr val="464646"/>
                </a:solidFill>
                <a:latin typeface="Arimo Medium" pitchFamily="34" charset="0"/>
                <a:ea typeface="Arimo Medium" pitchFamily="34" charset="-122"/>
                <a:cs typeface="Arimo Medium" pitchFamily="34" charset="-120"/>
              </a:rPr>
              <a:t>iao diện</a:t>
            </a:r>
            <a:r>
              <a:rPr lang="en-US" sz="2000">
                <a:solidFill>
                  <a:srgbClr val="464646"/>
                </a:solidFill>
                <a:latin typeface="Arimo Medium" pitchFamily="34" charset="0"/>
                <a:ea typeface="Arimo Medium" pitchFamily="34" charset="-122"/>
                <a:cs typeface="Arimo Medium" pitchFamily="34" charset="-120"/>
              </a:rPr>
              <a:t> UI nhập input để </a:t>
            </a:r>
            <a:r>
              <a:rPr lang="vi-VN" sz="2000">
                <a:solidFill>
                  <a:srgbClr val="464646"/>
                </a:solidFill>
                <a:latin typeface="Arimo Medium" pitchFamily="34" charset="0"/>
                <a:ea typeface="Arimo Medium" pitchFamily="34" charset="-122"/>
                <a:cs typeface="Arimo Medium" pitchFamily="34" charset="-120"/>
              </a:rPr>
              <a:t>dự báo. </a:t>
            </a:r>
          </a:p>
        </p:txBody>
      </p:sp>
    </p:spTree>
    <p:extLst>
      <p:ext uri="{BB962C8B-B14F-4D97-AF65-F5344CB8AC3E}">
        <p14:creationId xmlns:p14="http://schemas.microsoft.com/office/powerpoint/2010/main" val="181772253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3DC5-208C-7553-28B1-4F7CE7DF2D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AECEE-1E26-1E45-33C4-5E60D8A70DBC}"/>
              </a:ext>
            </a:extLst>
          </p:cNvPr>
          <p:cNvSpPr/>
          <p:nvPr/>
        </p:nvSpPr>
        <p:spPr>
          <a:xfrm>
            <a:off x="1" y="244906"/>
            <a:ext cx="14634210" cy="566976"/>
          </a:xfrm>
          <a:prstGeom prst="rect">
            <a:avLst/>
          </a:prstGeom>
          <a:noFill/>
          <a:ln/>
        </p:spPr>
        <p:txBody>
          <a:bodyPr wrap="none" lIns="0" tIns="0" rIns="0" bIns="0" rtlCol="0" anchor="t"/>
          <a:lstStyle/>
          <a:p>
            <a:pPr marL="0" indent="0" algn="ctr">
              <a:lnSpc>
                <a:spcPts val="4450"/>
              </a:lnSpc>
              <a:buNone/>
            </a:pPr>
            <a:r>
              <a:rPr lang="vi-VN" sz="3550" b="1" dirty="0">
                <a:solidFill>
                  <a:srgbClr val="030303"/>
                </a:solidFill>
                <a:latin typeface="Arimo Semi Bold" pitchFamily="34" charset="0"/>
                <a:ea typeface="Arimo Semi Bold" pitchFamily="34" charset="-122"/>
                <a:cs typeface="Arimo Semi Bold" pitchFamily="34" charset="-120"/>
              </a:rPr>
              <a:t>Tài liệu tham khảo</a:t>
            </a:r>
            <a:endParaRPr lang="en-US" sz="3550" b="1" dirty="0"/>
          </a:p>
        </p:txBody>
      </p:sp>
      <p:sp>
        <p:nvSpPr>
          <p:cNvPr id="3" name="Shape 1">
            <a:extLst>
              <a:ext uri="{FF2B5EF4-FFF2-40B4-BE49-F238E27FC236}">
                <a16:creationId xmlns:a16="http://schemas.microsoft.com/office/drawing/2014/main" id="{61804306-04C6-1A2E-F3CE-4D076E2A7D05}"/>
              </a:ext>
            </a:extLst>
          </p:cNvPr>
          <p:cNvSpPr/>
          <p:nvPr/>
        </p:nvSpPr>
        <p:spPr>
          <a:xfrm>
            <a:off x="4122903" y="1820101"/>
            <a:ext cx="6625273" cy="2767139"/>
          </a:xfrm>
          <a:prstGeom prst="roundRect">
            <a:avLst>
              <a:gd name="adj" fmla="val 12013"/>
            </a:avLst>
          </a:prstGeom>
          <a:solidFill>
            <a:srgbClr val="F2EEEE"/>
          </a:solidFill>
          <a:ln/>
        </p:spPr>
        <p:txBody>
          <a:bodyPr/>
          <a:lstStyle/>
          <a:p>
            <a:endParaRPr lang="en-US"/>
          </a:p>
        </p:txBody>
      </p:sp>
      <p:sp>
        <p:nvSpPr>
          <p:cNvPr id="6" name="Text 3">
            <a:extLst>
              <a:ext uri="{FF2B5EF4-FFF2-40B4-BE49-F238E27FC236}">
                <a16:creationId xmlns:a16="http://schemas.microsoft.com/office/drawing/2014/main" id="{AAC4BDF9-C228-5426-74FA-5D5790B68680}"/>
              </a:ext>
            </a:extLst>
          </p:cNvPr>
          <p:cNvSpPr/>
          <p:nvPr/>
        </p:nvSpPr>
        <p:spPr>
          <a:xfrm>
            <a:off x="4435499" y="2533903"/>
            <a:ext cx="6000080" cy="17028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vi-VN" sz="2000" dirty="0">
                <a:solidFill>
                  <a:srgbClr val="464646"/>
                </a:solidFill>
                <a:latin typeface="Arimo Medium" pitchFamily="34" charset="0"/>
                <a:ea typeface="Arimo Medium" pitchFamily="34" charset="-122"/>
                <a:cs typeface="Arimo Medium" pitchFamily="34" charset="-120"/>
              </a:rPr>
              <a:t>Dataset: Kaggle</a:t>
            </a:r>
          </a:p>
          <a:p>
            <a:pPr marL="342900" indent="-342900" algn="just">
              <a:lnSpc>
                <a:spcPct val="150000"/>
              </a:lnSpc>
              <a:buFont typeface="Arial" panose="020B0604020202020204" pitchFamily="34" charset="0"/>
              <a:buChar char="•"/>
            </a:pPr>
            <a:r>
              <a:rPr lang="vi-VN" sz="2000" dirty="0">
                <a:solidFill>
                  <a:srgbClr val="464646"/>
                </a:solidFill>
                <a:latin typeface="Arimo Medium" pitchFamily="34" charset="0"/>
                <a:ea typeface="Arimo Medium" pitchFamily="34" charset="-122"/>
                <a:cs typeface="Arimo Medium" pitchFamily="34" charset="-120"/>
              </a:rPr>
              <a:t>Các slide bài giảng của giảng viên, các bài tập thực hành. </a:t>
            </a:r>
          </a:p>
        </p:txBody>
      </p:sp>
    </p:spTree>
    <p:extLst>
      <p:ext uri="{BB962C8B-B14F-4D97-AF65-F5344CB8AC3E}">
        <p14:creationId xmlns:p14="http://schemas.microsoft.com/office/powerpoint/2010/main" val="15975544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2E9AEBC-49CE-8C4F-1D55-ABABEF68BF70}"/>
              </a:ext>
            </a:extLst>
          </p:cNvPr>
          <p:cNvSpPr/>
          <p:nvPr/>
        </p:nvSpPr>
        <p:spPr>
          <a:xfrm>
            <a:off x="0" y="3342529"/>
            <a:ext cx="14630400" cy="1544542"/>
          </a:xfrm>
          <a:prstGeom prst="rect">
            <a:avLst/>
          </a:prstGeom>
          <a:noFill/>
          <a:ln/>
        </p:spPr>
        <p:txBody>
          <a:bodyPr wrap="none" lIns="0" tIns="0" rIns="0" bIns="0" rtlCol="0" anchor="t"/>
          <a:lstStyle/>
          <a:p>
            <a:pPr marL="0" indent="0" algn="ctr">
              <a:lnSpc>
                <a:spcPts val="5550"/>
              </a:lnSpc>
              <a:buNone/>
            </a:pPr>
            <a:r>
              <a:rPr lang="en-US" sz="4450" b="1">
                <a:solidFill>
                  <a:srgbClr val="030303"/>
                </a:solidFill>
                <a:latin typeface="Arimo Semi Bold" pitchFamily="34" charset="0"/>
                <a:ea typeface="Arimo Semi Bold" pitchFamily="34" charset="-122"/>
                <a:cs typeface="Arimo Semi Bold" pitchFamily="34" charset="-120"/>
              </a:rPr>
              <a:t>Cảm ơn Cô và các bạn đã chú ý lắng nghe!</a:t>
            </a:r>
          </a:p>
        </p:txBody>
      </p:sp>
    </p:spTree>
    <p:extLst>
      <p:ext uri="{BB962C8B-B14F-4D97-AF65-F5344CB8AC3E}">
        <p14:creationId xmlns:p14="http://schemas.microsoft.com/office/powerpoint/2010/main" val="12620915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1117</TotalTime>
  <Words>2943</Words>
  <Application>Microsoft Office PowerPoint</Application>
  <PresentationFormat>Custom</PresentationFormat>
  <Paragraphs>297</Paragraphs>
  <Slides>37</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Aptos</vt:lpstr>
      <vt:lpstr>Lato Light</vt:lpstr>
      <vt:lpstr>Arimo Semi Bold</vt:lpstr>
      <vt:lpstr>Lato</vt:lpstr>
      <vt:lpstr>Symbol</vt:lpstr>
      <vt:lpstr>Lato Bold</vt:lpstr>
      <vt:lpstr>Wingdings</vt:lpstr>
      <vt:lpstr>Arimo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Tuấn Anh</cp:lastModifiedBy>
  <cp:revision>52</cp:revision>
  <dcterms:created xsi:type="dcterms:W3CDTF">2026-04-16T12:58:21Z</dcterms:created>
  <dcterms:modified xsi:type="dcterms:W3CDTF">2026-05-01T23:18:04Z</dcterms:modified>
</cp:coreProperties>
</file>