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handoutMasterIdLst>
    <p:handoutMasterId r:id="rId25"/>
  </p:handoutMasterIdLst>
  <p:sldIdLst>
    <p:sldId id="256" r:id="rId2"/>
    <p:sldId id="267" r:id="rId3"/>
    <p:sldId id="257" r:id="rId4"/>
    <p:sldId id="281" r:id="rId5"/>
    <p:sldId id="304" r:id="rId6"/>
    <p:sldId id="313" r:id="rId7"/>
    <p:sldId id="314" r:id="rId8"/>
    <p:sldId id="315" r:id="rId9"/>
    <p:sldId id="305" r:id="rId10"/>
    <p:sldId id="316" r:id="rId11"/>
    <p:sldId id="291" r:id="rId12"/>
    <p:sldId id="317" r:id="rId13"/>
    <p:sldId id="318" r:id="rId14"/>
    <p:sldId id="319" r:id="rId15"/>
    <p:sldId id="320" r:id="rId16"/>
    <p:sldId id="321" r:id="rId17"/>
    <p:sldId id="322" r:id="rId18"/>
    <p:sldId id="323" r:id="rId19"/>
    <p:sldId id="324" r:id="rId20"/>
    <p:sldId id="325" r:id="rId21"/>
    <p:sldId id="312" r:id="rId22"/>
    <p:sldId id="277" r:id="rId23"/>
  </p:sldIdLst>
  <p:sldSz cx="14630400" cy="8229600"/>
  <p:notesSz cx="8229600" cy="14630400"/>
  <p:embeddedFontLst>
    <p:embeddedFont>
      <p:font typeface="Arimo Medium" panose="020B0604020202020204" charset="0"/>
      <p:regular r:id="rId26"/>
    </p:embeddedFont>
    <p:embeddedFont>
      <p:font typeface="Arimo Semi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24" autoAdjust="0"/>
    <p:restoredTop sz="94610"/>
  </p:normalViewPr>
  <p:slideViewPr>
    <p:cSldViewPr snapToGrid="0" snapToObjects="1">
      <p:cViewPr>
        <p:scale>
          <a:sx n="66" d="100"/>
          <a:sy n="66" d="100"/>
        </p:scale>
        <p:origin x="1003"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829BB6B-058E-4A01-B93B-AEA259F295A5}"/>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C069DE-B1F6-C9E1-14B8-1437A327DF42}"/>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C58B6E47-9018-45E5-9ABF-83088785E00A}" type="datetimeFigureOut">
              <a:rPr lang="en-US" smtClean="0"/>
              <a:t>04/24/26</a:t>
            </a:fld>
            <a:endParaRPr lang="en-US"/>
          </a:p>
        </p:txBody>
      </p:sp>
      <p:sp>
        <p:nvSpPr>
          <p:cNvPr id="4" name="Footer Placeholder 3">
            <a:extLst>
              <a:ext uri="{FF2B5EF4-FFF2-40B4-BE49-F238E27FC236}">
                <a16:creationId xmlns:a16="http://schemas.microsoft.com/office/drawing/2014/main" id="{25A1AEC7-9472-2710-1970-D3FC17E4A856}"/>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864914D-2B3C-D2C8-99AF-CC0381CE633E}"/>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3C3DBA55-FFDC-4821-AC1D-577E0407E2B3}" type="slidenum">
              <a:rPr lang="en-US" smtClean="0"/>
              <a:t>‹#›</a:t>
            </a:fld>
            <a:endParaRPr lang="en-US"/>
          </a:p>
        </p:txBody>
      </p:sp>
    </p:spTree>
    <p:extLst>
      <p:ext uri="{BB962C8B-B14F-4D97-AF65-F5344CB8AC3E}">
        <p14:creationId xmlns:p14="http://schemas.microsoft.com/office/powerpoint/2010/main" val="251413025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31083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B398C-D2BC-C383-BCD0-55AA3B5C1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E9500-3C85-8868-2440-2C25E5CE5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C25E5-DCF1-A4E4-2738-EC7972CDCB3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5364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3C7E3-F9A6-F9CE-71D9-717D4CD71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C75F5-3EA1-A1BA-4058-D4AB27470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35246-28F0-0217-0CF8-A1F0F1FCD3B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79377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FC1D9-30C3-6B37-4942-E2EABE3BE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66A84-AAB2-F9FC-6E8F-E1A62E167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EA4CB-AC1E-E052-8AFC-38EF4744CA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7313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7BEEC-B640-94AD-1C62-372A535B1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A6B98-365E-AA2F-C98E-07D3F35B8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A0742-5C82-A865-072A-97B636B0E93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60919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F6D1C-B101-F159-5652-EF8183644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3F6A0-6C41-B133-74FC-8C209EB73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4F426-9F76-88B8-2A27-2FE22681F21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38485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098FD-BBDC-6A11-4623-C58355324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CBF1F-3838-C30D-7281-D0359D93B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CCC6C-0D0F-851D-E8DB-5D8CEB18D7A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4189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270BC-A2F0-4993-6273-E969036FB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F9023-E1F6-1550-0871-BF88A829B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CA8FF9-C4E6-3C39-BDE8-F38A599FE6F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104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35681-D355-CB8F-19FF-5C2D6A79B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47D45-3810-A12A-2490-FDD0726CD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24BCC-FEEF-CE9A-D432-CB17C617566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0631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97680-D328-1256-A69C-AA1A3849D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699E0-1080-2BF3-A485-30DACB6C7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1351E-2C02-BD24-868C-E8C8130C1C6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5479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ED25-8D6E-B349-9713-0622585AF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8B475-FA0C-7D84-A590-95FF2DCBBC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CBEA2-E5DF-3462-4135-B973CAB9A9B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13226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4B1C9-2145-BCA4-6104-B719C4515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E0D32-1C87-AAA2-B032-390333CA7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9AEC2-2950-0F10-5BCC-F56F36B9987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5823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21F72-F9EC-9114-0CCC-6ADBDD0C3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3B69C-C456-BBB9-5077-49D67E757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635AC-FB82-7C5B-F825-9D4CE696ED9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0709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DACB2-2F50-F7C3-B539-862CC3112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C430D-56EC-16BF-513A-BDC051E0F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5DB66-B4FB-B553-0D12-39ECB66F24C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6732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8CF92-72F3-712B-6D7E-0E810CC63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ADAA0-90B9-C316-9A76-C38E9F167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3FD99-66AB-4FAD-5076-E983D678F4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0281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ED1F9-3119-43FD-7F37-17034BD04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82DD3-5CD5-6335-4BE6-FE50AE222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E42C4-BAF3-4A2B-589B-B4B1F778682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7553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38333-6CBA-4435-3187-61F25B440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D479E-7DE8-BDEA-9C0C-D215BABAE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01470-2995-5F92-53BA-84F4FFCE132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62044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00805-E218-9C8C-90A1-0B9253237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D1EE7-4C47-C79E-F70D-94CA25531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A9CCB-D86D-3258-EAF2-B0661E77105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59534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8427A-A867-CA00-C911-C9C747818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C61EF-8A02-44A5-18A2-4FFA1825B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8185F-3831-786A-3D95-1D61F377E47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28734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45327" y="770508"/>
            <a:ext cx="14195503" cy="2126337"/>
          </a:xfrm>
          <a:prstGeom prst="rect">
            <a:avLst/>
          </a:prstGeom>
          <a:noFill/>
          <a:ln/>
        </p:spPr>
        <p:txBody>
          <a:bodyPr wrap="square" lIns="0" tIns="0" rIns="0" bIns="0" rtlCol="0" anchor="t"/>
          <a:lstStyle/>
          <a:p>
            <a:pPr marL="0" indent="0" algn="r">
              <a:lnSpc>
                <a:spcPts val="5550"/>
              </a:lnSpc>
              <a:buNone/>
            </a:pPr>
            <a:r>
              <a:rPr lang="en-US" sz="4450" b="1" dirty="0">
                <a:solidFill>
                  <a:srgbClr val="030303"/>
                </a:solidFill>
                <a:latin typeface="Arimo Semi Bold" pitchFamily="34" charset="0"/>
                <a:ea typeface="Arimo Semi Bold" pitchFamily="34" charset="-122"/>
                <a:cs typeface="Arimo Semi Bold" pitchFamily="34" charset="-120"/>
              </a:rPr>
              <a:t>Báo </a:t>
            </a:r>
            <a:r>
              <a:rPr lang="en-US" sz="4450" b="1">
                <a:solidFill>
                  <a:srgbClr val="030303"/>
                </a:solidFill>
                <a:latin typeface="Arimo Semi Bold" pitchFamily="34" charset="0"/>
                <a:ea typeface="Arimo Semi Bold" pitchFamily="34" charset="-122"/>
                <a:cs typeface="Arimo Semi Bold" pitchFamily="34" charset="-120"/>
              </a:rPr>
              <a:t>cáo dự án: </a:t>
            </a:r>
          </a:p>
          <a:p>
            <a:pPr algn="r">
              <a:lnSpc>
                <a:spcPts val="5550"/>
              </a:lnSpc>
            </a:pPr>
            <a:r>
              <a:rPr lang="vi-VN" sz="4450">
                <a:solidFill>
                  <a:srgbClr val="030303"/>
                </a:solidFill>
                <a:latin typeface="Arimo Semi Bold" pitchFamily="34" charset="0"/>
                <a:ea typeface="Arimo Semi Bold" pitchFamily="34" charset="-122"/>
                <a:cs typeface="Arimo Semi Bold" pitchFamily="34" charset="-120"/>
              </a:rPr>
              <a:t>Phân tích khách hàng mua điện thoại ở Việt Nam trên nền tảng shopee để tối ưu hóa chiến lược marketing</a:t>
            </a:r>
            <a:endParaRPr lang="en-US" sz="4450" dirty="0"/>
          </a:p>
        </p:txBody>
      </p:sp>
      <p:sp>
        <p:nvSpPr>
          <p:cNvPr id="4" name="Text 1"/>
          <p:cNvSpPr/>
          <p:nvPr/>
        </p:nvSpPr>
        <p:spPr>
          <a:xfrm>
            <a:off x="366233" y="4223840"/>
            <a:ext cx="7556421" cy="3901587"/>
          </a:xfrm>
          <a:prstGeom prst="rect">
            <a:avLst/>
          </a:prstGeom>
          <a:noFill/>
          <a:ln/>
        </p:spPr>
        <p:txBody>
          <a:bodyPr wrap="square" lIns="0" tIns="0" rIns="0" bIns="0" rtlCol="0" anchor="t"/>
          <a:lstStyle/>
          <a:p>
            <a:pPr marL="0" indent="0" algn="l">
              <a:lnSpc>
                <a:spcPct val="150000"/>
              </a:lnSpc>
              <a:buNone/>
            </a:pPr>
            <a:r>
              <a:rPr lang="en-US" sz="2400" dirty="0">
                <a:solidFill>
                  <a:srgbClr val="464646"/>
                </a:solidFill>
                <a:latin typeface="Arimo Medium" pitchFamily="34" charset="0"/>
                <a:ea typeface="Arimo Medium" pitchFamily="34" charset="-122"/>
                <a:cs typeface="Arimo Medium" pitchFamily="34" charset="-120"/>
              </a:rPr>
              <a:t>Môn học</a:t>
            </a:r>
            <a:r>
              <a:rPr lang="en-US" sz="2400">
                <a:solidFill>
                  <a:srgbClr val="464646"/>
                </a:solidFill>
                <a:latin typeface="Arimo Medium" pitchFamily="34" charset="0"/>
                <a:ea typeface="Arimo Medium" pitchFamily="34" charset="-122"/>
                <a:cs typeface="Arimo Medium" pitchFamily="34" charset="-120"/>
              </a:rPr>
              <a:t>: </a:t>
            </a:r>
            <a:r>
              <a:rPr lang="en-US" sz="2400" b="1">
                <a:solidFill>
                  <a:srgbClr val="464646"/>
                </a:solidFill>
                <a:latin typeface="Arimo Medium" pitchFamily="34" charset="0"/>
                <a:ea typeface="Arimo Medium" pitchFamily="34" charset="-122"/>
                <a:cs typeface="Arimo Medium" pitchFamily="34" charset="-120"/>
              </a:rPr>
              <a:t>Nhập môn Khoa Học Dữ Liệu </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Sinh </a:t>
            </a:r>
            <a:r>
              <a:rPr lang="en-US" sz="2400" dirty="0">
                <a:solidFill>
                  <a:srgbClr val="464646"/>
                </a:solidFill>
                <a:latin typeface="Arimo Medium" pitchFamily="34" charset="0"/>
                <a:ea typeface="Arimo Medium" pitchFamily="34" charset="-122"/>
                <a:cs typeface="Arimo Medium" pitchFamily="34" charset="-120"/>
              </a:rPr>
              <a:t>viên</a:t>
            </a:r>
            <a:r>
              <a:rPr lang="en-US" sz="2400">
                <a:solidFill>
                  <a:srgbClr val="464646"/>
                </a:solidFill>
                <a:latin typeface="Arimo Medium" pitchFamily="34" charset="0"/>
                <a:ea typeface="Arimo Medium" pitchFamily="34" charset="-122"/>
                <a:cs typeface="Arimo Medium" pitchFamily="34" charset="-120"/>
              </a:rPr>
              <a:t>: </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	Lê Duy Tuấn Anh (23050098)</a:t>
            </a:r>
          </a:p>
          <a:p>
            <a:pPr>
              <a:lnSpc>
                <a:spcPct val="150000"/>
              </a:lnSpc>
            </a:pPr>
            <a:r>
              <a:rPr lang="en-US" sz="2400">
                <a:solidFill>
                  <a:srgbClr val="464646"/>
                </a:solidFill>
                <a:latin typeface="Arimo Medium" pitchFamily="34" charset="0"/>
                <a:ea typeface="Arimo Medium" pitchFamily="34" charset="-122"/>
                <a:cs typeface="Arimo Medium" pitchFamily="34" charset="-120"/>
              </a:rPr>
              <a:t>	Lý Lâm Vũ (23050102)</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	Nguyễn </a:t>
            </a:r>
            <a:r>
              <a:rPr lang="en-US" sz="2400" dirty="0">
                <a:solidFill>
                  <a:srgbClr val="464646"/>
                </a:solidFill>
                <a:latin typeface="Arimo Medium" pitchFamily="34" charset="0"/>
                <a:ea typeface="Arimo Medium" pitchFamily="34" charset="-122"/>
                <a:cs typeface="Arimo Medium" pitchFamily="34" charset="-120"/>
              </a:rPr>
              <a:t>Tuấn Anh (</a:t>
            </a:r>
            <a:r>
              <a:rPr lang="en-US" sz="2400">
                <a:solidFill>
                  <a:srgbClr val="464646"/>
                </a:solidFill>
                <a:latin typeface="Arimo Medium" pitchFamily="34" charset="0"/>
                <a:ea typeface="Arimo Medium" pitchFamily="34" charset="-122"/>
                <a:cs typeface="Arimo Medium" pitchFamily="34" charset="-120"/>
              </a:rPr>
              <a:t>23050118)</a:t>
            </a:r>
          </a:p>
          <a:p>
            <a:pPr marL="0" indent="0" algn="l">
              <a:lnSpc>
                <a:spcPct val="150000"/>
              </a:lnSpc>
              <a:buNone/>
            </a:pPr>
            <a:endParaRPr lang="en-US" sz="2400">
              <a:solidFill>
                <a:srgbClr val="464646"/>
              </a:solidFill>
              <a:latin typeface="Arimo Medium" pitchFamily="34" charset="0"/>
              <a:ea typeface="Arimo Medium" pitchFamily="34" charset="-122"/>
              <a:cs typeface="Arimo Medium" pitchFamily="34" charset="-120"/>
            </a:endParaRP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GVHD: </a:t>
            </a:r>
            <a:r>
              <a:rPr lang="en-US" sz="2400" b="1" dirty="0">
                <a:solidFill>
                  <a:srgbClr val="464646"/>
                </a:solidFill>
                <a:latin typeface="Arimo Medium" pitchFamily="34" charset="0"/>
                <a:ea typeface="Arimo Medium" pitchFamily="34" charset="-122"/>
                <a:cs typeface="Arimo Medium" pitchFamily="34" charset="-120"/>
              </a:rPr>
              <a:t>ThS</a:t>
            </a:r>
            <a:r>
              <a:rPr lang="en-US" sz="2400" b="1">
                <a:solidFill>
                  <a:srgbClr val="464646"/>
                </a:solidFill>
                <a:latin typeface="Arimo Medium" pitchFamily="34" charset="0"/>
                <a:ea typeface="Arimo Medium" pitchFamily="34" charset="-122"/>
                <a:cs typeface="Arimo Medium" pitchFamily="34" charset="-120"/>
              </a:rPr>
              <a:t>. Hồ Ngọc Giàu</a:t>
            </a:r>
            <a:endParaRPr lang="en-US" sz="2400" b="1" dirty="0"/>
          </a:p>
        </p:txBody>
      </p:sp>
      <p:pic>
        <p:nvPicPr>
          <p:cNvPr id="5" name="Picture 4">
            <a:extLst>
              <a:ext uri="{FF2B5EF4-FFF2-40B4-BE49-F238E27FC236}">
                <a16:creationId xmlns:a16="http://schemas.microsoft.com/office/drawing/2014/main" id="{9B145724-077A-D8C6-289C-845E801A02B6}"/>
              </a:ext>
            </a:extLst>
          </p:cNvPr>
          <p:cNvPicPr>
            <a:picLocks noChangeAspect="1"/>
          </p:cNvPicPr>
          <p:nvPr/>
        </p:nvPicPr>
        <p:blipFill>
          <a:blip r:embed="rId3"/>
          <a:stretch>
            <a:fillRect/>
          </a:stretch>
        </p:blipFill>
        <p:spPr>
          <a:xfrm>
            <a:off x="0" y="0"/>
            <a:ext cx="3629608" cy="1119571"/>
          </a:xfrm>
          <a:prstGeom prst="rect">
            <a:avLst/>
          </a:prstGeom>
        </p:spPr>
      </p:pic>
      <p:pic>
        <p:nvPicPr>
          <p:cNvPr id="1026" name="Picture 2" descr="Cristiano Ronaldo làm Đại sứ mới của Shopee, có thể đến Việt Nam">
            <a:extLst>
              <a:ext uri="{FF2B5EF4-FFF2-40B4-BE49-F238E27FC236}">
                <a16:creationId xmlns:a16="http://schemas.microsoft.com/office/drawing/2014/main" id="{5F511697-2CD8-0C14-21D8-FCD6822E64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3497" y="3048885"/>
            <a:ext cx="5076542" cy="50765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32" y="419933"/>
            <a:ext cx="13638133" cy="443032"/>
          </a:xfrm>
          <a:prstGeom prst="rect">
            <a:avLst/>
          </a:prstGeom>
          <a:noFill/>
          <a:ln/>
        </p:spPr>
        <p:txBody>
          <a:bodyPr wrap="none" lIns="0" tIns="0" rIns="0" bIns="0" rtlCol="0" anchor="t"/>
          <a:lstStyle/>
          <a:p>
            <a:pPr marL="0" indent="0" algn="ctr">
              <a:lnSpc>
                <a:spcPts val="3450"/>
              </a:lnSpc>
              <a:buNone/>
            </a:pPr>
            <a:r>
              <a:rPr lang="en-US" sz="3200" b="1">
                <a:solidFill>
                  <a:srgbClr val="030303"/>
                </a:solidFill>
                <a:latin typeface="Arimo Semi Bold" pitchFamily="34" charset="0"/>
                <a:ea typeface="Arimo Semi Bold" pitchFamily="34" charset="-122"/>
                <a:cs typeface="Arimo Semi Bold" pitchFamily="34" charset="-120"/>
              </a:rPr>
              <a:t>Nội dung báo cáo: </a:t>
            </a:r>
            <a:endParaRPr lang="en-US" sz="3200" b="1" dirty="0"/>
          </a:p>
        </p:txBody>
      </p:sp>
      <p:sp>
        <p:nvSpPr>
          <p:cNvPr id="4" name="Shape 2"/>
          <p:cNvSpPr/>
          <p:nvPr/>
        </p:nvSpPr>
        <p:spPr>
          <a:xfrm>
            <a:off x="576697" y="1158097"/>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5" name="Shape 3"/>
          <p:cNvSpPr/>
          <p:nvPr/>
        </p:nvSpPr>
        <p:spPr>
          <a:xfrm>
            <a:off x="591937" y="1185667"/>
            <a:ext cx="566976" cy="1151887"/>
          </a:xfrm>
          <a:prstGeom prst="roundRect">
            <a:avLst>
              <a:gd name="adj" fmla="val 7276"/>
            </a:avLst>
          </a:prstGeom>
          <a:solidFill>
            <a:srgbClr val="F2EEEE"/>
          </a:solidFill>
          <a:ln/>
        </p:spPr>
        <p:txBody>
          <a:bodyPr/>
          <a:lstStyle/>
          <a:p>
            <a:endParaRPr lang="en-US"/>
          </a:p>
        </p:txBody>
      </p:sp>
      <p:sp>
        <p:nvSpPr>
          <p:cNvPr id="6" name="Text 4"/>
          <p:cNvSpPr/>
          <p:nvPr/>
        </p:nvSpPr>
        <p:spPr>
          <a:xfrm>
            <a:off x="769102" y="1718429"/>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1</a:t>
            </a:r>
            <a:endParaRPr lang="en-US" sz="2400" b="1" dirty="0"/>
          </a:p>
        </p:txBody>
      </p:sp>
      <p:sp>
        <p:nvSpPr>
          <p:cNvPr id="7" name="Text 5"/>
          <p:cNvSpPr/>
          <p:nvPr/>
        </p:nvSpPr>
        <p:spPr>
          <a:xfrm>
            <a:off x="1247496" y="1520471"/>
            <a:ext cx="3062168" cy="184309"/>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Giới thiệu dự án</a:t>
            </a:r>
            <a:endParaRPr lang="en-US" sz="2800" b="1" dirty="0"/>
          </a:p>
        </p:txBody>
      </p:sp>
      <p:sp>
        <p:nvSpPr>
          <p:cNvPr id="8" name="Text 6"/>
          <p:cNvSpPr/>
          <p:nvPr/>
        </p:nvSpPr>
        <p:spPr>
          <a:xfrm>
            <a:off x="1247496" y="2037865"/>
            <a:ext cx="12810411" cy="184309"/>
          </a:xfrm>
          <a:prstGeom prst="rect">
            <a:avLst/>
          </a:prstGeom>
          <a:noFill/>
          <a:ln/>
        </p:spPr>
        <p:txBody>
          <a:bodyPr wrap="none" lIns="0" tIns="0" rIns="0" bIns="0" rtlCol="0" anchor="t"/>
          <a:lstStyle/>
          <a:p>
            <a:pPr marL="0" indent="0" algn="l">
              <a:lnSpc>
                <a:spcPts val="1450"/>
              </a:lnSpc>
              <a:buNone/>
            </a:pPr>
            <a:r>
              <a:rPr lang="en-US" sz="2400" dirty="0">
                <a:solidFill>
                  <a:srgbClr val="464646"/>
                </a:solidFill>
                <a:latin typeface="Arimo Medium" pitchFamily="34" charset="0"/>
                <a:ea typeface="Arimo Medium" pitchFamily="34" charset="-122"/>
                <a:cs typeface="Arimo Medium" pitchFamily="34" charset="-120"/>
              </a:rPr>
              <a:t>Tổng </a:t>
            </a:r>
            <a:r>
              <a:rPr lang="en-US" sz="2400">
                <a:solidFill>
                  <a:srgbClr val="464646"/>
                </a:solidFill>
                <a:latin typeface="Arimo Medium" pitchFamily="34" charset="0"/>
                <a:ea typeface="Arimo Medium" pitchFamily="34" charset="-122"/>
                <a:cs typeface="Arimo Medium" pitchFamily="34" charset="-120"/>
              </a:rPr>
              <a:t>quan về dự án</a:t>
            </a:r>
            <a:endParaRPr lang="en-US" sz="2400" dirty="0"/>
          </a:p>
        </p:txBody>
      </p:sp>
      <p:sp>
        <p:nvSpPr>
          <p:cNvPr id="9" name="Shape 7"/>
          <p:cNvSpPr/>
          <p:nvPr/>
        </p:nvSpPr>
        <p:spPr>
          <a:xfrm>
            <a:off x="576695" y="2922590"/>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10" name="Shape 8"/>
          <p:cNvSpPr/>
          <p:nvPr/>
        </p:nvSpPr>
        <p:spPr>
          <a:xfrm>
            <a:off x="591935" y="2950160"/>
            <a:ext cx="566976" cy="1151887"/>
          </a:xfrm>
          <a:prstGeom prst="roundRect">
            <a:avLst>
              <a:gd name="adj" fmla="val 7276"/>
            </a:avLst>
          </a:prstGeom>
          <a:solidFill>
            <a:srgbClr val="F2EEEE"/>
          </a:solidFill>
          <a:ln/>
        </p:spPr>
        <p:txBody>
          <a:bodyPr/>
          <a:lstStyle/>
          <a:p>
            <a:endParaRPr lang="en-US"/>
          </a:p>
        </p:txBody>
      </p:sp>
      <p:sp>
        <p:nvSpPr>
          <p:cNvPr id="11" name="Text 9"/>
          <p:cNvSpPr/>
          <p:nvPr/>
        </p:nvSpPr>
        <p:spPr>
          <a:xfrm>
            <a:off x="769100" y="3482922"/>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2</a:t>
            </a:r>
            <a:endParaRPr lang="en-US" sz="2400" b="1" dirty="0"/>
          </a:p>
        </p:txBody>
      </p:sp>
      <p:sp>
        <p:nvSpPr>
          <p:cNvPr id="12" name="Text 10"/>
          <p:cNvSpPr/>
          <p:nvPr/>
        </p:nvSpPr>
        <p:spPr>
          <a:xfrm>
            <a:off x="1247494" y="3328794"/>
            <a:ext cx="1860232"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Kế hoạch dự án</a:t>
            </a:r>
            <a:endParaRPr lang="en-US" sz="2800" b="1" dirty="0"/>
          </a:p>
        </p:txBody>
      </p:sp>
      <p:sp>
        <p:nvSpPr>
          <p:cNvPr id="13" name="Text 11"/>
          <p:cNvSpPr/>
          <p:nvPr/>
        </p:nvSpPr>
        <p:spPr>
          <a:xfrm>
            <a:off x="1247494" y="3802358"/>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Kế hoạch triển khai dự án, phân công nhiệm vụ </a:t>
            </a:r>
            <a:endParaRPr lang="en-US" sz="2400" dirty="0"/>
          </a:p>
        </p:txBody>
      </p:sp>
      <p:sp>
        <p:nvSpPr>
          <p:cNvPr id="14" name="Shape 12"/>
          <p:cNvSpPr/>
          <p:nvPr/>
        </p:nvSpPr>
        <p:spPr>
          <a:xfrm>
            <a:off x="576694" y="4621505"/>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15" name="Shape 13"/>
          <p:cNvSpPr/>
          <p:nvPr/>
        </p:nvSpPr>
        <p:spPr>
          <a:xfrm>
            <a:off x="591934" y="4649075"/>
            <a:ext cx="566976" cy="1151887"/>
          </a:xfrm>
          <a:prstGeom prst="roundRect">
            <a:avLst>
              <a:gd name="adj" fmla="val 7276"/>
            </a:avLst>
          </a:prstGeom>
          <a:solidFill>
            <a:srgbClr val="F2EEEE"/>
          </a:solidFill>
          <a:ln/>
        </p:spPr>
        <p:txBody>
          <a:bodyPr/>
          <a:lstStyle/>
          <a:p>
            <a:endParaRPr lang="en-US"/>
          </a:p>
        </p:txBody>
      </p:sp>
      <p:sp>
        <p:nvSpPr>
          <p:cNvPr id="16" name="Text 14"/>
          <p:cNvSpPr/>
          <p:nvPr/>
        </p:nvSpPr>
        <p:spPr>
          <a:xfrm>
            <a:off x="769099" y="5181837"/>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3</a:t>
            </a:r>
            <a:endParaRPr lang="en-US" sz="2400" b="1" dirty="0"/>
          </a:p>
        </p:txBody>
      </p:sp>
      <p:sp>
        <p:nvSpPr>
          <p:cNvPr id="17" name="Text 15"/>
          <p:cNvSpPr/>
          <p:nvPr/>
        </p:nvSpPr>
        <p:spPr>
          <a:xfrm>
            <a:off x="1247496" y="5048451"/>
            <a:ext cx="1772007"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Các nội dung </a:t>
            </a:r>
            <a:endParaRPr lang="en-US" sz="2800" b="1" dirty="0"/>
          </a:p>
        </p:txBody>
      </p:sp>
      <p:sp>
        <p:nvSpPr>
          <p:cNvPr id="18" name="Text 16"/>
          <p:cNvSpPr/>
          <p:nvPr/>
        </p:nvSpPr>
        <p:spPr>
          <a:xfrm>
            <a:off x="1247493" y="5501273"/>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Phần công việc của từng thành viên</a:t>
            </a:r>
            <a:endParaRPr lang="en-US" sz="2400" dirty="0"/>
          </a:p>
        </p:txBody>
      </p:sp>
      <p:grpSp>
        <p:nvGrpSpPr>
          <p:cNvPr id="39" name="Group 38">
            <a:extLst>
              <a:ext uri="{FF2B5EF4-FFF2-40B4-BE49-F238E27FC236}">
                <a16:creationId xmlns:a16="http://schemas.microsoft.com/office/drawing/2014/main" id="{6D5A444C-3104-40BF-D807-58F13E0015EC}"/>
              </a:ext>
            </a:extLst>
          </p:cNvPr>
          <p:cNvGrpSpPr/>
          <p:nvPr/>
        </p:nvGrpSpPr>
        <p:grpSpPr>
          <a:xfrm>
            <a:off x="496131" y="6348965"/>
            <a:ext cx="13638133" cy="1194698"/>
            <a:chOff x="526613" y="6164793"/>
            <a:chExt cx="13638133" cy="1194698"/>
          </a:xfrm>
        </p:grpSpPr>
        <p:sp>
          <p:nvSpPr>
            <p:cNvPr id="19" name="Shape 17"/>
            <p:cNvSpPr/>
            <p:nvPr/>
          </p:nvSpPr>
          <p:spPr>
            <a:xfrm>
              <a:off x="526613" y="6164793"/>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20" name="Shape 18"/>
            <p:cNvSpPr/>
            <p:nvPr/>
          </p:nvSpPr>
          <p:spPr>
            <a:xfrm>
              <a:off x="541853" y="6192363"/>
              <a:ext cx="566976" cy="1151887"/>
            </a:xfrm>
            <a:prstGeom prst="roundRect">
              <a:avLst>
                <a:gd name="adj" fmla="val 7276"/>
              </a:avLst>
            </a:prstGeom>
            <a:solidFill>
              <a:srgbClr val="F2EEEE"/>
            </a:solidFill>
            <a:ln/>
          </p:spPr>
          <p:txBody>
            <a:bodyPr/>
            <a:lstStyle/>
            <a:p>
              <a:endParaRPr lang="en-US"/>
            </a:p>
          </p:txBody>
        </p:sp>
        <p:sp>
          <p:nvSpPr>
            <p:cNvPr id="21" name="Text 19"/>
            <p:cNvSpPr/>
            <p:nvPr/>
          </p:nvSpPr>
          <p:spPr>
            <a:xfrm>
              <a:off x="719018" y="6725125"/>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4</a:t>
              </a:r>
              <a:endParaRPr lang="en-US" sz="2400" b="1" dirty="0"/>
            </a:p>
          </p:txBody>
        </p:sp>
        <p:sp>
          <p:nvSpPr>
            <p:cNvPr id="22" name="Text 20"/>
            <p:cNvSpPr/>
            <p:nvPr/>
          </p:nvSpPr>
          <p:spPr>
            <a:xfrm>
              <a:off x="1197412" y="6546637"/>
              <a:ext cx="1887022"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Kết luận </a:t>
              </a:r>
              <a:endParaRPr lang="en-US" sz="2800" b="1" dirty="0"/>
            </a:p>
          </p:txBody>
        </p:sp>
        <p:sp>
          <p:nvSpPr>
            <p:cNvPr id="23" name="Text 21"/>
            <p:cNvSpPr/>
            <p:nvPr/>
          </p:nvSpPr>
          <p:spPr>
            <a:xfrm>
              <a:off x="1197412" y="7044561"/>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Dự án đã làm được những gì, cần cải thiện những điểm gì</a:t>
              </a:r>
              <a:endParaRPr lang="en-US" sz="2400" dirty="0"/>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148829" y="137886"/>
            <a:ext cx="4536519" cy="566976"/>
          </a:xfrm>
          <a:prstGeom prst="rect">
            <a:avLst/>
          </a:prstGeom>
          <a:noFill/>
          <a:ln/>
        </p:spPr>
        <p:txBody>
          <a:bodyPr wrap="none" lIns="0" tIns="0" rIns="0" bIns="0" rtlCol="0" anchor="t"/>
          <a:lstStyle/>
          <a:p>
            <a:pPr marL="0" indent="0" algn="l">
              <a:lnSpc>
                <a:spcPts val="4450"/>
              </a:lnSpc>
              <a:buNone/>
            </a:pPr>
            <a:r>
              <a:rPr lang="en-US" sz="3550" b="1">
                <a:solidFill>
                  <a:srgbClr val="030303"/>
                </a:solidFill>
                <a:latin typeface="Arimo Semi Bold" pitchFamily="34" charset="0"/>
                <a:ea typeface="Arimo Semi Bold" pitchFamily="34" charset="-122"/>
                <a:cs typeface="Arimo Semi Bold" pitchFamily="34" charset="-120"/>
              </a:rPr>
              <a:t>1: Giới thiệu dự án </a:t>
            </a:r>
            <a:endParaRPr lang="en-US" sz="3550" b="1" dirty="0"/>
          </a:p>
        </p:txBody>
      </p:sp>
      <p:sp>
        <p:nvSpPr>
          <p:cNvPr id="4" name="Shape 1"/>
          <p:cNvSpPr/>
          <p:nvPr/>
        </p:nvSpPr>
        <p:spPr>
          <a:xfrm>
            <a:off x="793790" y="4302797"/>
            <a:ext cx="13219390" cy="2503117"/>
          </a:xfrm>
          <a:prstGeom prst="roundRect">
            <a:avLst>
              <a:gd name="adj" fmla="val 3052"/>
            </a:avLst>
          </a:prstGeom>
          <a:solidFill>
            <a:srgbClr val="F2EEEE"/>
          </a:solidFill>
          <a:ln/>
        </p:spPr>
        <p:txBody>
          <a:bodyPr/>
          <a:lstStyle/>
          <a:p>
            <a:endParaRPr lang="en-US"/>
          </a:p>
        </p:txBody>
      </p:sp>
      <p:sp>
        <p:nvSpPr>
          <p:cNvPr id="5" name="Text 2"/>
          <p:cNvSpPr/>
          <p:nvPr/>
        </p:nvSpPr>
        <p:spPr>
          <a:xfrm>
            <a:off x="1192054" y="4505099"/>
            <a:ext cx="2835235" cy="354330"/>
          </a:xfrm>
          <a:prstGeom prst="rect">
            <a:avLst/>
          </a:prstGeom>
          <a:noFill/>
          <a:ln/>
        </p:spPr>
        <p:txBody>
          <a:bodyPr wrap="none" lIns="0" tIns="0" rIns="0" bIns="0" rtlCol="0" anchor="t"/>
          <a:lstStyle/>
          <a:p>
            <a:pPr marL="0" indent="0" algn="l">
              <a:lnSpc>
                <a:spcPts val="2750"/>
              </a:lnSpc>
              <a:buNone/>
            </a:pPr>
            <a:r>
              <a:rPr lang="en-US" sz="2400" b="1">
                <a:solidFill>
                  <a:srgbClr val="464646"/>
                </a:solidFill>
                <a:latin typeface="Arimo Semi Bold" pitchFamily="34" charset="0"/>
                <a:ea typeface="Arimo Semi Bold" pitchFamily="34" charset="-122"/>
                <a:cs typeface="Arimo Semi Bold" pitchFamily="34" charset="-120"/>
              </a:rPr>
              <a:t>Tối ưu hóa ?</a:t>
            </a:r>
            <a:endParaRPr lang="en-US" sz="2400" b="1" dirty="0"/>
          </a:p>
        </p:txBody>
      </p:sp>
      <p:sp>
        <p:nvSpPr>
          <p:cNvPr id="6" name="Text 3"/>
          <p:cNvSpPr/>
          <p:nvPr/>
        </p:nvSpPr>
        <p:spPr>
          <a:xfrm>
            <a:off x="1020604" y="5020029"/>
            <a:ext cx="12603956" cy="1600690"/>
          </a:xfrm>
          <a:prstGeom prst="rect">
            <a:avLst/>
          </a:prstGeom>
          <a:noFill/>
          <a:ln/>
        </p:spPr>
        <p:txBody>
          <a:bodyPr wrap="square" lIns="0" tIns="0" rIns="0" bIns="0" rtlCol="0" anchor="t"/>
          <a:lstStyle/>
          <a:p>
            <a:pPr marL="342900" indent="-342900" algn="l">
              <a:lnSpc>
                <a:spcPts val="2850"/>
              </a:lnSpc>
              <a:buFont typeface="Arial" panose="020B0604020202020204" pitchFamily="34" charset="0"/>
              <a:buChar char="•"/>
            </a:pPr>
            <a:r>
              <a:rPr lang="en-US" sz="2200">
                <a:solidFill>
                  <a:srgbClr val="464646"/>
                </a:solidFill>
                <a:latin typeface="Arimo Medium" pitchFamily="34" charset="0"/>
                <a:ea typeface="Arimo Medium" pitchFamily="34" charset="-122"/>
                <a:cs typeface="Arimo Medium" pitchFamily="34" charset="-120"/>
              </a:rPr>
              <a:t>Bán cái gì? (Nên đầu tư chạy Ads cho mặt  hàng nào, phân khúc nào đang dễ chốt đơn nhất,..)</a:t>
            </a:r>
          </a:p>
          <a:p>
            <a:pPr marL="342900" indent="-342900" algn="l">
              <a:lnSpc>
                <a:spcPts val="2850"/>
              </a:lnSpc>
              <a:buFont typeface="Arial" panose="020B0604020202020204" pitchFamily="34" charset="0"/>
              <a:buChar char="•"/>
            </a:pPr>
            <a:r>
              <a:rPr lang="en-US" sz="2200">
                <a:solidFill>
                  <a:srgbClr val="464646"/>
                </a:solidFill>
                <a:latin typeface="Arimo Medium" pitchFamily="34" charset="0"/>
                <a:ea typeface="Arimo Medium" pitchFamily="34" charset="-122"/>
                <a:cs typeface="Arimo Medium" pitchFamily="34" charset="-120"/>
              </a:rPr>
              <a:t>Bán cho ai, ở đâu ? ( Hành vi mua sắm ở các khu vực có khác nhau không?)</a:t>
            </a:r>
          </a:p>
          <a:p>
            <a:pPr marL="342900" indent="-342900" algn="l">
              <a:lnSpc>
                <a:spcPts val="2850"/>
              </a:lnSpc>
              <a:buFont typeface="Arial" panose="020B0604020202020204" pitchFamily="34" charset="0"/>
              <a:buChar char="•"/>
            </a:pPr>
            <a:r>
              <a:rPr lang="en-US" sz="2200">
                <a:solidFill>
                  <a:srgbClr val="464646"/>
                </a:solidFill>
                <a:latin typeface="Arimo Medium" pitchFamily="34" charset="0"/>
                <a:ea typeface="Arimo Medium" pitchFamily="34" charset="-122"/>
                <a:cs typeface="Arimo Medium" pitchFamily="34" charset="-120"/>
              </a:rPr>
              <a:t>Dùng chiến lược gì? ( Giảm giá mạnh liệu có tăng  doanh thu, hay khách hàng quan tâm đến số rating hơn? ) </a:t>
            </a:r>
          </a:p>
        </p:txBody>
      </p:sp>
      <p:sp>
        <p:nvSpPr>
          <p:cNvPr id="11" name="Shape 1">
            <a:extLst>
              <a:ext uri="{FF2B5EF4-FFF2-40B4-BE49-F238E27FC236}">
                <a16:creationId xmlns:a16="http://schemas.microsoft.com/office/drawing/2014/main" id="{7A319361-6032-924E-F6A7-6E82E11240ED}"/>
              </a:ext>
            </a:extLst>
          </p:cNvPr>
          <p:cNvSpPr/>
          <p:nvPr/>
        </p:nvSpPr>
        <p:spPr>
          <a:xfrm>
            <a:off x="793790" y="1651177"/>
            <a:ext cx="13219391" cy="1890675"/>
          </a:xfrm>
          <a:prstGeom prst="roundRect">
            <a:avLst>
              <a:gd name="adj" fmla="val 12013"/>
            </a:avLst>
          </a:prstGeom>
          <a:solidFill>
            <a:srgbClr val="F2EEEE"/>
          </a:solidFill>
          <a:ln/>
        </p:spPr>
        <p:txBody>
          <a:bodyPr/>
          <a:lstStyle/>
          <a:p>
            <a:endParaRPr lang="en-US"/>
          </a:p>
        </p:txBody>
      </p:sp>
      <p:sp>
        <p:nvSpPr>
          <p:cNvPr id="12" name="Text 2">
            <a:extLst>
              <a:ext uri="{FF2B5EF4-FFF2-40B4-BE49-F238E27FC236}">
                <a16:creationId xmlns:a16="http://schemas.microsoft.com/office/drawing/2014/main" id="{6312C376-0B40-7DBB-BB18-E143909AAF3C}"/>
              </a:ext>
            </a:extLst>
          </p:cNvPr>
          <p:cNvSpPr/>
          <p:nvPr/>
        </p:nvSpPr>
        <p:spPr>
          <a:xfrm>
            <a:off x="1020605" y="1809860"/>
            <a:ext cx="2835235" cy="354330"/>
          </a:xfrm>
          <a:prstGeom prst="rect">
            <a:avLst/>
          </a:prstGeom>
          <a:noFill/>
          <a:ln/>
        </p:spPr>
        <p:txBody>
          <a:bodyPr wrap="none" lIns="0" tIns="0" rIns="0" bIns="0" rtlCol="0" anchor="t"/>
          <a:lstStyle/>
          <a:p>
            <a:pPr marL="0" indent="0" algn="l">
              <a:lnSpc>
                <a:spcPts val="2750"/>
              </a:lnSpc>
              <a:buNone/>
            </a:pPr>
            <a:r>
              <a:rPr lang="en-US" sz="2400" b="1">
                <a:solidFill>
                  <a:srgbClr val="464646"/>
                </a:solidFill>
                <a:latin typeface="Arimo Semi Bold" pitchFamily="34" charset="0"/>
                <a:ea typeface="Arimo Semi Bold" pitchFamily="34" charset="-122"/>
                <a:cs typeface="Arimo Semi Bold" pitchFamily="34" charset="-120"/>
              </a:rPr>
              <a:t>Mục đích dự án</a:t>
            </a:r>
            <a:endParaRPr lang="en-US" sz="2400" b="1" dirty="0"/>
          </a:p>
        </p:txBody>
      </p:sp>
      <p:sp>
        <p:nvSpPr>
          <p:cNvPr id="13" name="Text 3">
            <a:extLst>
              <a:ext uri="{FF2B5EF4-FFF2-40B4-BE49-F238E27FC236}">
                <a16:creationId xmlns:a16="http://schemas.microsoft.com/office/drawing/2014/main" id="{78F9E65D-CBD9-C9C9-880F-76577740F998}"/>
              </a:ext>
            </a:extLst>
          </p:cNvPr>
          <p:cNvSpPr/>
          <p:nvPr/>
        </p:nvSpPr>
        <p:spPr>
          <a:xfrm>
            <a:off x="1280161" y="2296708"/>
            <a:ext cx="12814980" cy="1360558"/>
          </a:xfrm>
          <a:prstGeom prst="rect">
            <a:avLst/>
          </a:prstGeom>
          <a:noFill/>
          <a:ln/>
        </p:spPr>
        <p:txBody>
          <a:bodyPr wrap="square" lIns="0" tIns="0" rIns="0" bIns="0" rtlCol="0" anchor="t"/>
          <a:lstStyle/>
          <a:p>
            <a:pPr marL="0" indent="0" algn="l">
              <a:lnSpc>
                <a:spcPts val="2850"/>
              </a:lnSpc>
              <a:buNone/>
            </a:pPr>
            <a:r>
              <a:rPr lang="en-US" sz="2000">
                <a:solidFill>
                  <a:srgbClr val="464646"/>
                </a:solidFill>
                <a:latin typeface="Arimo Medium" pitchFamily="34" charset="0"/>
                <a:ea typeface="Arimo Medium" pitchFamily="34" charset="-122"/>
                <a:cs typeface="Arimo Medium" pitchFamily="34" charset="-120"/>
              </a:rPr>
              <a:t>Sử dụng các kiến thức đã học về Làm sạch dữ liệu, giảm chiều, gọm cụm cung cấp những cái nhìn tổng quan, phân tích các sơ đồ trực quan hóa nhằm </a:t>
            </a:r>
            <a:r>
              <a:rPr lang="en-US" sz="2000" b="1">
                <a:solidFill>
                  <a:srgbClr val="464646"/>
                </a:solidFill>
                <a:latin typeface="Arimo Medium" pitchFamily="34" charset="0"/>
                <a:ea typeface="Arimo Medium" pitchFamily="34" charset="-122"/>
                <a:cs typeface="Arimo Medium" pitchFamily="34" charset="-120"/>
              </a:rPr>
              <a:t>tối ưu hóa chiến dịch marketing cho các mặt hang điện thoại trên nền tảng Shoppee. </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800B3-51FE-6A7F-1617-55F40E47DA3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315A814-28A2-A6C4-2FB5-30E129290E66}"/>
              </a:ext>
            </a:extLst>
          </p:cNvPr>
          <p:cNvSpPr/>
          <p:nvPr/>
        </p:nvSpPr>
        <p:spPr>
          <a:xfrm>
            <a:off x="148829" y="137885"/>
            <a:ext cx="14176771" cy="666231"/>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2. Kế hoạch dự án</a:t>
            </a:r>
            <a:endParaRPr lang="en-US" sz="3550" b="1" dirty="0"/>
          </a:p>
        </p:txBody>
      </p:sp>
      <p:sp>
        <p:nvSpPr>
          <p:cNvPr id="7" name="Shape 4">
            <a:extLst>
              <a:ext uri="{FF2B5EF4-FFF2-40B4-BE49-F238E27FC236}">
                <a16:creationId xmlns:a16="http://schemas.microsoft.com/office/drawing/2014/main" id="{CEDD28D7-5216-A2A5-1CD0-DC9F3D1ED507}"/>
              </a:ext>
            </a:extLst>
          </p:cNvPr>
          <p:cNvSpPr/>
          <p:nvPr/>
        </p:nvSpPr>
        <p:spPr>
          <a:xfrm>
            <a:off x="148829" y="2240280"/>
            <a:ext cx="14356080" cy="4251960"/>
          </a:xfrm>
          <a:prstGeom prst="roundRect">
            <a:avLst>
              <a:gd name="adj" fmla="val 3052"/>
            </a:avLst>
          </a:prstGeom>
          <a:solidFill>
            <a:srgbClr val="F2EEEE"/>
          </a:solidFill>
          <a:ln/>
        </p:spPr>
        <p:txBody>
          <a:bodyPr/>
          <a:lstStyle/>
          <a:p>
            <a:endParaRPr lang="en-US"/>
          </a:p>
        </p:txBody>
      </p:sp>
      <p:graphicFrame>
        <p:nvGraphicFramePr>
          <p:cNvPr id="2" name="Table 1">
            <a:extLst>
              <a:ext uri="{FF2B5EF4-FFF2-40B4-BE49-F238E27FC236}">
                <a16:creationId xmlns:a16="http://schemas.microsoft.com/office/drawing/2014/main" id="{1D7DF208-8BF8-F6B8-9E81-04F2162F6440}"/>
              </a:ext>
            </a:extLst>
          </p:cNvPr>
          <p:cNvGraphicFramePr>
            <a:graphicFrameLocks noGrp="1"/>
          </p:cNvGraphicFramePr>
          <p:nvPr>
            <p:extLst>
              <p:ext uri="{D42A27DB-BD31-4B8C-83A1-F6EECF244321}">
                <p14:modId xmlns:p14="http://schemas.microsoft.com/office/powerpoint/2010/main" val="540273407"/>
              </p:ext>
            </p:extLst>
          </p:nvPr>
        </p:nvGraphicFramePr>
        <p:xfrm>
          <a:off x="407909" y="2552700"/>
          <a:ext cx="13837920" cy="3718560"/>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884101039"/>
                    </a:ext>
                  </a:extLst>
                </a:gridCol>
                <a:gridCol w="4371179">
                  <a:extLst>
                    <a:ext uri="{9D8B030D-6E8A-4147-A177-3AD203B41FA5}">
                      <a16:colId xmlns:a16="http://schemas.microsoft.com/office/drawing/2014/main" val="750565131"/>
                    </a:ext>
                  </a:extLst>
                </a:gridCol>
                <a:gridCol w="1953421">
                  <a:extLst>
                    <a:ext uri="{9D8B030D-6E8A-4147-A177-3AD203B41FA5}">
                      <a16:colId xmlns:a16="http://schemas.microsoft.com/office/drawing/2014/main" val="2333520888"/>
                    </a:ext>
                  </a:extLst>
                </a:gridCol>
                <a:gridCol w="6522720">
                  <a:extLst>
                    <a:ext uri="{9D8B030D-6E8A-4147-A177-3AD203B41FA5}">
                      <a16:colId xmlns:a16="http://schemas.microsoft.com/office/drawing/2014/main" val="3080822334"/>
                    </a:ext>
                  </a:extLst>
                </a:gridCol>
              </a:tblGrid>
              <a:tr h="370840">
                <a:tc>
                  <a:txBody>
                    <a:bodyPr/>
                    <a:lstStyle/>
                    <a:p>
                      <a:pPr algn="ctr"/>
                      <a:r>
                        <a:rPr lang="en-US" sz="2400" b="1">
                          <a:latin typeface="Arimo Medium" panose="020B0604020202020204" charset="0"/>
                          <a:ea typeface="Arimo Medium" panose="020B0604020202020204" charset="0"/>
                          <a:cs typeface="Arimo Medium" panose="020B0604020202020204" charset="0"/>
                        </a:rPr>
                        <a:t>Giai đoạn</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Tên công việc </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Đảm nhiệm</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Mô tả </a:t>
                      </a:r>
                    </a:p>
                  </a:txBody>
                  <a:tcPr anchor="ctr"/>
                </a:tc>
                <a:extLst>
                  <a:ext uri="{0D108BD9-81ED-4DB2-BD59-A6C34878D82A}">
                    <a16:rowId xmlns:a16="http://schemas.microsoft.com/office/drawing/2014/main" val="1373753996"/>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1</a:t>
                      </a:r>
                    </a:p>
                  </a:txBody>
                  <a:tcPr anchor="ctr"/>
                </a:tc>
                <a:tc>
                  <a:txBody>
                    <a:bodyPr/>
                    <a:lstStyle/>
                    <a:p>
                      <a:r>
                        <a:rPr lang="en-US" sz="2000" b="1">
                          <a:latin typeface="Arimo Medium" panose="020B0604020202020204" charset="0"/>
                          <a:ea typeface="Arimo Medium" panose="020B0604020202020204" charset="0"/>
                          <a:cs typeface="Arimo Medium" panose="020B0604020202020204" charset="0"/>
                        </a:rPr>
                        <a:t>Khám phá dữ liệu </a:t>
                      </a: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Cả nhóm</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Kiểm tra dữ liệu trước thô ban đầu</a:t>
                      </a:r>
                    </a:p>
                  </a:txBody>
                  <a:tcPr/>
                </a:tc>
                <a:extLst>
                  <a:ext uri="{0D108BD9-81ED-4DB2-BD59-A6C34878D82A}">
                    <a16:rowId xmlns:a16="http://schemas.microsoft.com/office/drawing/2014/main" val="3588631850"/>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2</a:t>
                      </a:r>
                    </a:p>
                  </a:txBody>
                  <a:tcPr anchor="ctr"/>
                </a:tc>
                <a:tc>
                  <a:txBody>
                    <a:bodyPr/>
                    <a:lstStyle/>
                    <a:p>
                      <a:r>
                        <a:rPr lang="en-US" sz="2000" b="1">
                          <a:latin typeface="Arimo Medium" panose="020B0604020202020204" charset="0"/>
                          <a:ea typeface="Arimo Medium" panose="020B0604020202020204" charset="0"/>
                          <a:cs typeface="Arimo Medium" panose="020B0604020202020204" charset="0"/>
                        </a:rPr>
                        <a:t>Làm sạch dữ liệu</a:t>
                      </a: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Cả nhóm </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Tiến hành làm sạch ( loại bỏ mặt hàng thừa,….)</a:t>
                      </a:r>
                    </a:p>
                  </a:txBody>
                  <a:tcPr/>
                </a:tc>
                <a:extLst>
                  <a:ext uri="{0D108BD9-81ED-4DB2-BD59-A6C34878D82A}">
                    <a16:rowId xmlns:a16="http://schemas.microsoft.com/office/drawing/2014/main" val="3015556416"/>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3</a:t>
                      </a:r>
                    </a:p>
                  </a:txBody>
                  <a:tcPr anchor="ctr"/>
                </a:tc>
                <a:tc>
                  <a:txBody>
                    <a:bodyPr/>
                    <a:lstStyle/>
                    <a:p>
                      <a:r>
                        <a:rPr lang="en-US" sz="2000" b="1" kern="1200">
                          <a:solidFill>
                            <a:schemeClr val="tx1"/>
                          </a:solidFill>
                          <a:effectLst/>
                          <a:latin typeface="+mn-lt"/>
                          <a:ea typeface="+mn-ea"/>
                          <a:cs typeface="+mn-cs"/>
                        </a:rPr>
                        <a:t>Trực quan hóa dữ liệu ban đầu </a:t>
                      </a:r>
                      <a:endParaRPr lang="en-US" sz="2000" b="1">
                        <a:latin typeface="Arimo Medium" panose="020B0604020202020204" charset="0"/>
                        <a:ea typeface="Arimo Medium" panose="020B0604020202020204" charset="0"/>
                        <a:cs typeface="Arimo Medium" panose="020B0604020202020204" charset="0"/>
                      </a:endParaRP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Lê Duy Tuấn Anh</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Trực quan dữ liệu làm sạch thông qua các sơ đồ để có cái nhìn tổng quan về dũ liệu lúc này.</a:t>
                      </a:r>
                    </a:p>
                  </a:txBody>
                  <a:tcPr/>
                </a:tc>
                <a:extLst>
                  <a:ext uri="{0D108BD9-81ED-4DB2-BD59-A6C34878D82A}">
                    <a16:rowId xmlns:a16="http://schemas.microsoft.com/office/drawing/2014/main" val="636418390"/>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4</a:t>
                      </a:r>
                    </a:p>
                  </a:txBody>
                  <a:tcPr anchor="ctr"/>
                </a:tc>
                <a:tc>
                  <a:txBody>
                    <a:bodyPr/>
                    <a:lstStyle/>
                    <a:p>
                      <a:r>
                        <a:rPr lang="en-US" sz="2000" b="1" kern="1200">
                          <a:solidFill>
                            <a:schemeClr val="tx1"/>
                          </a:solidFill>
                          <a:effectLst/>
                          <a:latin typeface="+mn-lt"/>
                          <a:ea typeface="+mn-ea"/>
                          <a:cs typeface="+mn-cs"/>
                        </a:rPr>
                        <a:t>Chuẩn hóa và giảm chiều (PCA, MCA) </a:t>
                      </a:r>
                      <a:endParaRPr lang="en-US" sz="2000" b="1">
                        <a:latin typeface="Arimo Medium" panose="020B0604020202020204" charset="0"/>
                        <a:ea typeface="Arimo Medium" panose="020B0604020202020204" charset="0"/>
                        <a:cs typeface="Arimo Medium" panose="020B0604020202020204" charset="0"/>
                      </a:endParaRP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Lý Lâm Vũ</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Giảm chiều dữ liệu để chuẩn bị cho bước gom cụm dữ liệu.</a:t>
                      </a:r>
                    </a:p>
                  </a:txBody>
                  <a:tcPr/>
                </a:tc>
                <a:extLst>
                  <a:ext uri="{0D108BD9-81ED-4DB2-BD59-A6C34878D82A}">
                    <a16:rowId xmlns:a16="http://schemas.microsoft.com/office/drawing/2014/main" val="3771549242"/>
                  </a:ext>
                </a:extLst>
              </a:tr>
              <a:tr h="0">
                <a:tc>
                  <a:txBody>
                    <a:bodyPr/>
                    <a:lstStyle/>
                    <a:p>
                      <a:pPr algn="ctr"/>
                      <a:r>
                        <a:rPr lang="en-US" sz="2000">
                          <a:latin typeface="Arimo Medium" panose="020B0604020202020204" charset="0"/>
                          <a:ea typeface="Arimo Medium" panose="020B0604020202020204" charset="0"/>
                          <a:cs typeface="Arimo Medium" panose="020B0604020202020204" charset="0"/>
                        </a:rPr>
                        <a:t>5</a:t>
                      </a:r>
                    </a:p>
                  </a:txBody>
                  <a:tcPr anchor="ctr"/>
                </a:tc>
                <a:tc>
                  <a:txBody>
                    <a:bodyPr/>
                    <a:lstStyle/>
                    <a:p>
                      <a:r>
                        <a:rPr lang="en-US" sz="2000" b="1" kern="1200">
                          <a:solidFill>
                            <a:schemeClr val="tx1"/>
                          </a:solidFill>
                          <a:effectLst/>
                          <a:latin typeface="+mn-lt"/>
                          <a:ea typeface="+mn-ea"/>
                          <a:cs typeface="+mn-cs"/>
                        </a:rPr>
                        <a:t>Gom cụm dữ liệu (Kmean), huấn luyện mô hình học máy (Machine Learning</a:t>
                      </a:r>
                      <a:endParaRPr lang="en-US" sz="2000" b="1">
                        <a:latin typeface="Arimo Medium" panose="020B0604020202020204" charset="0"/>
                        <a:ea typeface="Arimo Medium" panose="020B0604020202020204" charset="0"/>
                        <a:cs typeface="Arimo Medium" panose="020B0604020202020204" charset="0"/>
                      </a:endParaRP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Nguyễn Tuấn Anh</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Tiến hành gom cụm dữ liệu, huấn luyện mô hình AI và triển khai UI nhập input </a:t>
                      </a:r>
                      <a:r>
                        <a:rPr lang="en-US" sz="2000">
                          <a:latin typeface="Arimo Medium" panose="020B0604020202020204" charset="0"/>
                          <a:ea typeface="Arimo Medium" panose="020B0604020202020204" charset="0"/>
                          <a:cs typeface="Arimo Medium" panose="020B0604020202020204" charset="0"/>
                          <a:sym typeface="Wingdings" panose="05000000000000000000" pitchFamily="2" charset="2"/>
                        </a:rPr>
                        <a:t> test AI.</a:t>
                      </a:r>
                      <a:endParaRPr lang="en-US" sz="2000">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1009225213"/>
                  </a:ext>
                </a:extLst>
              </a:tr>
            </a:tbl>
          </a:graphicData>
        </a:graphic>
      </p:graphicFrame>
    </p:spTree>
    <p:extLst>
      <p:ext uri="{BB962C8B-B14F-4D97-AF65-F5344CB8AC3E}">
        <p14:creationId xmlns:p14="http://schemas.microsoft.com/office/powerpoint/2010/main" val="19722602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3CB30-9981-BDA6-A523-9F7AEAE87A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F24DE2-D593-9E76-B0FF-E6FEFAC09CA3}"/>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3FD5632A-A845-A6EF-41F9-93CE469DFCB9}"/>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4AB72DE0-E629-3A78-35C2-62B389D75DCB}"/>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361CC25B-C146-F96C-307E-766462D29A53}"/>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3451C206-767D-2B44-8EAA-69D610B35BFF}"/>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1DD27C7C-B9EA-3F25-A67D-421D2105F43D}"/>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A344F25B-37CA-EC4E-B04B-943B115887AF}"/>
              </a:ext>
            </a:extLst>
          </p:cNvPr>
          <p:cNvPicPr>
            <a:picLocks noChangeAspect="1"/>
          </p:cNvPicPr>
          <p:nvPr/>
        </p:nvPicPr>
        <p:blipFill>
          <a:blip r:embed="rId4"/>
          <a:stretch>
            <a:fillRect/>
          </a:stretch>
        </p:blipFill>
        <p:spPr>
          <a:xfrm>
            <a:off x="481584" y="1969171"/>
            <a:ext cx="13291190" cy="946074"/>
          </a:xfrm>
          <a:prstGeom prst="rect">
            <a:avLst/>
          </a:prstGeom>
        </p:spPr>
      </p:pic>
      <p:pic>
        <p:nvPicPr>
          <p:cNvPr id="11" name="Picture 10">
            <a:extLst>
              <a:ext uri="{FF2B5EF4-FFF2-40B4-BE49-F238E27FC236}">
                <a16:creationId xmlns:a16="http://schemas.microsoft.com/office/drawing/2014/main" id="{757244D4-7A23-BE4D-20C4-4FA58A1D82EE}"/>
              </a:ext>
            </a:extLst>
          </p:cNvPr>
          <p:cNvPicPr>
            <a:picLocks noChangeAspect="1"/>
          </p:cNvPicPr>
          <p:nvPr/>
        </p:nvPicPr>
        <p:blipFill>
          <a:blip r:embed="rId5"/>
          <a:stretch>
            <a:fillRect/>
          </a:stretch>
        </p:blipFill>
        <p:spPr>
          <a:xfrm>
            <a:off x="15651043" y="1984175"/>
            <a:ext cx="20719029" cy="946074"/>
          </a:xfrm>
          <a:prstGeom prst="rect">
            <a:avLst/>
          </a:prstGeom>
        </p:spPr>
      </p:pic>
      <p:pic>
        <p:nvPicPr>
          <p:cNvPr id="13" name="Picture 12">
            <a:extLst>
              <a:ext uri="{FF2B5EF4-FFF2-40B4-BE49-F238E27FC236}">
                <a16:creationId xmlns:a16="http://schemas.microsoft.com/office/drawing/2014/main" id="{0B25D368-4E3E-FC84-97D3-6CA460C36879}"/>
              </a:ext>
            </a:extLst>
          </p:cNvPr>
          <p:cNvPicPr>
            <a:picLocks noChangeAspect="1"/>
          </p:cNvPicPr>
          <p:nvPr/>
        </p:nvPicPr>
        <p:blipFill>
          <a:blip r:embed="rId6"/>
          <a:stretch>
            <a:fillRect/>
          </a:stretch>
        </p:blipFill>
        <p:spPr>
          <a:xfrm>
            <a:off x="40233377" y="1887842"/>
            <a:ext cx="11186614" cy="1108732"/>
          </a:xfrm>
          <a:prstGeom prst="rect">
            <a:avLst/>
          </a:prstGeom>
        </p:spPr>
      </p:pic>
    </p:spTree>
    <p:extLst>
      <p:ext uri="{BB962C8B-B14F-4D97-AF65-F5344CB8AC3E}">
        <p14:creationId xmlns:p14="http://schemas.microsoft.com/office/powerpoint/2010/main" val="261841638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EF15-56B3-2C67-50DA-946E6F4D8C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D6D88CA-B40A-F511-DACB-020B421591BB}"/>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4C89911E-06E0-C85D-6E20-5BA5A47D363C}"/>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33919910-7D22-C41E-11B4-4F0B2FA30F09}"/>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9FDE97AA-B2DB-8CBE-589E-2B53C2964E7E}"/>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7374F1CA-2168-476F-92B6-DA1585E0DFE9}"/>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F27B2273-1618-7821-6C5C-40E8A3343A26}"/>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16F90167-37CA-1752-90A2-D9E1D51CEDEC}"/>
              </a:ext>
            </a:extLst>
          </p:cNvPr>
          <p:cNvPicPr>
            <a:picLocks noChangeAspect="1"/>
          </p:cNvPicPr>
          <p:nvPr/>
        </p:nvPicPr>
        <p:blipFill>
          <a:blip r:embed="rId4"/>
          <a:stretch>
            <a:fillRect/>
          </a:stretch>
        </p:blipFill>
        <p:spPr>
          <a:xfrm>
            <a:off x="-14961114" y="1674122"/>
            <a:ext cx="13291190" cy="946074"/>
          </a:xfrm>
          <a:prstGeom prst="rect">
            <a:avLst/>
          </a:prstGeom>
        </p:spPr>
      </p:pic>
      <p:pic>
        <p:nvPicPr>
          <p:cNvPr id="11" name="Picture 10">
            <a:extLst>
              <a:ext uri="{FF2B5EF4-FFF2-40B4-BE49-F238E27FC236}">
                <a16:creationId xmlns:a16="http://schemas.microsoft.com/office/drawing/2014/main" id="{C815A1E0-C3C1-6B14-6978-C14D6BB39C93}"/>
              </a:ext>
            </a:extLst>
          </p:cNvPr>
          <p:cNvPicPr>
            <a:picLocks noChangeAspect="1"/>
          </p:cNvPicPr>
          <p:nvPr/>
        </p:nvPicPr>
        <p:blipFill>
          <a:blip r:embed="rId5"/>
          <a:stretch>
            <a:fillRect/>
          </a:stretch>
        </p:blipFill>
        <p:spPr>
          <a:xfrm>
            <a:off x="208345" y="1600871"/>
            <a:ext cx="23927402" cy="1092575"/>
          </a:xfrm>
          <a:prstGeom prst="rect">
            <a:avLst/>
          </a:prstGeom>
        </p:spPr>
      </p:pic>
      <p:pic>
        <p:nvPicPr>
          <p:cNvPr id="13" name="Picture 12">
            <a:extLst>
              <a:ext uri="{FF2B5EF4-FFF2-40B4-BE49-F238E27FC236}">
                <a16:creationId xmlns:a16="http://schemas.microsoft.com/office/drawing/2014/main" id="{11D34F3F-C2EE-6ECB-6D76-EACB1D64B058}"/>
              </a:ext>
            </a:extLst>
          </p:cNvPr>
          <p:cNvPicPr>
            <a:picLocks noChangeAspect="1"/>
          </p:cNvPicPr>
          <p:nvPr/>
        </p:nvPicPr>
        <p:blipFill>
          <a:blip r:embed="rId6"/>
          <a:stretch>
            <a:fillRect/>
          </a:stretch>
        </p:blipFill>
        <p:spPr>
          <a:xfrm>
            <a:off x="22805643" y="1511464"/>
            <a:ext cx="11186614" cy="1108732"/>
          </a:xfrm>
          <a:prstGeom prst="rect">
            <a:avLst/>
          </a:prstGeom>
        </p:spPr>
      </p:pic>
    </p:spTree>
    <p:extLst>
      <p:ext uri="{BB962C8B-B14F-4D97-AF65-F5344CB8AC3E}">
        <p14:creationId xmlns:p14="http://schemas.microsoft.com/office/powerpoint/2010/main" val="172485305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51E24-9F20-73A1-521E-49B3BBD2C7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540051-CEF8-4D4B-C8F4-27F4D2E94AC7}"/>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5D04C81D-10C8-E1B4-51ED-D67AD80DE528}"/>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A6D972DA-C1F8-1749-B27D-494FBB10071E}"/>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ABACD98A-15D2-6DC6-8B1D-86492F7257F8}"/>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971936C6-59D7-B830-B33A-63DCCC923852}"/>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EB8F95B1-94DC-0F7E-C337-C6B65C9E5E50}"/>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F9E4DE75-738E-6B4B-8E81-98F04CC725E8}"/>
              </a:ext>
            </a:extLst>
          </p:cNvPr>
          <p:cNvPicPr>
            <a:picLocks noChangeAspect="1"/>
          </p:cNvPicPr>
          <p:nvPr/>
        </p:nvPicPr>
        <p:blipFill>
          <a:blip r:embed="rId4"/>
          <a:stretch>
            <a:fillRect/>
          </a:stretch>
        </p:blipFill>
        <p:spPr>
          <a:xfrm>
            <a:off x="-16907145" y="-3507478"/>
            <a:ext cx="13291190" cy="946074"/>
          </a:xfrm>
          <a:prstGeom prst="rect">
            <a:avLst/>
          </a:prstGeom>
        </p:spPr>
      </p:pic>
      <p:pic>
        <p:nvPicPr>
          <p:cNvPr id="11" name="Picture 10">
            <a:extLst>
              <a:ext uri="{FF2B5EF4-FFF2-40B4-BE49-F238E27FC236}">
                <a16:creationId xmlns:a16="http://schemas.microsoft.com/office/drawing/2014/main" id="{364465E8-AEA5-9EBD-796C-5A8F03E29D14}"/>
              </a:ext>
            </a:extLst>
          </p:cNvPr>
          <p:cNvPicPr>
            <a:picLocks noChangeAspect="1"/>
          </p:cNvPicPr>
          <p:nvPr/>
        </p:nvPicPr>
        <p:blipFill>
          <a:blip r:embed="rId5"/>
          <a:stretch>
            <a:fillRect/>
          </a:stretch>
        </p:blipFill>
        <p:spPr>
          <a:xfrm>
            <a:off x="-10261550" y="1480192"/>
            <a:ext cx="23927402" cy="1092575"/>
          </a:xfrm>
          <a:prstGeom prst="rect">
            <a:avLst/>
          </a:prstGeom>
        </p:spPr>
      </p:pic>
      <p:pic>
        <p:nvPicPr>
          <p:cNvPr id="13" name="Picture 12">
            <a:extLst>
              <a:ext uri="{FF2B5EF4-FFF2-40B4-BE49-F238E27FC236}">
                <a16:creationId xmlns:a16="http://schemas.microsoft.com/office/drawing/2014/main" id="{1AA42168-DC81-4549-24DB-5E725E53EF8E}"/>
              </a:ext>
            </a:extLst>
          </p:cNvPr>
          <p:cNvPicPr>
            <a:picLocks noChangeAspect="1"/>
          </p:cNvPicPr>
          <p:nvPr/>
        </p:nvPicPr>
        <p:blipFill>
          <a:blip r:embed="rId6"/>
          <a:stretch>
            <a:fillRect/>
          </a:stretch>
        </p:blipFill>
        <p:spPr>
          <a:xfrm>
            <a:off x="16709643" y="1380360"/>
            <a:ext cx="11186614" cy="1108732"/>
          </a:xfrm>
          <a:prstGeom prst="rect">
            <a:avLst/>
          </a:prstGeom>
        </p:spPr>
      </p:pic>
    </p:spTree>
    <p:extLst>
      <p:ext uri="{BB962C8B-B14F-4D97-AF65-F5344CB8AC3E}">
        <p14:creationId xmlns:p14="http://schemas.microsoft.com/office/powerpoint/2010/main" val="300985185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9D2C9-E8B0-32F1-3B1A-CF25C3F93AC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8DE48D-3E02-E7BB-CAC4-E8F818A33D27}"/>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0B12B73D-EAAC-5834-B675-C421C3BEFDBE}"/>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E0EF29A8-A5E6-7211-E998-5360C6ACC87C}"/>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A0BAD165-8C94-3749-0EEF-10FEC31726FB}"/>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C18F32DA-8C4D-F394-2F4D-C3EBBE072DFE}"/>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B8F577C7-4D0A-7809-1201-F8ED76713594}"/>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3FEBBAFD-730B-DCAD-7C35-2DEA10EC8B43}"/>
              </a:ext>
            </a:extLst>
          </p:cNvPr>
          <p:cNvPicPr>
            <a:picLocks noChangeAspect="1"/>
          </p:cNvPicPr>
          <p:nvPr/>
        </p:nvPicPr>
        <p:blipFill>
          <a:blip r:embed="rId4"/>
          <a:stretch>
            <a:fillRect/>
          </a:stretch>
        </p:blipFill>
        <p:spPr>
          <a:xfrm>
            <a:off x="-16907145" y="-3507478"/>
            <a:ext cx="13291190" cy="946074"/>
          </a:xfrm>
          <a:prstGeom prst="rect">
            <a:avLst/>
          </a:prstGeom>
        </p:spPr>
      </p:pic>
      <p:pic>
        <p:nvPicPr>
          <p:cNvPr id="11" name="Picture 10">
            <a:extLst>
              <a:ext uri="{FF2B5EF4-FFF2-40B4-BE49-F238E27FC236}">
                <a16:creationId xmlns:a16="http://schemas.microsoft.com/office/drawing/2014/main" id="{6BC8FAB5-219D-5BBD-242B-974C135E50E8}"/>
              </a:ext>
            </a:extLst>
          </p:cNvPr>
          <p:cNvPicPr>
            <a:picLocks noChangeAspect="1"/>
          </p:cNvPicPr>
          <p:nvPr/>
        </p:nvPicPr>
        <p:blipFill>
          <a:blip r:embed="rId5"/>
          <a:stretch>
            <a:fillRect/>
          </a:stretch>
        </p:blipFill>
        <p:spPr>
          <a:xfrm>
            <a:off x="-26345611" y="1380360"/>
            <a:ext cx="23927402" cy="1092575"/>
          </a:xfrm>
          <a:prstGeom prst="rect">
            <a:avLst/>
          </a:prstGeom>
        </p:spPr>
      </p:pic>
      <p:pic>
        <p:nvPicPr>
          <p:cNvPr id="13" name="Picture 12">
            <a:extLst>
              <a:ext uri="{FF2B5EF4-FFF2-40B4-BE49-F238E27FC236}">
                <a16:creationId xmlns:a16="http://schemas.microsoft.com/office/drawing/2014/main" id="{60261CEE-A011-AB10-55EA-7CE696749C1F}"/>
              </a:ext>
            </a:extLst>
          </p:cNvPr>
          <p:cNvPicPr>
            <a:picLocks noChangeAspect="1"/>
          </p:cNvPicPr>
          <p:nvPr/>
        </p:nvPicPr>
        <p:blipFill>
          <a:blip r:embed="rId6"/>
          <a:stretch>
            <a:fillRect/>
          </a:stretch>
        </p:blipFill>
        <p:spPr>
          <a:xfrm>
            <a:off x="1188289" y="1689126"/>
            <a:ext cx="11186614" cy="1108732"/>
          </a:xfrm>
          <a:prstGeom prst="rect">
            <a:avLst/>
          </a:prstGeom>
        </p:spPr>
      </p:pic>
    </p:spTree>
    <p:extLst>
      <p:ext uri="{BB962C8B-B14F-4D97-AF65-F5344CB8AC3E}">
        <p14:creationId xmlns:p14="http://schemas.microsoft.com/office/powerpoint/2010/main" val="114279328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144FB-DAA4-8992-7215-6D9BE62446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ADD80D-865F-7DF4-42ED-0C0355D8D757}"/>
              </a:ext>
            </a:extLst>
          </p:cNvPr>
          <p:cNvSpPr/>
          <p:nvPr/>
        </p:nvSpPr>
        <p:spPr>
          <a:xfrm>
            <a:off x="1" y="244906"/>
            <a:ext cx="14634210" cy="566976"/>
          </a:xfrm>
          <a:prstGeom prst="rect">
            <a:avLst/>
          </a:prstGeom>
          <a:noFill/>
          <a:ln/>
        </p:spPr>
        <p:txBody>
          <a:bodyPr wrap="none" lIns="0" tIns="0" rIns="0" bIns="0" rtlCol="0" anchor="t"/>
          <a:lstStyle/>
          <a:p>
            <a:pPr algn="ctr">
              <a:lnSpc>
                <a:spcPts val="4450"/>
              </a:lnSpc>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sp>
        <p:nvSpPr>
          <p:cNvPr id="15" name="Shape 1">
            <a:extLst>
              <a:ext uri="{FF2B5EF4-FFF2-40B4-BE49-F238E27FC236}">
                <a16:creationId xmlns:a16="http://schemas.microsoft.com/office/drawing/2014/main" id="{141C0A36-EC0B-719C-6E66-695898BD2B36}"/>
              </a:ext>
            </a:extLst>
          </p:cNvPr>
          <p:cNvSpPr/>
          <p:nvPr/>
        </p:nvSpPr>
        <p:spPr>
          <a:xfrm>
            <a:off x="629691" y="968122"/>
            <a:ext cx="13371017" cy="4424137"/>
          </a:xfrm>
          <a:prstGeom prst="roundRect">
            <a:avLst>
              <a:gd name="adj" fmla="val 12013"/>
            </a:avLst>
          </a:prstGeom>
          <a:solidFill>
            <a:srgbClr val="F2EEEE"/>
          </a:solidFill>
          <a:ln/>
        </p:spPr>
        <p:txBody>
          <a:bodyPr/>
          <a:lstStyle/>
          <a:p>
            <a:endParaRPr lang="en-US"/>
          </a:p>
        </p:txBody>
      </p:sp>
      <p:graphicFrame>
        <p:nvGraphicFramePr>
          <p:cNvPr id="4" name="Table 3">
            <a:extLst>
              <a:ext uri="{FF2B5EF4-FFF2-40B4-BE49-F238E27FC236}">
                <a16:creationId xmlns:a16="http://schemas.microsoft.com/office/drawing/2014/main" id="{A96A4BA5-51CD-BA5C-EC03-6D8872C97BE5}"/>
              </a:ext>
            </a:extLst>
          </p:cNvPr>
          <p:cNvGraphicFramePr>
            <a:graphicFrameLocks noGrp="1"/>
          </p:cNvGraphicFramePr>
          <p:nvPr>
            <p:extLst>
              <p:ext uri="{D42A27DB-BD31-4B8C-83A1-F6EECF244321}">
                <p14:modId xmlns:p14="http://schemas.microsoft.com/office/powerpoint/2010/main" val="4010469911"/>
              </p:ext>
            </p:extLst>
          </p:nvPr>
        </p:nvGraphicFramePr>
        <p:xfrm>
          <a:off x="1107668" y="1520574"/>
          <a:ext cx="12740640" cy="3261360"/>
        </p:xfrm>
        <a:graphic>
          <a:graphicData uri="http://schemas.openxmlformats.org/drawingml/2006/table">
            <a:tbl>
              <a:tblPr firstRow="1" bandRow="1">
                <a:tableStyleId>{5940675A-B579-460E-94D1-54222C63F5DA}</a:tableStyleId>
              </a:tblPr>
              <a:tblGrid>
                <a:gridCol w="3800740">
                  <a:extLst>
                    <a:ext uri="{9D8B030D-6E8A-4147-A177-3AD203B41FA5}">
                      <a16:colId xmlns:a16="http://schemas.microsoft.com/office/drawing/2014/main" val="884101039"/>
                    </a:ext>
                  </a:extLst>
                </a:gridCol>
                <a:gridCol w="8939900">
                  <a:extLst>
                    <a:ext uri="{9D8B030D-6E8A-4147-A177-3AD203B41FA5}">
                      <a16:colId xmlns:a16="http://schemas.microsoft.com/office/drawing/2014/main" val="750565131"/>
                    </a:ext>
                  </a:extLst>
                </a:gridCol>
              </a:tblGrid>
              <a:tr h="370840">
                <a:tc>
                  <a:txBody>
                    <a:bodyPr/>
                    <a:lstStyle/>
                    <a:p>
                      <a:pPr algn="ctr"/>
                      <a:r>
                        <a:rPr lang="en-US" sz="2400" b="1">
                          <a:latin typeface="Arimo Medium" panose="020B0604020202020204" charset="0"/>
                          <a:ea typeface="Arimo Medium" panose="020B0604020202020204" charset="0"/>
                          <a:cs typeface="Arimo Medium" panose="020B0604020202020204" charset="0"/>
                        </a:rPr>
                        <a:t>Vấn đề </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Hướng giải quyết</a:t>
                      </a:r>
                    </a:p>
                  </a:txBody>
                  <a:tcPr anchor="ctr"/>
                </a:tc>
                <a:extLst>
                  <a:ext uri="{0D108BD9-81ED-4DB2-BD59-A6C34878D82A}">
                    <a16:rowId xmlns:a16="http://schemas.microsoft.com/office/drawing/2014/main" val="1373753996"/>
                  </a:ext>
                </a:extLst>
              </a:tr>
              <a:tr h="455087">
                <a:tc>
                  <a:txBody>
                    <a:bodyPr/>
                    <a:lstStyle/>
                    <a:p>
                      <a:pPr algn="l"/>
                      <a:r>
                        <a:rPr lang="en-US" sz="2000" b="0">
                          <a:latin typeface="Arimo Medium" panose="020B0604020202020204" charset="0"/>
                          <a:ea typeface="Arimo Medium" panose="020B0604020202020204" charset="0"/>
                          <a:cs typeface="Arimo Medium" panose="020B0604020202020204" charset="0"/>
                        </a:rPr>
                        <a:t>Bảng ID có một số sản phẩm </a:t>
                      </a:r>
                      <a:r>
                        <a:rPr lang="en-US" sz="2000" b="1">
                          <a:latin typeface="Arimo Medium" panose="020B0604020202020204" charset="0"/>
                          <a:ea typeface="Arimo Medium" panose="020B0604020202020204" charset="0"/>
                          <a:cs typeface="Arimo Medium" panose="020B0604020202020204" charset="0"/>
                        </a:rPr>
                        <a:t>không phải </a:t>
                      </a:r>
                      <a:r>
                        <a:rPr lang="en-US" sz="2000" b="0">
                          <a:latin typeface="Arimo Medium" panose="020B0604020202020204" charset="0"/>
                          <a:ea typeface="Arimo Medium" panose="020B0604020202020204" charset="0"/>
                          <a:cs typeface="Arimo Medium" panose="020B0604020202020204" charset="0"/>
                        </a:rPr>
                        <a:t> là điện thoại</a:t>
                      </a:r>
                    </a:p>
                  </a:txBody>
                  <a:tcPr anchor="ctr"/>
                </a:tc>
                <a:tc>
                  <a:txBody>
                    <a:bodyPr/>
                    <a:lstStyle/>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name theo enum [“điện thoại’ | &lt;hãng&gt;]</a:t>
                      </a:r>
                    </a:p>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theo giá ( lấy giá gốc &gt; 1 triệu vnđ)</a:t>
                      </a:r>
                    </a:p>
                  </a:txBody>
                  <a:tcPr/>
                </a:tc>
                <a:extLst>
                  <a:ext uri="{0D108BD9-81ED-4DB2-BD59-A6C34878D82A}">
                    <a16:rowId xmlns:a16="http://schemas.microsoft.com/office/drawing/2014/main" val="358863185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Biến Location_name đang là tiếng việt</a:t>
                      </a:r>
                    </a:p>
                  </a:txBody>
                  <a:tcPr anchor="ctr"/>
                </a:tc>
                <a:tc>
                  <a:txBody>
                    <a:bodyPr/>
                    <a:lstStyle/>
                    <a:p>
                      <a:pPr algn="l"/>
                      <a:r>
                        <a:rPr lang="en-US" sz="2000" b="0">
                          <a:latin typeface="Arimo Medium" panose="020B0604020202020204" charset="0"/>
                          <a:ea typeface="Arimo Medium" panose="020B0604020202020204" charset="0"/>
                          <a:cs typeface="Arimo Medium" panose="020B0604020202020204" charset="0"/>
                        </a:rPr>
                        <a:t>- Sử dụng thư viện </a:t>
                      </a:r>
                      <a:r>
                        <a:rPr lang="en-US" sz="2000" b="1">
                          <a:latin typeface="Arimo Medium" panose="020B0604020202020204" charset="0"/>
                          <a:ea typeface="Arimo Medium" panose="020B0604020202020204" charset="0"/>
                          <a:cs typeface="Arimo Medium" panose="020B0604020202020204" charset="0"/>
                        </a:rPr>
                        <a:t>unicodedata </a:t>
                      </a:r>
                      <a:r>
                        <a:rPr lang="en-US" sz="2000" b="0">
                          <a:latin typeface="Arimo Medium" panose="020B0604020202020204" charset="0"/>
                          <a:ea typeface="Arimo Medium" panose="020B0604020202020204" charset="0"/>
                          <a:cs typeface="Arimo Medium" panose="020B0604020202020204" charset="0"/>
                        </a:rPr>
                        <a:t> để biến thành không dấu</a:t>
                      </a:r>
                    </a:p>
                  </a:txBody>
                  <a:tcPr/>
                </a:tc>
                <a:extLst>
                  <a:ext uri="{0D108BD9-81ED-4DB2-BD59-A6C34878D82A}">
                    <a16:rowId xmlns:a16="http://schemas.microsoft.com/office/drawing/2014/main" val="3015556416"/>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Giá bị thừa số “0”, một số ô bị thiếu </a:t>
                      </a:r>
                    </a:p>
                  </a:txBody>
                  <a:tcPr anchor="ctr"/>
                </a:tc>
                <a:tc>
                  <a:txBody>
                    <a:bodyPr/>
                    <a:lstStyle/>
                    <a:p>
                      <a:pPr marL="342900" indent="-342900" algn="l">
                        <a:buFontTx/>
                        <a:buChar char="-"/>
                      </a:pPr>
                      <a:r>
                        <a:rPr lang="en-US" sz="2000" b="0" kern="1200">
                          <a:solidFill>
                            <a:schemeClr val="tx1"/>
                          </a:solidFill>
                          <a:effectLst/>
                          <a:latin typeface="+mn-lt"/>
                          <a:ea typeface="+mn-ea"/>
                          <a:cs typeface="+mn-cs"/>
                        </a:rPr>
                        <a:t>Chia cho 10000 để đưa về giá phù hợp</a:t>
                      </a:r>
                    </a:p>
                    <a:p>
                      <a:pPr marL="342900" indent="-342900" algn="l">
                        <a:buFontTx/>
                        <a:buChar char="-"/>
                      </a:pPr>
                      <a:r>
                        <a:rPr lang="en-US" sz="2000" b="0" kern="1200">
                          <a:solidFill>
                            <a:schemeClr val="tx1"/>
                          </a:solidFill>
                          <a:effectLst/>
                          <a:latin typeface="+mn-lt"/>
                          <a:ea typeface="+mn-ea"/>
                          <a:cs typeface="+mn-cs"/>
                        </a:rPr>
                        <a:t>Xử lý ngoại loại giá </a:t>
                      </a:r>
                      <a:r>
                        <a:rPr lang="en-US" sz="2000" b="1" kern="1200">
                          <a:solidFill>
                            <a:schemeClr val="tx1"/>
                          </a:solidFill>
                          <a:effectLst/>
                          <a:latin typeface="+mn-lt"/>
                          <a:ea typeface="+mn-ea"/>
                          <a:cs typeface="+mn-cs"/>
                        </a:rPr>
                        <a:t>upper bound </a:t>
                      </a:r>
                      <a:r>
                        <a:rPr lang="en-US" sz="2000" b="0" kern="1200">
                          <a:solidFill>
                            <a:schemeClr val="tx1"/>
                          </a:solidFill>
                          <a:effectLst/>
                          <a:latin typeface="+mn-lt"/>
                          <a:ea typeface="+mn-ea"/>
                          <a:cs typeface="+mn-cs"/>
                        </a:rPr>
                        <a:t>( loại bỏ thay vì thay bằng median)</a:t>
                      </a:r>
                      <a:endParaRPr lang="en-US" sz="2000" b="0">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63641839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Hãng bị thiếu nhiều ô</a:t>
                      </a:r>
                    </a:p>
                  </a:txBody>
                  <a:tcPr anchor="ctr"/>
                </a:tc>
                <a:tc>
                  <a:txBody>
                    <a:bodyPr/>
                    <a:lstStyle/>
                    <a:p>
                      <a:pPr algn="l"/>
                      <a:r>
                        <a:rPr lang="en-US" sz="2000" b="0" kern="1200">
                          <a:solidFill>
                            <a:schemeClr val="tx1"/>
                          </a:solidFill>
                          <a:effectLst/>
                          <a:latin typeface="+mn-lt"/>
                          <a:ea typeface="+mn-ea"/>
                          <a:cs typeface="+mn-cs"/>
                        </a:rPr>
                        <a:t>- Lấp đầy theo tên dựa trên enum [&lt;hãng&gt;] rồi uppercase,  nếu như không có trong enum mặc định gán </a:t>
                      </a:r>
                      <a:r>
                        <a:rPr lang="en-US" sz="2000" b="1" kern="1200">
                          <a:solidFill>
                            <a:schemeClr val="tx1"/>
                          </a:solidFill>
                          <a:effectLst/>
                          <a:latin typeface="+mn-lt"/>
                          <a:ea typeface="+mn-ea"/>
                          <a:cs typeface="+mn-cs"/>
                        </a:rPr>
                        <a:t>UNKNOW</a:t>
                      </a:r>
                      <a:endParaRPr lang="en-US" sz="2000" b="1">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3771549242"/>
                  </a:ext>
                </a:extLst>
              </a:tr>
            </a:tbl>
          </a:graphicData>
        </a:graphic>
      </p:graphicFrame>
      <p:pic>
        <p:nvPicPr>
          <p:cNvPr id="8" name="Picture 7">
            <a:extLst>
              <a:ext uri="{FF2B5EF4-FFF2-40B4-BE49-F238E27FC236}">
                <a16:creationId xmlns:a16="http://schemas.microsoft.com/office/drawing/2014/main" id="{19F42404-CA49-D530-6BDB-FB064659B49C}"/>
              </a:ext>
            </a:extLst>
          </p:cNvPr>
          <p:cNvPicPr>
            <a:picLocks noChangeAspect="1"/>
          </p:cNvPicPr>
          <p:nvPr/>
        </p:nvPicPr>
        <p:blipFill>
          <a:blip r:embed="rId3"/>
          <a:srcRect b="76618"/>
          <a:stretch>
            <a:fillRect/>
          </a:stretch>
        </p:blipFill>
        <p:spPr>
          <a:xfrm>
            <a:off x="489325" y="5879262"/>
            <a:ext cx="6368674" cy="1868313"/>
          </a:xfrm>
          <a:prstGeom prst="rect">
            <a:avLst/>
          </a:prstGeom>
        </p:spPr>
      </p:pic>
      <p:pic>
        <p:nvPicPr>
          <p:cNvPr id="10" name="Picture 9">
            <a:extLst>
              <a:ext uri="{FF2B5EF4-FFF2-40B4-BE49-F238E27FC236}">
                <a16:creationId xmlns:a16="http://schemas.microsoft.com/office/drawing/2014/main" id="{D0AAABDE-04AD-2B06-BCAF-DD92C1BAEA37}"/>
              </a:ext>
            </a:extLst>
          </p:cNvPr>
          <p:cNvPicPr>
            <a:picLocks noChangeAspect="1"/>
          </p:cNvPicPr>
          <p:nvPr/>
        </p:nvPicPr>
        <p:blipFill>
          <a:blip r:embed="rId3"/>
          <a:srcRect t="23051" b="47532"/>
          <a:stretch>
            <a:fillRect/>
          </a:stretch>
        </p:blipFill>
        <p:spPr>
          <a:xfrm>
            <a:off x="7638890" y="5548499"/>
            <a:ext cx="6854350" cy="2529840"/>
          </a:xfrm>
          <a:prstGeom prst="rect">
            <a:avLst/>
          </a:prstGeom>
        </p:spPr>
      </p:pic>
    </p:spTree>
    <p:extLst>
      <p:ext uri="{BB962C8B-B14F-4D97-AF65-F5344CB8AC3E}">
        <p14:creationId xmlns:p14="http://schemas.microsoft.com/office/powerpoint/2010/main" val="21101600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1A41A-7AAF-7A20-6C85-B933E1388D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A6CB88-3F0F-3DD5-9777-C4993A2EA155}"/>
              </a:ext>
            </a:extLst>
          </p:cNvPr>
          <p:cNvSpPr/>
          <p:nvPr/>
        </p:nvSpPr>
        <p:spPr>
          <a:xfrm>
            <a:off x="1" y="244906"/>
            <a:ext cx="14634210" cy="566976"/>
          </a:xfrm>
          <a:prstGeom prst="rect">
            <a:avLst/>
          </a:prstGeom>
          <a:noFill/>
          <a:ln/>
        </p:spPr>
        <p:txBody>
          <a:bodyPr wrap="none" lIns="0" tIns="0" rIns="0" bIns="0" rtlCol="0" anchor="t"/>
          <a:lstStyle/>
          <a:p>
            <a:pPr algn="ctr">
              <a:lnSpc>
                <a:spcPts val="4450"/>
              </a:lnSpc>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sp>
        <p:nvSpPr>
          <p:cNvPr id="15" name="Shape 1">
            <a:extLst>
              <a:ext uri="{FF2B5EF4-FFF2-40B4-BE49-F238E27FC236}">
                <a16:creationId xmlns:a16="http://schemas.microsoft.com/office/drawing/2014/main" id="{C8C8B651-12BB-CB53-9A02-E92B7152E578}"/>
              </a:ext>
            </a:extLst>
          </p:cNvPr>
          <p:cNvSpPr/>
          <p:nvPr/>
        </p:nvSpPr>
        <p:spPr>
          <a:xfrm>
            <a:off x="629691" y="968122"/>
            <a:ext cx="13371017" cy="4424137"/>
          </a:xfrm>
          <a:prstGeom prst="roundRect">
            <a:avLst>
              <a:gd name="adj" fmla="val 12013"/>
            </a:avLst>
          </a:prstGeom>
          <a:solidFill>
            <a:srgbClr val="F2EEEE"/>
          </a:solidFill>
          <a:ln/>
        </p:spPr>
        <p:txBody>
          <a:bodyPr/>
          <a:lstStyle/>
          <a:p>
            <a:endParaRPr lang="en-US"/>
          </a:p>
        </p:txBody>
      </p:sp>
      <p:graphicFrame>
        <p:nvGraphicFramePr>
          <p:cNvPr id="4" name="Table 3">
            <a:extLst>
              <a:ext uri="{FF2B5EF4-FFF2-40B4-BE49-F238E27FC236}">
                <a16:creationId xmlns:a16="http://schemas.microsoft.com/office/drawing/2014/main" id="{F09245AD-C2D4-8C8A-BDBB-94FBD3F264E0}"/>
              </a:ext>
            </a:extLst>
          </p:cNvPr>
          <p:cNvGraphicFramePr>
            <a:graphicFrameLocks noGrp="1"/>
          </p:cNvGraphicFramePr>
          <p:nvPr/>
        </p:nvGraphicFramePr>
        <p:xfrm>
          <a:off x="1107668" y="1520574"/>
          <a:ext cx="12740640" cy="3261360"/>
        </p:xfrm>
        <a:graphic>
          <a:graphicData uri="http://schemas.openxmlformats.org/drawingml/2006/table">
            <a:tbl>
              <a:tblPr firstRow="1" bandRow="1">
                <a:tableStyleId>{5940675A-B579-460E-94D1-54222C63F5DA}</a:tableStyleId>
              </a:tblPr>
              <a:tblGrid>
                <a:gridCol w="3800740">
                  <a:extLst>
                    <a:ext uri="{9D8B030D-6E8A-4147-A177-3AD203B41FA5}">
                      <a16:colId xmlns:a16="http://schemas.microsoft.com/office/drawing/2014/main" val="884101039"/>
                    </a:ext>
                  </a:extLst>
                </a:gridCol>
                <a:gridCol w="8939900">
                  <a:extLst>
                    <a:ext uri="{9D8B030D-6E8A-4147-A177-3AD203B41FA5}">
                      <a16:colId xmlns:a16="http://schemas.microsoft.com/office/drawing/2014/main" val="750565131"/>
                    </a:ext>
                  </a:extLst>
                </a:gridCol>
              </a:tblGrid>
              <a:tr h="370840">
                <a:tc>
                  <a:txBody>
                    <a:bodyPr/>
                    <a:lstStyle/>
                    <a:p>
                      <a:pPr algn="ctr"/>
                      <a:r>
                        <a:rPr lang="en-US" sz="2400" b="1">
                          <a:latin typeface="Arimo Medium" panose="020B0604020202020204" charset="0"/>
                          <a:ea typeface="Arimo Medium" panose="020B0604020202020204" charset="0"/>
                          <a:cs typeface="Arimo Medium" panose="020B0604020202020204" charset="0"/>
                        </a:rPr>
                        <a:t>Vấn đề </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Hướng giải quyết</a:t>
                      </a:r>
                    </a:p>
                  </a:txBody>
                  <a:tcPr anchor="ctr"/>
                </a:tc>
                <a:extLst>
                  <a:ext uri="{0D108BD9-81ED-4DB2-BD59-A6C34878D82A}">
                    <a16:rowId xmlns:a16="http://schemas.microsoft.com/office/drawing/2014/main" val="1373753996"/>
                  </a:ext>
                </a:extLst>
              </a:tr>
              <a:tr h="455087">
                <a:tc>
                  <a:txBody>
                    <a:bodyPr/>
                    <a:lstStyle/>
                    <a:p>
                      <a:pPr algn="l"/>
                      <a:r>
                        <a:rPr lang="en-US" sz="2000" b="0">
                          <a:latin typeface="Arimo Medium" panose="020B0604020202020204" charset="0"/>
                          <a:ea typeface="Arimo Medium" panose="020B0604020202020204" charset="0"/>
                          <a:cs typeface="Arimo Medium" panose="020B0604020202020204" charset="0"/>
                        </a:rPr>
                        <a:t>Bảng ID có một số sản phẩm </a:t>
                      </a:r>
                      <a:r>
                        <a:rPr lang="en-US" sz="2000" b="1">
                          <a:latin typeface="Arimo Medium" panose="020B0604020202020204" charset="0"/>
                          <a:ea typeface="Arimo Medium" panose="020B0604020202020204" charset="0"/>
                          <a:cs typeface="Arimo Medium" panose="020B0604020202020204" charset="0"/>
                        </a:rPr>
                        <a:t>không phải </a:t>
                      </a:r>
                      <a:r>
                        <a:rPr lang="en-US" sz="2000" b="0">
                          <a:latin typeface="Arimo Medium" panose="020B0604020202020204" charset="0"/>
                          <a:ea typeface="Arimo Medium" panose="020B0604020202020204" charset="0"/>
                          <a:cs typeface="Arimo Medium" panose="020B0604020202020204" charset="0"/>
                        </a:rPr>
                        <a:t> là điện thoại</a:t>
                      </a:r>
                    </a:p>
                  </a:txBody>
                  <a:tcPr anchor="ctr"/>
                </a:tc>
                <a:tc>
                  <a:txBody>
                    <a:bodyPr/>
                    <a:lstStyle/>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name theo enum [“điện thoại’ | &lt;hãng&gt;]</a:t>
                      </a:r>
                    </a:p>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theo giá ( lấy giá gốc &gt; 1 triệu vnđ)</a:t>
                      </a:r>
                    </a:p>
                  </a:txBody>
                  <a:tcPr/>
                </a:tc>
                <a:extLst>
                  <a:ext uri="{0D108BD9-81ED-4DB2-BD59-A6C34878D82A}">
                    <a16:rowId xmlns:a16="http://schemas.microsoft.com/office/drawing/2014/main" val="358863185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Biến Location_name đang là tiếng việt</a:t>
                      </a:r>
                    </a:p>
                  </a:txBody>
                  <a:tcPr anchor="ctr"/>
                </a:tc>
                <a:tc>
                  <a:txBody>
                    <a:bodyPr/>
                    <a:lstStyle/>
                    <a:p>
                      <a:pPr algn="l"/>
                      <a:r>
                        <a:rPr lang="en-US" sz="2000" b="0">
                          <a:latin typeface="Arimo Medium" panose="020B0604020202020204" charset="0"/>
                          <a:ea typeface="Arimo Medium" panose="020B0604020202020204" charset="0"/>
                          <a:cs typeface="Arimo Medium" panose="020B0604020202020204" charset="0"/>
                        </a:rPr>
                        <a:t>- Sử dụng thư viện </a:t>
                      </a:r>
                      <a:r>
                        <a:rPr lang="en-US" sz="2000" b="1">
                          <a:latin typeface="Arimo Medium" panose="020B0604020202020204" charset="0"/>
                          <a:ea typeface="Arimo Medium" panose="020B0604020202020204" charset="0"/>
                          <a:cs typeface="Arimo Medium" panose="020B0604020202020204" charset="0"/>
                        </a:rPr>
                        <a:t>unicodedata </a:t>
                      </a:r>
                      <a:r>
                        <a:rPr lang="en-US" sz="2000" b="0">
                          <a:latin typeface="Arimo Medium" panose="020B0604020202020204" charset="0"/>
                          <a:ea typeface="Arimo Medium" panose="020B0604020202020204" charset="0"/>
                          <a:cs typeface="Arimo Medium" panose="020B0604020202020204" charset="0"/>
                        </a:rPr>
                        <a:t> để biến thành không dấu</a:t>
                      </a:r>
                    </a:p>
                  </a:txBody>
                  <a:tcPr/>
                </a:tc>
                <a:extLst>
                  <a:ext uri="{0D108BD9-81ED-4DB2-BD59-A6C34878D82A}">
                    <a16:rowId xmlns:a16="http://schemas.microsoft.com/office/drawing/2014/main" val="3015556416"/>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Giá bị thừa số “0”, một số ô bị thiếu </a:t>
                      </a:r>
                    </a:p>
                  </a:txBody>
                  <a:tcPr anchor="ctr"/>
                </a:tc>
                <a:tc>
                  <a:txBody>
                    <a:bodyPr/>
                    <a:lstStyle/>
                    <a:p>
                      <a:pPr marL="342900" indent="-342900" algn="l">
                        <a:buFontTx/>
                        <a:buChar char="-"/>
                      </a:pPr>
                      <a:r>
                        <a:rPr lang="en-US" sz="2000" b="0" kern="1200">
                          <a:solidFill>
                            <a:schemeClr val="tx1"/>
                          </a:solidFill>
                          <a:effectLst/>
                          <a:latin typeface="+mn-lt"/>
                          <a:ea typeface="+mn-ea"/>
                          <a:cs typeface="+mn-cs"/>
                        </a:rPr>
                        <a:t>Chia cho 10000 để đưa về giá phù hợp</a:t>
                      </a:r>
                    </a:p>
                    <a:p>
                      <a:pPr marL="342900" indent="-342900" algn="l">
                        <a:buFontTx/>
                        <a:buChar char="-"/>
                      </a:pPr>
                      <a:r>
                        <a:rPr lang="en-US" sz="2000" b="0" kern="1200">
                          <a:solidFill>
                            <a:schemeClr val="tx1"/>
                          </a:solidFill>
                          <a:effectLst/>
                          <a:latin typeface="+mn-lt"/>
                          <a:ea typeface="+mn-ea"/>
                          <a:cs typeface="+mn-cs"/>
                        </a:rPr>
                        <a:t>Xử lý ngoại loại giá </a:t>
                      </a:r>
                      <a:r>
                        <a:rPr lang="en-US" sz="2000" b="1" kern="1200">
                          <a:solidFill>
                            <a:schemeClr val="tx1"/>
                          </a:solidFill>
                          <a:effectLst/>
                          <a:latin typeface="+mn-lt"/>
                          <a:ea typeface="+mn-ea"/>
                          <a:cs typeface="+mn-cs"/>
                        </a:rPr>
                        <a:t>upper bound </a:t>
                      </a:r>
                      <a:r>
                        <a:rPr lang="en-US" sz="2000" b="0" kern="1200">
                          <a:solidFill>
                            <a:schemeClr val="tx1"/>
                          </a:solidFill>
                          <a:effectLst/>
                          <a:latin typeface="+mn-lt"/>
                          <a:ea typeface="+mn-ea"/>
                          <a:cs typeface="+mn-cs"/>
                        </a:rPr>
                        <a:t>( loại bỏ thay vì thay bằng median)</a:t>
                      </a:r>
                      <a:endParaRPr lang="en-US" sz="2000" b="0">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63641839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Hãng bị thiếu nhiều ô</a:t>
                      </a:r>
                    </a:p>
                  </a:txBody>
                  <a:tcPr anchor="ctr"/>
                </a:tc>
                <a:tc>
                  <a:txBody>
                    <a:bodyPr/>
                    <a:lstStyle/>
                    <a:p>
                      <a:pPr algn="l"/>
                      <a:r>
                        <a:rPr lang="en-US" sz="2000" b="0" kern="1200">
                          <a:solidFill>
                            <a:schemeClr val="tx1"/>
                          </a:solidFill>
                          <a:effectLst/>
                          <a:latin typeface="+mn-lt"/>
                          <a:ea typeface="+mn-ea"/>
                          <a:cs typeface="+mn-cs"/>
                        </a:rPr>
                        <a:t>- Lấp đầy theo tên dựa trên enum [&lt;hãng&gt;] rồi uppercase,  nếu như không có trong enum mặc định gán </a:t>
                      </a:r>
                      <a:r>
                        <a:rPr lang="en-US" sz="2000" b="1" kern="1200">
                          <a:solidFill>
                            <a:schemeClr val="tx1"/>
                          </a:solidFill>
                          <a:effectLst/>
                          <a:latin typeface="+mn-lt"/>
                          <a:ea typeface="+mn-ea"/>
                          <a:cs typeface="+mn-cs"/>
                        </a:rPr>
                        <a:t>UNKNOW</a:t>
                      </a:r>
                      <a:endParaRPr lang="en-US" sz="2000" b="1">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3771549242"/>
                  </a:ext>
                </a:extLst>
              </a:tr>
            </a:tbl>
          </a:graphicData>
        </a:graphic>
      </p:graphicFrame>
      <p:pic>
        <p:nvPicPr>
          <p:cNvPr id="5" name="Picture 4">
            <a:extLst>
              <a:ext uri="{FF2B5EF4-FFF2-40B4-BE49-F238E27FC236}">
                <a16:creationId xmlns:a16="http://schemas.microsoft.com/office/drawing/2014/main" id="{43317AB6-1228-73C9-E834-671C5F465980}"/>
              </a:ext>
            </a:extLst>
          </p:cNvPr>
          <p:cNvPicPr>
            <a:picLocks noChangeAspect="1"/>
          </p:cNvPicPr>
          <p:nvPr/>
        </p:nvPicPr>
        <p:blipFill>
          <a:blip r:embed="rId3"/>
          <a:srcRect t="52443" b="2306"/>
          <a:stretch>
            <a:fillRect/>
          </a:stretch>
        </p:blipFill>
        <p:spPr>
          <a:xfrm>
            <a:off x="4505431" y="5233254"/>
            <a:ext cx="5198800" cy="2951544"/>
          </a:xfrm>
          <a:prstGeom prst="rect">
            <a:avLst/>
          </a:prstGeom>
        </p:spPr>
      </p:pic>
    </p:spTree>
    <p:extLst>
      <p:ext uri="{BB962C8B-B14F-4D97-AF65-F5344CB8AC3E}">
        <p14:creationId xmlns:p14="http://schemas.microsoft.com/office/powerpoint/2010/main" val="110967283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7DA3C-4104-3ED5-7990-ABDA9DFA3CB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6149E1F-5E49-8BE9-2409-AA97E3697E35}"/>
              </a:ext>
            </a:extLst>
          </p:cNvPr>
          <p:cNvSpPr/>
          <p:nvPr/>
        </p:nvSpPr>
        <p:spPr>
          <a:xfrm>
            <a:off x="148829" y="13788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3.2 Trực quan hóa dữ liệu ban đầu</a:t>
            </a:r>
            <a:endParaRPr lang="en-US" sz="3550" b="1" dirty="0"/>
          </a:p>
        </p:txBody>
      </p:sp>
      <p:sp>
        <p:nvSpPr>
          <p:cNvPr id="16" name="Shape 1">
            <a:extLst>
              <a:ext uri="{FF2B5EF4-FFF2-40B4-BE49-F238E27FC236}">
                <a16:creationId xmlns:a16="http://schemas.microsoft.com/office/drawing/2014/main" id="{AC5C11FE-3EF0-BCE7-315E-13F931FCFEAE}"/>
              </a:ext>
            </a:extLst>
          </p:cNvPr>
          <p:cNvSpPr/>
          <p:nvPr/>
        </p:nvSpPr>
        <p:spPr>
          <a:xfrm>
            <a:off x="463951" y="2746525"/>
            <a:ext cx="4912529" cy="3071826"/>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9E49AE03-109F-86FC-EC52-423A2691DC30}"/>
              </a:ext>
            </a:extLst>
          </p:cNvPr>
          <p:cNvSpPr/>
          <p:nvPr/>
        </p:nvSpPr>
        <p:spPr>
          <a:xfrm>
            <a:off x="617283" y="2887493"/>
            <a:ext cx="4585577"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Mô hình cốt lõi</a:t>
            </a:r>
            <a:endParaRPr lang="en-US" sz="2400" b="1" dirty="0"/>
          </a:p>
        </p:txBody>
      </p:sp>
      <p:sp>
        <p:nvSpPr>
          <p:cNvPr id="18" name="Text 3">
            <a:extLst>
              <a:ext uri="{FF2B5EF4-FFF2-40B4-BE49-F238E27FC236}">
                <a16:creationId xmlns:a16="http://schemas.microsoft.com/office/drawing/2014/main" id="{B600ED2E-76BC-3204-3214-ECA087DD8A48}"/>
              </a:ext>
            </a:extLst>
          </p:cNvPr>
          <p:cNvSpPr/>
          <p:nvPr/>
        </p:nvSpPr>
        <p:spPr>
          <a:xfrm>
            <a:off x="840246" y="3329747"/>
            <a:ext cx="4188994" cy="1230493"/>
          </a:xfrm>
          <a:prstGeom prst="rect">
            <a:avLst/>
          </a:prstGeom>
          <a:noFill/>
          <a:ln/>
        </p:spPr>
        <p:txBody>
          <a:bodyPr wrap="square" lIns="0" tIns="0" rIns="0" bIns="0" rtlCol="0" anchor="t"/>
          <a:lstStyle/>
          <a:p>
            <a:pPr marL="0" indent="0" algn="ctr">
              <a:lnSpc>
                <a:spcPts val="2850"/>
              </a:lnSpc>
              <a:buNone/>
            </a:pPr>
            <a:r>
              <a:rPr lang="vi-VN" sz="2000">
                <a:solidFill>
                  <a:srgbClr val="464646"/>
                </a:solidFill>
                <a:latin typeface="Arimo Medium" pitchFamily="34" charset="0"/>
                <a:ea typeface="Arimo Medium" pitchFamily="34" charset="-122"/>
                <a:cs typeface="Arimo Medium" pitchFamily="34" charset="-120"/>
              </a:rPr>
              <a:t>Lựa chọn YOLOv8 (phiên bản Nano) với ưu điểm vượt trội về tốc độ suy diễn (Inference speed), đáp ứng hoàn hảo yêu cầu chạy Real-time (thời gian thực) của hệ thống cảnh báo tích hợp IoT </a:t>
            </a:r>
          </a:p>
        </p:txBody>
      </p:sp>
      <p:pic>
        <p:nvPicPr>
          <p:cNvPr id="7" name="Picture 6">
            <a:extLst>
              <a:ext uri="{FF2B5EF4-FFF2-40B4-BE49-F238E27FC236}">
                <a16:creationId xmlns:a16="http://schemas.microsoft.com/office/drawing/2014/main" id="{B8756D9A-6594-1C4C-03DB-9F70894B09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9152" y="1634005"/>
            <a:ext cx="8418890" cy="5051334"/>
          </a:xfrm>
          <a:prstGeom prst="rect">
            <a:avLst/>
          </a:prstGeom>
        </p:spPr>
      </p:pic>
    </p:spTree>
    <p:extLst>
      <p:ext uri="{BB962C8B-B14F-4D97-AF65-F5344CB8AC3E}">
        <p14:creationId xmlns:p14="http://schemas.microsoft.com/office/powerpoint/2010/main" val="82508644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2451-85FF-F069-180A-4D5CBCB26A8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E583A9F7-0C51-1CD2-5DD6-45D55628EFAA}"/>
              </a:ext>
            </a:extLst>
          </p:cNvPr>
          <p:cNvSpPr/>
          <p:nvPr/>
        </p:nvSpPr>
        <p:spPr>
          <a:xfrm>
            <a:off x="148829" y="13788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3831081A-B489-886F-7155-6970C11A185A}"/>
              </a:ext>
            </a:extLst>
          </p:cNvPr>
          <p:cNvSpPr/>
          <p:nvPr/>
        </p:nvSpPr>
        <p:spPr>
          <a:xfrm>
            <a:off x="698127" y="3069910"/>
            <a:ext cx="4912529" cy="3071826"/>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7DD198D5-0EE3-5780-3C1F-D292B9E8352E}"/>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Lựa chọn số cụm (k = ?)</a:t>
            </a:r>
            <a:endParaRPr lang="en-US" sz="2400" b="1" dirty="0"/>
          </a:p>
        </p:txBody>
      </p:sp>
      <p:sp>
        <p:nvSpPr>
          <p:cNvPr id="18" name="Text 3">
            <a:extLst>
              <a:ext uri="{FF2B5EF4-FFF2-40B4-BE49-F238E27FC236}">
                <a16:creationId xmlns:a16="http://schemas.microsoft.com/office/drawing/2014/main" id="{D309CAB2-BDEA-3575-00CD-C6B8873A3F11}"/>
              </a:ext>
            </a:extLst>
          </p:cNvPr>
          <p:cNvSpPr/>
          <p:nvPr/>
        </p:nvSpPr>
        <p:spPr>
          <a:xfrm>
            <a:off x="1074422" y="3653132"/>
            <a:ext cx="4188994" cy="2379677"/>
          </a:xfrm>
          <a:prstGeom prst="rect">
            <a:avLst/>
          </a:prstGeom>
          <a:noFill/>
          <a:ln/>
        </p:spPr>
        <p:txBody>
          <a:bodyPr wrap="square" lIns="0" tIns="0" rIns="0" bIns="0" rtlCol="0" anchor="t"/>
          <a:lstStyle/>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K = 2 : Chỉ phân cụm được 2 nhóm ( giá rẻ bán chạy - giá cao bán ế )</a:t>
            </a: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K = 3 : Mô hình phân cụm linh hoạt hơn ( Phân khúc Thấp – Trung Bình – Cao (flagship) </a:t>
            </a:r>
            <a:endParaRPr lang="vi-VN" sz="2000">
              <a:solidFill>
                <a:srgbClr val="464646"/>
              </a:solidFill>
              <a:latin typeface="Arimo Medium" pitchFamily="34" charset="0"/>
              <a:ea typeface="Arimo Medium" pitchFamily="34" charset="-122"/>
              <a:cs typeface="Arimo Medium" pitchFamily="34" charset="-120"/>
            </a:endParaRPr>
          </a:p>
        </p:txBody>
      </p:sp>
      <p:pic>
        <p:nvPicPr>
          <p:cNvPr id="5" name="Picture 4">
            <a:extLst>
              <a:ext uri="{FF2B5EF4-FFF2-40B4-BE49-F238E27FC236}">
                <a16:creationId xmlns:a16="http://schemas.microsoft.com/office/drawing/2014/main" id="{68334427-334D-80D2-C57B-4E7A1E0842F0}"/>
              </a:ext>
            </a:extLst>
          </p:cNvPr>
          <p:cNvPicPr>
            <a:picLocks noChangeAspect="1"/>
          </p:cNvPicPr>
          <p:nvPr/>
        </p:nvPicPr>
        <p:blipFill>
          <a:blip r:embed="rId3"/>
          <a:stretch>
            <a:fillRect/>
          </a:stretch>
        </p:blipFill>
        <p:spPr>
          <a:xfrm>
            <a:off x="7253405" y="704862"/>
            <a:ext cx="7315215" cy="3657607"/>
          </a:xfrm>
          <a:prstGeom prst="rect">
            <a:avLst/>
          </a:prstGeom>
        </p:spPr>
      </p:pic>
      <p:pic>
        <p:nvPicPr>
          <p:cNvPr id="8" name="Picture 7">
            <a:extLst>
              <a:ext uri="{FF2B5EF4-FFF2-40B4-BE49-F238E27FC236}">
                <a16:creationId xmlns:a16="http://schemas.microsoft.com/office/drawing/2014/main" id="{88F578DA-F742-6044-1CC2-B2440DE37338}"/>
              </a:ext>
            </a:extLst>
          </p:cNvPr>
          <p:cNvPicPr>
            <a:picLocks noChangeAspect="1"/>
          </p:cNvPicPr>
          <p:nvPr/>
        </p:nvPicPr>
        <p:blipFill>
          <a:blip r:embed="rId4"/>
          <a:stretch>
            <a:fillRect/>
          </a:stretch>
        </p:blipFill>
        <p:spPr>
          <a:xfrm>
            <a:off x="7166595" y="4282438"/>
            <a:ext cx="7315215" cy="3657607"/>
          </a:xfrm>
          <a:prstGeom prst="rect">
            <a:avLst/>
          </a:prstGeom>
        </p:spPr>
      </p:pic>
    </p:spTree>
    <p:extLst>
      <p:ext uri="{BB962C8B-B14F-4D97-AF65-F5344CB8AC3E}">
        <p14:creationId xmlns:p14="http://schemas.microsoft.com/office/powerpoint/2010/main" val="109746079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D5584-9F5E-E269-F2FA-2A76288B321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75726333-9F6F-038C-7D1F-2FDCC7C35F40}"/>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3.4 Gom cụm và huấn luyện </a:t>
            </a:r>
            <a:endParaRPr lang="en-US" sz="3550" b="1" dirty="0"/>
          </a:p>
        </p:txBody>
      </p:sp>
      <p:sp>
        <p:nvSpPr>
          <p:cNvPr id="16" name="Shape 1">
            <a:extLst>
              <a:ext uri="{FF2B5EF4-FFF2-40B4-BE49-F238E27FC236}">
                <a16:creationId xmlns:a16="http://schemas.microsoft.com/office/drawing/2014/main" id="{4AB80645-9335-93CF-A30A-2C86514B49AB}"/>
              </a:ext>
            </a:extLst>
          </p:cNvPr>
          <p:cNvSpPr/>
          <p:nvPr/>
        </p:nvSpPr>
        <p:spPr>
          <a:xfrm>
            <a:off x="148829" y="2902270"/>
            <a:ext cx="6617073" cy="3071826"/>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05CB83F0-49F8-6517-9033-70F8F5F7CE58}"/>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19F39FD7-E028-6A87-C3A4-8788C22D56F3}"/>
              </a:ext>
            </a:extLst>
          </p:cNvPr>
          <p:cNvSpPr/>
          <p:nvPr/>
        </p:nvSpPr>
        <p:spPr>
          <a:xfrm>
            <a:off x="302161" y="3056504"/>
            <a:ext cx="6353282" cy="3552640"/>
          </a:xfrm>
          <a:prstGeom prst="rect">
            <a:avLst/>
          </a:prstGeom>
          <a:noFill/>
          <a:ln/>
        </p:spPr>
        <p:txBody>
          <a:bodyPr wrap="square" lIns="0" tIns="0" rIns="0" bIns="0" rtlCol="0" anchor="t"/>
          <a:lstStyle/>
          <a:p>
            <a:pPr marL="342900" indent="-342900">
              <a:lnSpc>
                <a:spcPts val="2850"/>
              </a:lnSpc>
              <a:buFontTx/>
              <a:buChar char="-"/>
            </a:pPr>
            <a:r>
              <a:rPr lang="vi-VN" sz="2000" b="1">
                <a:solidFill>
                  <a:srgbClr val="464646"/>
                </a:solidFill>
                <a:latin typeface="Arimo Medium" pitchFamily="34" charset="0"/>
                <a:ea typeface="Arimo Medium" pitchFamily="34" charset="-122"/>
                <a:cs typeface="Arimo Medium" pitchFamily="34" charset="-120"/>
              </a:rPr>
              <a:t>Cụm 0</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Giá trung bình</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lượt bán ổn</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liked_count cao.</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Phân tích: Khách hàng cân nhắc kỹ, thích sản phẩm này vì uy tín và cấu hình ngon trong tầm giá.</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Chiến lược: Tối ưu hóa chăm sóc khách hàng. Vì họ "thích" (like) nhiều, hãy dùng tính năng "Gửi tin nhắn cho người thích sản phẩm" để tung mã giảm giá độc quyền, chốt đơn ngay.</a:t>
            </a:r>
            <a:endParaRPr lang="en-US" sz="2000">
              <a:solidFill>
                <a:srgbClr val="464646"/>
              </a:solidFill>
              <a:latin typeface="Arimo Medium" pitchFamily="34" charset="0"/>
              <a:ea typeface="Arimo Medium" pitchFamily="34" charset="-122"/>
              <a:cs typeface="Arimo Medium" pitchFamily="34" charset="-120"/>
            </a:endParaRPr>
          </a:p>
        </p:txBody>
      </p:sp>
      <p:pic>
        <p:nvPicPr>
          <p:cNvPr id="4" name="Picture 3">
            <a:extLst>
              <a:ext uri="{FF2B5EF4-FFF2-40B4-BE49-F238E27FC236}">
                <a16:creationId xmlns:a16="http://schemas.microsoft.com/office/drawing/2014/main" id="{0D461480-C69D-7E8E-FBA9-60A8FB3DC2C5}"/>
              </a:ext>
            </a:extLst>
          </p:cNvPr>
          <p:cNvPicPr>
            <a:picLocks noChangeAspect="1"/>
          </p:cNvPicPr>
          <p:nvPr/>
        </p:nvPicPr>
        <p:blipFill>
          <a:blip r:embed="rId3"/>
          <a:srcRect l="6130"/>
          <a:stretch>
            <a:fillRect/>
          </a:stretch>
        </p:blipFill>
        <p:spPr>
          <a:xfrm>
            <a:off x="7192537" y="2408656"/>
            <a:ext cx="7805853" cy="5820944"/>
          </a:xfrm>
          <a:prstGeom prst="rect">
            <a:avLst/>
          </a:prstGeom>
        </p:spPr>
      </p:pic>
      <p:pic>
        <p:nvPicPr>
          <p:cNvPr id="7" name="Picture 6">
            <a:extLst>
              <a:ext uri="{FF2B5EF4-FFF2-40B4-BE49-F238E27FC236}">
                <a16:creationId xmlns:a16="http://schemas.microsoft.com/office/drawing/2014/main" id="{EFF6164F-1629-7898-6DB8-04B9D4ECD37A}"/>
              </a:ext>
            </a:extLst>
          </p:cNvPr>
          <p:cNvPicPr>
            <a:picLocks noChangeAspect="1"/>
          </p:cNvPicPr>
          <p:nvPr/>
        </p:nvPicPr>
        <p:blipFill>
          <a:blip r:embed="rId4"/>
          <a:stretch>
            <a:fillRect/>
          </a:stretch>
        </p:blipFill>
        <p:spPr>
          <a:xfrm>
            <a:off x="3714433" y="597511"/>
            <a:ext cx="10655279" cy="1803715"/>
          </a:xfrm>
          <a:prstGeom prst="rect">
            <a:avLst/>
          </a:prstGeom>
        </p:spPr>
      </p:pic>
    </p:spTree>
    <p:extLst>
      <p:ext uri="{BB962C8B-B14F-4D97-AF65-F5344CB8AC3E}">
        <p14:creationId xmlns:p14="http://schemas.microsoft.com/office/powerpoint/2010/main" val="94563137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DE51-837C-92AB-980B-5206AE278E0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6D286BC-74EB-407E-6556-544D43A1513E}"/>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65C0E7A5-9812-35FC-CBA3-E9676749CD8E}"/>
              </a:ext>
            </a:extLst>
          </p:cNvPr>
          <p:cNvSpPr/>
          <p:nvPr/>
        </p:nvSpPr>
        <p:spPr>
          <a:xfrm>
            <a:off x="148829" y="2902269"/>
            <a:ext cx="6617073" cy="4054115"/>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1837677F-C002-1307-B1EA-757F60394FE7}"/>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4132E664-AF0E-8C4F-61C6-B3B7B6F56FCF}"/>
              </a:ext>
            </a:extLst>
          </p:cNvPr>
          <p:cNvSpPr/>
          <p:nvPr/>
        </p:nvSpPr>
        <p:spPr>
          <a:xfrm>
            <a:off x="302160" y="3206975"/>
            <a:ext cx="6463741" cy="3402169"/>
          </a:xfrm>
          <a:prstGeom prst="rect">
            <a:avLst/>
          </a:prstGeom>
          <a:noFill/>
          <a:ln/>
        </p:spPr>
        <p:txBody>
          <a:bodyPr wrap="square" lIns="0" tIns="0" rIns="0" bIns="0" rtlCol="0" anchor="t"/>
          <a:lstStyle/>
          <a:p>
            <a:pPr marL="342900" indent="-342900">
              <a:lnSpc>
                <a:spcPts val="2850"/>
              </a:lnSpc>
              <a:buFontTx/>
              <a:buChar char="-"/>
            </a:pPr>
            <a:r>
              <a:rPr lang="vi-VN" sz="2000" b="1">
                <a:solidFill>
                  <a:srgbClr val="464646"/>
                </a:solidFill>
                <a:latin typeface="Arimo Medium" pitchFamily="34" charset="0"/>
                <a:ea typeface="Arimo Medium" pitchFamily="34" charset="-122"/>
                <a:cs typeface="Arimo Medium" pitchFamily="34" charset="-120"/>
              </a:rPr>
              <a:t>Cụm 1</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Giá khoảng 1.8 triệu, doanh số thấp , lượt thích cũng thấp.</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Phân khúc "Lửng lơ". Nó không đủ rẻ để người ta mua đại (như cụm 2), cũng không đủ "xịn" để người ta thích (như cụm 0).</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Chiến lược: Tối ưu hóa lại tiêu đề và hình ảnh. Hoặc là giảm giá hẳn xuống để cạnh tranh với cụm 2, hoặc là tặng kèm </a:t>
            </a:r>
            <a:r>
              <a:rPr lang="en-US" sz="2000">
                <a:solidFill>
                  <a:srgbClr val="464646"/>
                </a:solidFill>
                <a:latin typeface="Arimo Medium" pitchFamily="34" charset="0"/>
                <a:ea typeface="Arimo Medium" pitchFamily="34" charset="-122"/>
                <a:cs typeface="Arimo Medium" pitchFamily="34" charset="-120"/>
              </a:rPr>
              <a:t>phụ kiện</a:t>
            </a:r>
            <a:r>
              <a:rPr lang="vi-VN" sz="2000">
                <a:solidFill>
                  <a:srgbClr val="464646"/>
                </a:solidFill>
                <a:latin typeface="Arimo Medium" pitchFamily="34" charset="0"/>
                <a:ea typeface="Arimo Medium" pitchFamily="34" charset="-122"/>
                <a:cs typeface="Arimo Medium" pitchFamily="34" charset="-120"/>
              </a:rPr>
              <a:t> (tai nghe, ốp lưng) </a:t>
            </a:r>
            <a:r>
              <a:rPr lang="en-US" sz="2000">
                <a:solidFill>
                  <a:srgbClr val="464646"/>
                </a:solidFill>
                <a:latin typeface="Arimo Medium" pitchFamily="34" charset="0"/>
                <a:ea typeface="Arimo Medium" pitchFamily="34" charset="-122"/>
                <a:cs typeface="Arimo Medium" pitchFamily="34" charset="-120"/>
              </a:rPr>
              <a:t>để thúc đẩy doanh thu</a:t>
            </a:r>
            <a:r>
              <a:rPr lang="vi-VN" sz="2000">
                <a:solidFill>
                  <a:srgbClr val="464646"/>
                </a:solidFill>
                <a:latin typeface="Arimo Medium" pitchFamily="34" charset="0"/>
                <a:ea typeface="Arimo Medium" pitchFamily="34" charset="-122"/>
                <a:cs typeface="Arimo Medium" pitchFamily="34" charset="-120"/>
              </a:rPr>
              <a:t>.</a:t>
            </a:r>
          </a:p>
        </p:txBody>
      </p:sp>
      <p:pic>
        <p:nvPicPr>
          <p:cNvPr id="4" name="Picture 3">
            <a:extLst>
              <a:ext uri="{FF2B5EF4-FFF2-40B4-BE49-F238E27FC236}">
                <a16:creationId xmlns:a16="http://schemas.microsoft.com/office/drawing/2014/main" id="{EED6A630-9A9F-4518-3F9F-18CA702898FE}"/>
              </a:ext>
            </a:extLst>
          </p:cNvPr>
          <p:cNvPicPr>
            <a:picLocks noChangeAspect="1"/>
          </p:cNvPicPr>
          <p:nvPr/>
        </p:nvPicPr>
        <p:blipFill>
          <a:blip r:embed="rId3"/>
          <a:srcRect l="6130"/>
          <a:stretch>
            <a:fillRect/>
          </a:stretch>
        </p:blipFill>
        <p:spPr>
          <a:xfrm>
            <a:off x="7192537" y="2408656"/>
            <a:ext cx="7805853" cy="5820944"/>
          </a:xfrm>
          <a:prstGeom prst="rect">
            <a:avLst/>
          </a:prstGeom>
        </p:spPr>
      </p:pic>
      <p:pic>
        <p:nvPicPr>
          <p:cNvPr id="7" name="Picture 6">
            <a:extLst>
              <a:ext uri="{FF2B5EF4-FFF2-40B4-BE49-F238E27FC236}">
                <a16:creationId xmlns:a16="http://schemas.microsoft.com/office/drawing/2014/main" id="{56D70B8F-7DDA-5172-B0D8-D7A792AC2BA9}"/>
              </a:ext>
            </a:extLst>
          </p:cNvPr>
          <p:cNvPicPr>
            <a:picLocks noChangeAspect="1"/>
          </p:cNvPicPr>
          <p:nvPr/>
        </p:nvPicPr>
        <p:blipFill>
          <a:blip r:embed="rId4"/>
          <a:stretch>
            <a:fillRect/>
          </a:stretch>
        </p:blipFill>
        <p:spPr>
          <a:xfrm>
            <a:off x="3714433" y="597511"/>
            <a:ext cx="10655279" cy="1803715"/>
          </a:xfrm>
          <a:prstGeom prst="rect">
            <a:avLst/>
          </a:prstGeom>
        </p:spPr>
      </p:pic>
    </p:spTree>
    <p:extLst>
      <p:ext uri="{BB962C8B-B14F-4D97-AF65-F5344CB8AC3E}">
        <p14:creationId xmlns:p14="http://schemas.microsoft.com/office/powerpoint/2010/main" val="273574746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BAF2B-0FCE-0551-8C76-34C0C5174BA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20577E4-06A5-76D6-D9EF-2B5DD99891B3}"/>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CB85DE4A-A6A0-716D-1561-53F1584E86E2}"/>
              </a:ext>
            </a:extLst>
          </p:cNvPr>
          <p:cNvSpPr/>
          <p:nvPr/>
        </p:nvSpPr>
        <p:spPr>
          <a:xfrm>
            <a:off x="148829" y="2902270"/>
            <a:ext cx="6617073" cy="3071826"/>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D9087690-C23E-5B6A-3BAF-F097FF2D97AC}"/>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E3A34E7D-4F3D-6F97-0211-2520F273DC46}"/>
              </a:ext>
            </a:extLst>
          </p:cNvPr>
          <p:cNvSpPr/>
          <p:nvPr/>
        </p:nvSpPr>
        <p:spPr>
          <a:xfrm>
            <a:off x="302161" y="3206975"/>
            <a:ext cx="5859778" cy="2684539"/>
          </a:xfrm>
          <a:prstGeom prst="rect">
            <a:avLst/>
          </a:prstGeom>
          <a:noFill/>
          <a:ln/>
        </p:spPr>
        <p:txBody>
          <a:bodyPr wrap="square" lIns="0" tIns="0" rIns="0" bIns="0" rtlCol="0" anchor="t"/>
          <a:lstStyle/>
          <a:p>
            <a:pPr marL="342900" indent="-342900">
              <a:lnSpc>
                <a:spcPts val="2850"/>
              </a:lnSpc>
              <a:buFontTx/>
              <a:buChar char="-"/>
            </a:pPr>
            <a:r>
              <a:rPr lang="vi-VN" sz="2000" b="1">
                <a:solidFill>
                  <a:srgbClr val="464646"/>
                </a:solidFill>
                <a:latin typeface="Arimo Medium" pitchFamily="34" charset="0"/>
                <a:ea typeface="Arimo Medium" pitchFamily="34" charset="-122"/>
                <a:cs typeface="Arimo Medium" pitchFamily="34" charset="-120"/>
              </a:rPr>
              <a:t>Cụm 2 </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Giá rẻ nhất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sold_quantity cao đột biến</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Đây là phân khúc "Máy cỏ/Máy phụ". Người ta mua không cần suy nghĩ nhiều vì quá rẻ.</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Chiến lược: "Lấy số lượng đè chất lượng". Đừng tốn tiền chạy Ads thương hiệu, hãy tập trung vào SEO từ khóa "điện thoại giá rẻ" và tham gia mọi chương trình Flash Sale của Shopee.</a:t>
            </a:r>
            <a:endParaRPr lang="en-US" sz="2000">
              <a:solidFill>
                <a:srgbClr val="464646"/>
              </a:solidFill>
              <a:latin typeface="Arimo Medium" pitchFamily="34" charset="0"/>
              <a:ea typeface="Arimo Medium" pitchFamily="34" charset="-122"/>
              <a:cs typeface="Arimo Medium" pitchFamily="34" charset="-120"/>
            </a:endParaRPr>
          </a:p>
        </p:txBody>
      </p:sp>
      <p:pic>
        <p:nvPicPr>
          <p:cNvPr id="4" name="Picture 3">
            <a:extLst>
              <a:ext uri="{FF2B5EF4-FFF2-40B4-BE49-F238E27FC236}">
                <a16:creationId xmlns:a16="http://schemas.microsoft.com/office/drawing/2014/main" id="{9E449AF9-1141-4BC9-4033-79F0720D72FA}"/>
              </a:ext>
            </a:extLst>
          </p:cNvPr>
          <p:cNvPicPr>
            <a:picLocks noChangeAspect="1"/>
          </p:cNvPicPr>
          <p:nvPr/>
        </p:nvPicPr>
        <p:blipFill>
          <a:blip r:embed="rId3"/>
          <a:srcRect l="6130"/>
          <a:stretch>
            <a:fillRect/>
          </a:stretch>
        </p:blipFill>
        <p:spPr>
          <a:xfrm>
            <a:off x="7192537" y="2408656"/>
            <a:ext cx="7805853" cy="5820944"/>
          </a:xfrm>
          <a:prstGeom prst="rect">
            <a:avLst/>
          </a:prstGeom>
        </p:spPr>
      </p:pic>
      <p:pic>
        <p:nvPicPr>
          <p:cNvPr id="7" name="Picture 6">
            <a:extLst>
              <a:ext uri="{FF2B5EF4-FFF2-40B4-BE49-F238E27FC236}">
                <a16:creationId xmlns:a16="http://schemas.microsoft.com/office/drawing/2014/main" id="{F57AEBFD-7C4E-24A7-88C7-F8240FEAD245}"/>
              </a:ext>
            </a:extLst>
          </p:cNvPr>
          <p:cNvPicPr>
            <a:picLocks noChangeAspect="1"/>
          </p:cNvPicPr>
          <p:nvPr/>
        </p:nvPicPr>
        <p:blipFill>
          <a:blip r:embed="rId4"/>
          <a:stretch>
            <a:fillRect/>
          </a:stretch>
        </p:blipFill>
        <p:spPr>
          <a:xfrm>
            <a:off x="3714433" y="597511"/>
            <a:ext cx="10655279" cy="1803715"/>
          </a:xfrm>
          <a:prstGeom prst="rect">
            <a:avLst/>
          </a:prstGeom>
        </p:spPr>
      </p:pic>
    </p:spTree>
    <p:extLst>
      <p:ext uri="{BB962C8B-B14F-4D97-AF65-F5344CB8AC3E}">
        <p14:creationId xmlns:p14="http://schemas.microsoft.com/office/powerpoint/2010/main" val="32219025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4225B-905A-D11F-8162-7CF4EA2DA6B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E93EE3A-D987-C845-BF5F-B03B9D3C76B7}"/>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9CDFEA82-C42E-574E-0F9C-6227110AF757}"/>
              </a:ext>
            </a:extLst>
          </p:cNvPr>
          <p:cNvSpPr/>
          <p:nvPr/>
        </p:nvSpPr>
        <p:spPr>
          <a:xfrm>
            <a:off x="148829" y="2902270"/>
            <a:ext cx="6617073" cy="3071826"/>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8205E8F3-DBB4-42CC-0660-D222C41FC33D}"/>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4F0056E8-9E95-E2F8-CEDD-7253716E3DC4}"/>
              </a:ext>
            </a:extLst>
          </p:cNvPr>
          <p:cNvSpPr/>
          <p:nvPr/>
        </p:nvSpPr>
        <p:spPr>
          <a:xfrm>
            <a:off x="302161" y="3206975"/>
            <a:ext cx="5859778" cy="2684539"/>
          </a:xfrm>
          <a:prstGeom prst="rect">
            <a:avLst/>
          </a:prstGeom>
          <a:noFill/>
          <a:ln/>
        </p:spPr>
        <p:txBody>
          <a:bodyPr wrap="square" lIns="0" tIns="0" rIns="0" bIns="0" rtlCol="0" anchor="t"/>
          <a:lstStyle/>
          <a:p>
            <a:pPr marL="342900" indent="-342900">
              <a:lnSpc>
                <a:spcPts val="2850"/>
              </a:lnSpc>
              <a:buFontTx/>
              <a:buChar char="-"/>
            </a:pPr>
            <a:r>
              <a:rPr lang="vi-VN" sz="2000" b="1">
                <a:solidFill>
                  <a:srgbClr val="464646"/>
                </a:solidFill>
                <a:latin typeface="Arimo Medium" pitchFamily="34" charset="0"/>
                <a:ea typeface="Arimo Medium" pitchFamily="34" charset="-122"/>
                <a:cs typeface="Arimo Medium" pitchFamily="34" charset="-120"/>
              </a:rPr>
              <a:t>Cụm 2 </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Giá rẻ nhất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sold_quantity cao đột biến</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Đây là phân khúc "Máy cỏ/Máy phụ". Người ta mua không cần suy nghĩ nhiều vì quá rẻ.</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Chiến lược: "Lấy số lượng đè chất lượng". Đừng tốn tiền chạy Ads thương hiệu, hãy tập trung vào SEO từ khóa "điện thoại giá rẻ" và tham gia mọi chương trình Flash Sale của Shopee.</a:t>
            </a:r>
            <a:endParaRPr lang="en-US" sz="2000">
              <a:solidFill>
                <a:srgbClr val="464646"/>
              </a:solidFill>
              <a:latin typeface="Arimo Medium" pitchFamily="34" charset="0"/>
              <a:ea typeface="Arimo Medium" pitchFamily="34" charset="-122"/>
              <a:cs typeface="Arimo Medium" pitchFamily="34" charset="-120"/>
            </a:endParaRPr>
          </a:p>
        </p:txBody>
      </p:sp>
      <p:pic>
        <p:nvPicPr>
          <p:cNvPr id="4" name="Picture 3">
            <a:extLst>
              <a:ext uri="{FF2B5EF4-FFF2-40B4-BE49-F238E27FC236}">
                <a16:creationId xmlns:a16="http://schemas.microsoft.com/office/drawing/2014/main" id="{FCCFC6E3-AB40-718F-28F3-F16F1E6BEF9A}"/>
              </a:ext>
            </a:extLst>
          </p:cNvPr>
          <p:cNvPicPr>
            <a:picLocks noChangeAspect="1"/>
          </p:cNvPicPr>
          <p:nvPr/>
        </p:nvPicPr>
        <p:blipFill>
          <a:blip r:embed="rId3"/>
          <a:srcRect l="6130"/>
          <a:stretch>
            <a:fillRect/>
          </a:stretch>
        </p:blipFill>
        <p:spPr>
          <a:xfrm>
            <a:off x="7192537" y="2408656"/>
            <a:ext cx="7805853" cy="5820944"/>
          </a:xfrm>
          <a:prstGeom prst="rect">
            <a:avLst/>
          </a:prstGeom>
        </p:spPr>
      </p:pic>
      <p:pic>
        <p:nvPicPr>
          <p:cNvPr id="7" name="Picture 6">
            <a:extLst>
              <a:ext uri="{FF2B5EF4-FFF2-40B4-BE49-F238E27FC236}">
                <a16:creationId xmlns:a16="http://schemas.microsoft.com/office/drawing/2014/main" id="{BF00499B-C8AB-081E-4BFE-83F721CC65D8}"/>
              </a:ext>
            </a:extLst>
          </p:cNvPr>
          <p:cNvPicPr>
            <a:picLocks noChangeAspect="1"/>
          </p:cNvPicPr>
          <p:nvPr/>
        </p:nvPicPr>
        <p:blipFill>
          <a:blip r:embed="rId4"/>
          <a:stretch>
            <a:fillRect/>
          </a:stretch>
        </p:blipFill>
        <p:spPr>
          <a:xfrm>
            <a:off x="3714433" y="597511"/>
            <a:ext cx="10655279" cy="1803715"/>
          </a:xfrm>
          <a:prstGeom prst="rect">
            <a:avLst/>
          </a:prstGeom>
        </p:spPr>
      </p:pic>
    </p:spTree>
    <p:extLst>
      <p:ext uri="{BB962C8B-B14F-4D97-AF65-F5344CB8AC3E}">
        <p14:creationId xmlns:p14="http://schemas.microsoft.com/office/powerpoint/2010/main" val="421932919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6B4E-DC2E-08D1-E3E3-6E7101BA7A1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74BB2F31-697F-F213-8F1A-3FCFDE35251C}"/>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54D5F5C1-E7D4-25BF-4AA8-2BDEED0E33A1}"/>
              </a:ext>
            </a:extLst>
          </p:cNvPr>
          <p:cNvSpPr/>
          <p:nvPr/>
        </p:nvSpPr>
        <p:spPr>
          <a:xfrm>
            <a:off x="524507" y="2005912"/>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9F72D6CA-AD4C-7172-5574-025DE0990F31}"/>
              </a:ext>
            </a:extLst>
          </p:cNvPr>
          <p:cNvSpPr/>
          <p:nvPr/>
        </p:nvSpPr>
        <p:spPr>
          <a:xfrm>
            <a:off x="677839" y="4094046"/>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4844F891-FC9F-3CB1-67AB-709B4B11BA96}"/>
              </a:ext>
            </a:extLst>
          </p:cNvPr>
          <p:cNvSpPr/>
          <p:nvPr/>
        </p:nvSpPr>
        <p:spPr>
          <a:xfrm>
            <a:off x="677839" y="2889080"/>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Một "khu rừng" gồm hàng trăm "cây quyết định" (Decision Trees) cùng biểu quyết để đưa ra kết quả.</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Chuyên trị dữ liệu bản</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 Random Forest không chỉ dự đoán kết quả, nó còn cho biết biến số nào quan trọng nhất. </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b="1">
                <a:solidFill>
                  <a:srgbClr val="464646"/>
                </a:solidFill>
                <a:latin typeface="Arimo Medium" pitchFamily="34" charset="0"/>
                <a:ea typeface="Arimo Medium" pitchFamily="34" charset="-122"/>
                <a:cs typeface="Arimo Medium" pitchFamily="34" charset="-120"/>
              </a:rPr>
              <a:t>XGBoost</a:t>
            </a:r>
            <a:r>
              <a:rPr lang="vi-VN" sz="2000">
                <a:solidFill>
                  <a:srgbClr val="464646"/>
                </a:solidFill>
                <a:latin typeface="Arimo Medium" pitchFamily="34" charset="0"/>
                <a:ea typeface="Arimo Medium" pitchFamily="34" charset="-122"/>
                <a:cs typeface="Arimo Medium" pitchFamily="34" charset="-120"/>
              </a:rPr>
              <a:t> : Chạy chậm hơn Random Forest một chút và khó tinh chỉnh tham số hơn.</a:t>
            </a:r>
            <a:endParaRPr lang="en-US" sz="2000">
              <a:solidFill>
                <a:srgbClr val="464646"/>
              </a:solidFill>
              <a:latin typeface="Arimo Medium" pitchFamily="34" charset="0"/>
              <a:ea typeface="Arimo Medium" pitchFamily="34" charset="-122"/>
              <a:cs typeface="Arimo Medium" pitchFamily="34" charset="-120"/>
            </a:endParaRPr>
          </a:p>
        </p:txBody>
      </p:sp>
      <p:sp>
        <p:nvSpPr>
          <p:cNvPr id="6" name="Text 2">
            <a:extLst>
              <a:ext uri="{FF2B5EF4-FFF2-40B4-BE49-F238E27FC236}">
                <a16:creationId xmlns:a16="http://schemas.microsoft.com/office/drawing/2014/main" id="{DD05DE2C-E13E-DFB4-1D07-2AAE710903EA}"/>
              </a:ext>
            </a:extLst>
          </p:cNvPr>
          <p:cNvSpPr/>
          <p:nvPr/>
        </p:nvSpPr>
        <p:spPr>
          <a:xfrm>
            <a:off x="677839" y="2287003"/>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Random Forest</a:t>
            </a:r>
            <a:endParaRPr lang="en-US" sz="2400" b="1" dirty="0"/>
          </a:p>
        </p:txBody>
      </p:sp>
      <p:pic>
        <p:nvPicPr>
          <p:cNvPr id="2052" name="Picture 4" descr="Random Forest Simple Explanation. Understanding the Random Forest with an…  | by Will Koehrsen | Medium">
            <a:extLst>
              <a:ext uri="{FF2B5EF4-FFF2-40B4-BE49-F238E27FC236}">
                <a16:creationId xmlns:a16="http://schemas.microsoft.com/office/drawing/2014/main" id="{14004E58-6074-9BC6-25E6-D77BAC8453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4456" y="2005912"/>
            <a:ext cx="6338105" cy="4753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145040"/>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AB240-85CE-82C7-99FA-540F9DD08FE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C7C7CD3-8DDB-A64F-2401-1383F1486B34}"/>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8B019684-4385-F81A-C594-CBB694088F37}"/>
              </a:ext>
            </a:extLst>
          </p:cNvPr>
          <p:cNvSpPr/>
          <p:nvPr/>
        </p:nvSpPr>
        <p:spPr>
          <a:xfrm>
            <a:off x="524507" y="2005912"/>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37DF893A-DA3D-586C-350E-0E6F79610EF4}"/>
              </a:ext>
            </a:extLst>
          </p:cNvPr>
          <p:cNvSpPr/>
          <p:nvPr/>
        </p:nvSpPr>
        <p:spPr>
          <a:xfrm>
            <a:off x="677839" y="4094046"/>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4432BDA1-3960-0457-E58E-CECC6C31A867}"/>
              </a:ext>
            </a:extLst>
          </p:cNvPr>
          <p:cNvSpPr/>
          <p:nvPr/>
        </p:nvSpPr>
        <p:spPr>
          <a:xfrm>
            <a:off x="677839" y="2889080"/>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Input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Hãng gì, bán ở đâu, giá</a:t>
            </a:r>
            <a:r>
              <a:rPr lang="en-US" sz="2000">
                <a:solidFill>
                  <a:srgbClr val="464646"/>
                </a:solidFill>
                <a:latin typeface="Arimo Medium" pitchFamily="34" charset="0"/>
                <a:ea typeface="Arimo Medium" pitchFamily="34" charset="-122"/>
                <a:cs typeface="Arimo Medium" pitchFamily="34" charset="-120"/>
              </a:rPr>
              <a:t>,…</a:t>
            </a: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Output: Cụm nào (Cluster 0, 1 hay 2) mà K-Means vừa tạo ra.</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Với dữ liệu chữ </a:t>
            </a:r>
            <a:r>
              <a:rPr lang="en-US" sz="2000">
                <a:solidFill>
                  <a:srgbClr val="464646"/>
                </a:solidFill>
                <a:latin typeface="Arimo Medium" pitchFamily="34" charset="0"/>
                <a:ea typeface="Arimo Medium" pitchFamily="34" charset="-122"/>
                <a:cs typeface="Arimo Medium" pitchFamily="34" charset="-120"/>
                <a:sym typeface="Wingdings" panose="05000000000000000000" pitchFamily="2" charset="2"/>
              </a:rPr>
              <a:t> Label Encoding</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Chia tập train / test theo tỉ lệ 80 : 20</a:t>
            </a:r>
          </a:p>
          <a:p>
            <a:pPr>
              <a:lnSpc>
                <a:spcPts val="2850"/>
              </a:lnSpc>
            </a:pPr>
            <a:r>
              <a:rPr lang="en-US" sz="2000">
                <a:solidFill>
                  <a:srgbClr val="464646"/>
                </a:solidFill>
                <a:latin typeface="Arimo Medium" pitchFamily="34" charset="0"/>
                <a:ea typeface="Arimo Medium" pitchFamily="34" charset="-122"/>
                <a:cs typeface="Arimo Medium" pitchFamily="34" charset="-120"/>
              </a:rPr>
              <a:t>-    Độ chính xác: 91,17 % </a:t>
            </a:r>
          </a:p>
        </p:txBody>
      </p:sp>
      <p:sp>
        <p:nvSpPr>
          <p:cNvPr id="6" name="Text 2">
            <a:extLst>
              <a:ext uri="{FF2B5EF4-FFF2-40B4-BE49-F238E27FC236}">
                <a16:creationId xmlns:a16="http://schemas.microsoft.com/office/drawing/2014/main" id="{22A74D15-566B-41A9-A2FA-53456C4DBEBF}"/>
              </a:ext>
            </a:extLst>
          </p:cNvPr>
          <p:cNvSpPr/>
          <p:nvPr/>
        </p:nvSpPr>
        <p:spPr>
          <a:xfrm>
            <a:off x="677839" y="2287003"/>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Chi tiết mô hình</a:t>
            </a:r>
            <a:endParaRPr lang="en-US" sz="2400" b="1" dirty="0"/>
          </a:p>
        </p:txBody>
      </p:sp>
      <p:pic>
        <p:nvPicPr>
          <p:cNvPr id="4" name="Picture 3">
            <a:extLst>
              <a:ext uri="{FF2B5EF4-FFF2-40B4-BE49-F238E27FC236}">
                <a16:creationId xmlns:a16="http://schemas.microsoft.com/office/drawing/2014/main" id="{341BEC5F-1B9E-0345-BEC7-3A3F1B0897E1}"/>
              </a:ext>
            </a:extLst>
          </p:cNvPr>
          <p:cNvPicPr>
            <a:picLocks noChangeAspect="1"/>
          </p:cNvPicPr>
          <p:nvPr/>
        </p:nvPicPr>
        <p:blipFill>
          <a:blip r:embed="rId3"/>
          <a:stretch>
            <a:fillRect/>
          </a:stretch>
        </p:blipFill>
        <p:spPr>
          <a:xfrm>
            <a:off x="15826144" y="5486394"/>
            <a:ext cx="9144019" cy="5486411"/>
          </a:xfrm>
          <a:prstGeom prst="rect">
            <a:avLst/>
          </a:prstGeom>
        </p:spPr>
      </p:pic>
      <p:pic>
        <p:nvPicPr>
          <p:cNvPr id="7" name="Picture 6">
            <a:extLst>
              <a:ext uri="{FF2B5EF4-FFF2-40B4-BE49-F238E27FC236}">
                <a16:creationId xmlns:a16="http://schemas.microsoft.com/office/drawing/2014/main" id="{66276B7A-8726-A8A6-DC4B-856F10CC6B92}"/>
              </a:ext>
            </a:extLst>
          </p:cNvPr>
          <p:cNvPicPr>
            <a:picLocks noChangeAspect="1"/>
          </p:cNvPicPr>
          <p:nvPr/>
        </p:nvPicPr>
        <p:blipFill>
          <a:blip r:embed="rId4"/>
          <a:stretch>
            <a:fillRect/>
          </a:stretch>
        </p:blipFill>
        <p:spPr>
          <a:xfrm>
            <a:off x="7630233" y="2218067"/>
            <a:ext cx="5852172" cy="4389129"/>
          </a:xfrm>
          <a:prstGeom prst="rect">
            <a:avLst/>
          </a:prstGeom>
        </p:spPr>
      </p:pic>
      <p:pic>
        <p:nvPicPr>
          <p:cNvPr id="10" name="Picture 9">
            <a:extLst>
              <a:ext uri="{FF2B5EF4-FFF2-40B4-BE49-F238E27FC236}">
                <a16:creationId xmlns:a16="http://schemas.microsoft.com/office/drawing/2014/main" id="{A04159D3-F3A9-11C6-34C7-D15E016FB75E}"/>
              </a:ext>
            </a:extLst>
          </p:cNvPr>
          <p:cNvPicPr>
            <a:picLocks noChangeAspect="1"/>
          </p:cNvPicPr>
          <p:nvPr/>
        </p:nvPicPr>
        <p:blipFill>
          <a:blip r:embed="rId5"/>
          <a:stretch>
            <a:fillRect/>
          </a:stretch>
        </p:blipFill>
        <p:spPr>
          <a:xfrm>
            <a:off x="35854" y="5837350"/>
            <a:ext cx="7377923" cy="881909"/>
          </a:xfrm>
          <a:prstGeom prst="rect">
            <a:avLst/>
          </a:prstGeom>
        </p:spPr>
      </p:pic>
    </p:spTree>
    <p:extLst>
      <p:ext uri="{BB962C8B-B14F-4D97-AF65-F5344CB8AC3E}">
        <p14:creationId xmlns:p14="http://schemas.microsoft.com/office/powerpoint/2010/main" val="260994956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F8C09-7E1E-7D60-2A62-16AFC590871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EAC2272-605C-6385-66A4-7FEF40C1D9EF}"/>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2F40FD08-72F0-428A-4D38-06F636D5716C}"/>
              </a:ext>
            </a:extLst>
          </p:cNvPr>
          <p:cNvSpPr/>
          <p:nvPr/>
        </p:nvSpPr>
        <p:spPr>
          <a:xfrm>
            <a:off x="302499" y="2014799"/>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11A6C6B1-D5FF-8220-5244-F11165658E5C}"/>
              </a:ext>
            </a:extLst>
          </p:cNvPr>
          <p:cNvSpPr/>
          <p:nvPr/>
        </p:nvSpPr>
        <p:spPr>
          <a:xfrm>
            <a:off x="455831" y="4102933"/>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68270919-FCE9-A034-E6D9-726F2670E8A1}"/>
              </a:ext>
            </a:extLst>
          </p:cNvPr>
          <p:cNvSpPr/>
          <p:nvPr/>
        </p:nvSpPr>
        <p:spPr>
          <a:xfrm>
            <a:off x="455831" y="2897967"/>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Input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Hãng gì, bán ở đâu, giá</a:t>
            </a:r>
            <a:r>
              <a:rPr lang="en-US" sz="2000">
                <a:solidFill>
                  <a:srgbClr val="464646"/>
                </a:solidFill>
                <a:latin typeface="Arimo Medium" pitchFamily="34" charset="0"/>
                <a:ea typeface="Arimo Medium" pitchFamily="34" charset="-122"/>
                <a:cs typeface="Arimo Medium" pitchFamily="34" charset="-120"/>
              </a:rPr>
              <a:t>,…</a:t>
            </a: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Output: Cụm nào (Cluster 0, 1 hay 2) mà K-Means vừa tạo ra.</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Với dữ liệu chữ </a:t>
            </a:r>
            <a:r>
              <a:rPr lang="en-US" sz="2000">
                <a:solidFill>
                  <a:srgbClr val="464646"/>
                </a:solidFill>
                <a:latin typeface="Arimo Medium" pitchFamily="34" charset="0"/>
                <a:ea typeface="Arimo Medium" pitchFamily="34" charset="-122"/>
                <a:cs typeface="Arimo Medium" pitchFamily="34" charset="-120"/>
                <a:sym typeface="Wingdings" panose="05000000000000000000" pitchFamily="2" charset="2"/>
              </a:rPr>
              <a:t> Label Encoding</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Chia tập train / test theo tỉ lệ 80 : 20</a:t>
            </a:r>
          </a:p>
          <a:p>
            <a:pPr>
              <a:lnSpc>
                <a:spcPts val="2850"/>
              </a:lnSpc>
            </a:pPr>
            <a:r>
              <a:rPr lang="en-US" sz="2000">
                <a:solidFill>
                  <a:srgbClr val="464646"/>
                </a:solidFill>
                <a:latin typeface="Arimo Medium" pitchFamily="34" charset="0"/>
                <a:ea typeface="Arimo Medium" pitchFamily="34" charset="-122"/>
                <a:cs typeface="Arimo Medium" pitchFamily="34" charset="-120"/>
              </a:rPr>
              <a:t>-    Độ chính xác: 91,17 % </a:t>
            </a:r>
          </a:p>
        </p:txBody>
      </p:sp>
      <p:sp>
        <p:nvSpPr>
          <p:cNvPr id="6" name="Text 2">
            <a:extLst>
              <a:ext uri="{FF2B5EF4-FFF2-40B4-BE49-F238E27FC236}">
                <a16:creationId xmlns:a16="http://schemas.microsoft.com/office/drawing/2014/main" id="{1897F688-66AD-6065-D073-858074B8F339}"/>
              </a:ext>
            </a:extLst>
          </p:cNvPr>
          <p:cNvSpPr/>
          <p:nvPr/>
        </p:nvSpPr>
        <p:spPr>
          <a:xfrm>
            <a:off x="455831" y="2295890"/>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Chi tiết mô hình</a:t>
            </a:r>
            <a:endParaRPr lang="en-US" sz="2400" b="1" dirty="0"/>
          </a:p>
        </p:txBody>
      </p:sp>
      <p:pic>
        <p:nvPicPr>
          <p:cNvPr id="4" name="Picture 3">
            <a:extLst>
              <a:ext uri="{FF2B5EF4-FFF2-40B4-BE49-F238E27FC236}">
                <a16:creationId xmlns:a16="http://schemas.microsoft.com/office/drawing/2014/main" id="{EEC7D9E4-B9E1-70B5-ADF4-097DEBF771C9}"/>
              </a:ext>
            </a:extLst>
          </p:cNvPr>
          <p:cNvPicPr>
            <a:picLocks noChangeAspect="1"/>
          </p:cNvPicPr>
          <p:nvPr/>
        </p:nvPicPr>
        <p:blipFill>
          <a:blip r:embed="rId3"/>
          <a:stretch>
            <a:fillRect/>
          </a:stretch>
        </p:blipFill>
        <p:spPr>
          <a:xfrm>
            <a:off x="7266812" y="2214312"/>
            <a:ext cx="7327734" cy="4396640"/>
          </a:xfrm>
          <a:prstGeom prst="rect">
            <a:avLst/>
          </a:prstGeom>
        </p:spPr>
      </p:pic>
      <p:pic>
        <p:nvPicPr>
          <p:cNvPr id="7" name="Picture 6">
            <a:extLst>
              <a:ext uri="{FF2B5EF4-FFF2-40B4-BE49-F238E27FC236}">
                <a16:creationId xmlns:a16="http://schemas.microsoft.com/office/drawing/2014/main" id="{9B4C0B3C-CD92-65E5-9F10-31918B25525D}"/>
              </a:ext>
            </a:extLst>
          </p:cNvPr>
          <p:cNvPicPr>
            <a:picLocks noChangeAspect="1"/>
          </p:cNvPicPr>
          <p:nvPr/>
        </p:nvPicPr>
        <p:blipFill>
          <a:blip r:embed="rId4"/>
          <a:stretch>
            <a:fillRect/>
          </a:stretch>
        </p:blipFill>
        <p:spPr>
          <a:xfrm>
            <a:off x="19117991" y="1542000"/>
            <a:ext cx="5852172" cy="4389129"/>
          </a:xfrm>
          <a:prstGeom prst="rect">
            <a:avLst/>
          </a:prstGeom>
        </p:spPr>
      </p:pic>
      <p:pic>
        <p:nvPicPr>
          <p:cNvPr id="10" name="Picture 9">
            <a:extLst>
              <a:ext uri="{FF2B5EF4-FFF2-40B4-BE49-F238E27FC236}">
                <a16:creationId xmlns:a16="http://schemas.microsoft.com/office/drawing/2014/main" id="{E9F527B5-5C38-2DD6-47C2-055AAA87032C}"/>
              </a:ext>
            </a:extLst>
          </p:cNvPr>
          <p:cNvPicPr>
            <a:picLocks noChangeAspect="1"/>
          </p:cNvPicPr>
          <p:nvPr/>
        </p:nvPicPr>
        <p:blipFill>
          <a:blip r:embed="rId5"/>
          <a:stretch>
            <a:fillRect/>
          </a:stretch>
        </p:blipFill>
        <p:spPr>
          <a:xfrm>
            <a:off x="243065" y="5964880"/>
            <a:ext cx="6735939" cy="805170"/>
          </a:xfrm>
          <a:prstGeom prst="rect">
            <a:avLst/>
          </a:prstGeom>
        </p:spPr>
      </p:pic>
    </p:spTree>
    <p:extLst>
      <p:ext uri="{BB962C8B-B14F-4D97-AF65-F5344CB8AC3E}">
        <p14:creationId xmlns:p14="http://schemas.microsoft.com/office/powerpoint/2010/main" val="73059430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72C6-D4CE-4D70-BB25-0AE72D024E4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1346A69-5700-C636-2F93-5FD03FBF9176}"/>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7" name="Text 2">
            <a:extLst>
              <a:ext uri="{FF2B5EF4-FFF2-40B4-BE49-F238E27FC236}">
                <a16:creationId xmlns:a16="http://schemas.microsoft.com/office/drawing/2014/main" id="{B6CB4DB8-0289-C943-D823-351FCC4F9348}"/>
              </a:ext>
            </a:extLst>
          </p:cNvPr>
          <p:cNvSpPr/>
          <p:nvPr/>
        </p:nvSpPr>
        <p:spPr>
          <a:xfrm>
            <a:off x="455831" y="4102933"/>
            <a:ext cx="4585577" cy="327474"/>
          </a:xfrm>
          <a:prstGeom prst="rect">
            <a:avLst/>
          </a:prstGeom>
          <a:noFill/>
          <a:ln/>
        </p:spPr>
        <p:txBody>
          <a:bodyPr wrap="none" lIns="0" tIns="0" rIns="0" bIns="0" rtlCol="0" anchor="t"/>
          <a:lstStyle/>
          <a:p>
            <a:pPr algn="ctr">
              <a:lnSpc>
                <a:spcPts val="2750"/>
              </a:lnSpc>
            </a:pPr>
            <a:endParaRPr lang="en-US" sz="2400" b="1" dirty="0"/>
          </a:p>
        </p:txBody>
      </p:sp>
      <p:pic>
        <p:nvPicPr>
          <p:cNvPr id="2" name="Picture 1">
            <a:extLst>
              <a:ext uri="{FF2B5EF4-FFF2-40B4-BE49-F238E27FC236}">
                <a16:creationId xmlns:a16="http://schemas.microsoft.com/office/drawing/2014/main" id="{8EDD7241-2437-9EE6-6EF1-EB8B569078D1}"/>
              </a:ext>
            </a:extLst>
          </p:cNvPr>
          <p:cNvPicPr>
            <a:picLocks noChangeAspect="1"/>
          </p:cNvPicPr>
          <p:nvPr/>
        </p:nvPicPr>
        <p:blipFill>
          <a:blip r:embed="rId3"/>
          <a:stretch>
            <a:fillRect/>
          </a:stretch>
        </p:blipFill>
        <p:spPr>
          <a:xfrm>
            <a:off x="348574" y="1433964"/>
            <a:ext cx="13933251" cy="6397051"/>
          </a:xfrm>
          <a:prstGeom prst="rect">
            <a:avLst/>
          </a:prstGeom>
        </p:spPr>
      </p:pic>
    </p:spTree>
    <p:extLst>
      <p:ext uri="{BB962C8B-B14F-4D97-AF65-F5344CB8AC3E}">
        <p14:creationId xmlns:p14="http://schemas.microsoft.com/office/powerpoint/2010/main" val="236030398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84344-2594-AE2C-E927-3AE17DE4AE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05CFFD-2033-8205-4760-270976CC5E50}"/>
              </a:ext>
            </a:extLst>
          </p:cNvPr>
          <p:cNvSpPr/>
          <p:nvPr/>
        </p:nvSpPr>
        <p:spPr>
          <a:xfrm>
            <a:off x="1" y="24490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4. Kết luận</a:t>
            </a:r>
            <a:endParaRPr lang="en-US" sz="3550" b="1" dirty="0"/>
          </a:p>
        </p:txBody>
      </p:sp>
      <p:sp>
        <p:nvSpPr>
          <p:cNvPr id="15" name="Shape 1">
            <a:extLst>
              <a:ext uri="{FF2B5EF4-FFF2-40B4-BE49-F238E27FC236}">
                <a16:creationId xmlns:a16="http://schemas.microsoft.com/office/drawing/2014/main" id="{21596A30-7694-8F10-0888-A08850196839}"/>
              </a:ext>
            </a:extLst>
          </p:cNvPr>
          <p:cNvSpPr/>
          <p:nvPr/>
        </p:nvSpPr>
        <p:spPr>
          <a:xfrm>
            <a:off x="7679742" y="1029082"/>
            <a:ext cx="6625273" cy="6819518"/>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9AA5AF38-7781-0C66-7190-36F5C9CE7AFE}"/>
              </a:ext>
            </a:extLst>
          </p:cNvPr>
          <p:cNvSpPr/>
          <p:nvPr/>
        </p:nvSpPr>
        <p:spPr>
          <a:xfrm>
            <a:off x="8015003" y="1170050"/>
            <a:ext cx="6000080"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Các điểm chưa làm được / cần cải thiện</a:t>
            </a:r>
            <a:endParaRPr lang="en-US" sz="2400" b="1" dirty="0"/>
          </a:p>
        </p:txBody>
      </p:sp>
      <p:sp>
        <p:nvSpPr>
          <p:cNvPr id="20" name="Text 3">
            <a:extLst>
              <a:ext uri="{FF2B5EF4-FFF2-40B4-BE49-F238E27FC236}">
                <a16:creationId xmlns:a16="http://schemas.microsoft.com/office/drawing/2014/main" id="{1562DCB1-A5F6-3B0F-247E-DC32D7DFDEC5}"/>
              </a:ext>
            </a:extLst>
          </p:cNvPr>
          <p:cNvSpPr/>
          <p:nvPr/>
        </p:nvSpPr>
        <p:spPr>
          <a:xfrm>
            <a:off x="8015002" y="1660886"/>
            <a:ext cx="6000080" cy="4693616"/>
          </a:xfrm>
          <a:prstGeom prst="rect">
            <a:avLst/>
          </a:prstGeom>
          <a:noFill/>
          <a:ln/>
        </p:spPr>
        <p:txBody>
          <a:bodyPr wrap="square" lIns="0" tIns="0" rIns="0" bIns="0" rtlCol="0" anchor="t"/>
          <a:lstStyle/>
          <a:p>
            <a:pPr marL="342900" indent="-342900">
              <a:lnSpc>
                <a:spcPct val="150000"/>
              </a:lnSpc>
              <a:buFont typeface="Arial" panose="020B0604020202020204" pitchFamily="34" charset="0"/>
              <a:buChar char="•"/>
            </a:pPr>
            <a:r>
              <a:rPr lang="vi-VN" sz="2000">
                <a:solidFill>
                  <a:srgbClr val="464646"/>
                </a:solidFill>
                <a:latin typeface="Arimo Medium" pitchFamily="34" charset="0"/>
                <a:ea typeface="Arimo Medium" pitchFamily="34" charset="-122"/>
                <a:cs typeface="Arimo Medium" pitchFamily="34" charset="-120"/>
              </a:rPr>
              <a:t>Mở rộng bộ dữ liệu</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Tập dữ liệu hiện tại chủ yếu tập trung mạnh ở phân khúc dưới 15 triệu. Để AI dự báo sắc nét hơn cần cào them</a:t>
            </a:r>
            <a:r>
              <a:rPr lang="en-US" sz="2000">
                <a:solidFill>
                  <a:srgbClr val="464646"/>
                </a:solidFill>
                <a:latin typeface="Arimo Medium" pitchFamily="34" charset="0"/>
                <a:ea typeface="Arimo Medium" pitchFamily="34" charset="-122"/>
                <a:cs typeface="Arimo Medium" pitchFamily="34" charset="-120"/>
              </a:rPr>
              <a:t> nhiều</a:t>
            </a:r>
            <a:r>
              <a:rPr lang="vi-VN" sz="2000">
                <a:solidFill>
                  <a:srgbClr val="464646"/>
                </a:solidFill>
                <a:latin typeface="Arimo Medium" pitchFamily="34" charset="0"/>
                <a:ea typeface="Arimo Medium" pitchFamily="34" charset="-122"/>
                <a:cs typeface="Arimo Medium" pitchFamily="34" charset="-120"/>
              </a:rPr>
              <a:t> dữ liệu </a:t>
            </a:r>
            <a:r>
              <a:rPr lang="en-US" sz="2000">
                <a:solidFill>
                  <a:srgbClr val="464646"/>
                </a:solidFill>
                <a:latin typeface="Arimo Medium" pitchFamily="34" charset="0"/>
                <a:ea typeface="Arimo Medium" pitchFamily="34" charset="-122"/>
                <a:cs typeface="Arimo Medium" pitchFamily="34" charset="-120"/>
              </a:rPr>
              <a:t>hơn.</a:t>
            </a:r>
          </a:p>
          <a:p>
            <a:pPr marL="342900" indent="-342900">
              <a:lnSpc>
                <a:spcPct val="150000"/>
              </a:lnSpc>
              <a:buFont typeface="Arial" panose="020B0604020202020204" pitchFamily="34" charset="0"/>
              <a:buChar char="•"/>
            </a:pPr>
            <a:r>
              <a:rPr lang="vi-VN" sz="2000">
                <a:solidFill>
                  <a:srgbClr val="464646"/>
                </a:solidFill>
                <a:latin typeface="Arimo Medium" pitchFamily="34" charset="0"/>
                <a:ea typeface="Arimo Medium" pitchFamily="34" charset="-122"/>
                <a:cs typeface="Arimo Medium" pitchFamily="34" charset="-120"/>
              </a:rPr>
              <a:t>Thiếu phân tích Cảm xúc: Hiện tại nhóm </a:t>
            </a:r>
            <a:r>
              <a:rPr lang="en-US" sz="2000">
                <a:solidFill>
                  <a:srgbClr val="464646"/>
                </a:solidFill>
                <a:latin typeface="Arimo Medium" pitchFamily="34" charset="0"/>
                <a:ea typeface="Arimo Medium" pitchFamily="34" charset="-122"/>
                <a:cs typeface="Arimo Medium" pitchFamily="34" charset="-120"/>
              </a:rPr>
              <a:t>chưa thể </a:t>
            </a:r>
            <a:r>
              <a:rPr lang="vi-VN" sz="2000">
                <a:solidFill>
                  <a:srgbClr val="464646"/>
                </a:solidFill>
                <a:latin typeface="Arimo Medium" pitchFamily="34" charset="0"/>
                <a:ea typeface="Arimo Medium" pitchFamily="34" charset="-122"/>
                <a:cs typeface="Arimo Medium" pitchFamily="34" charset="-120"/>
              </a:rPr>
              <a:t>chạy các mô hình NLP (Xử lý ngôn ngữ tự nhiên), giúp hiểu rõ khách hàng chê máy Cụm 2 ở điểm nào (camera, pin, hay thái độ shop)</a:t>
            </a:r>
            <a:r>
              <a:rPr lang="en-US" sz="2000">
                <a:solidFill>
                  <a:srgbClr val="464646"/>
                </a:solidFill>
                <a:latin typeface="Arimo Medium" pitchFamily="34" charset="0"/>
                <a:ea typeface="Arimo Medium" pitchFamily="34" charset="-122"/>
                <a:cs typeface="Arimo Medium" pitchFamily="34" charset="-120"/>
              </a:rPr>
              <a:t>, từ đó có những kế hoạch marketing tốt hơn.</a:t>
            </a:r>
            <a:endParaRPr lang="vi-VN" sz="2000">
              <a:solidFill>
                <a:srgbClr val="464646"/>
              </a:solidFill>
              <a:latin typeface="Arimo Medium" pitchFamily="34" charset="0"/>
              <a:ea typeface="Arimo Medium" pitchFamily="34" charset="-122"/>
              <a:cs typeface="Arimo Medium" pitchFamily="34" charset="-120"/>
            </a:endParaRPr>
          </a:p>
        </p:txBody>
      </p:sp>
      <p:sp>
        <p:nvSpPr>
          <p:cNvPr id="3" name="Shape 1">
            <a:extLst>
              <a:ext uri="{FF2B5EF4-FFF2-40B4-BE49-F238E27FC236}">
                <a16:creationId xmlns:a16="http://schemas.microsoft.com/office/drawing/2014/main" id="{A2D14FC6-3605-97C8-9560-26F759FCBF0C}"/>
              </a:ext>
            </a:extLst>
          </p:cNvPr>
          <p:cNvSpPr/>
          <p:nvPr/>
        </p:nvSpPr>
        <p:spPr>
          <a:xfrm>
            <a:off x="442620" y="1902099"/>
            <a:ext cx="6625273" cy="4589398"/>
          </a:xfrm>
          <a:prstGeom prst="roundRect">
            <a:avLst>
              <a:gd name="adj" fmla="val 12013"/>
            </a:avLst>
          </a:prstGeom>
          <a:solidFill>
            <a:srgbClr val="F2EEEE"/>
          </a:solidFill>
          <a:ln/>
        </p:spPr>
        <p:txBody>
          <a:bodyPr/>
          <a:lstStyle/>
          <a:p>
            <a:endParaRPr lang="en-US"/>
          </a:p>
        </p:txBody>
      </p:sp>
      <p:sp>
        <p:nvSpPr>
          <p:cNvPr id="5" name="Text 2">
            <a:extLst>
              <a:ext uri="{FF2B5EF4-FFF2-40B4-BE49-F238E27FC236}">
                <a16:creationId xmlns:a16="http://schemas.microsoft.com/office/drawing/2014/main" id="{96C8B709-46B5-FFF3-91A7-667918C77EA5}"/>
              </a:ext>
            </a:extLst>
          </p:cNvPr>
          <p:cNvSpPr/>
          <p:nvPr/>
        </p:nvSpPr>
        <p:spPr>
          <a:xfrm>
            <a:off x="777881" y="2065799"/>
            <a:ext cx="6000080"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Những điểm nhóm đã làm được</a:t>
            </a:r>
            <a:endParaRPr lang="vi-VN" sz="2400" b="1">
              <a:solidFill>
                <a:srgbClr val="464646"/>
              </a:solidFill>
              <a:latin typeface="Arimo Medium" pitchFamily="34" charset="0"/>
              <a:ea typeface="Arimo Medium" pitchFamily="34" charset="-122"/>
              <a:cs typeface="Arimo Medium" pitchFamily="34" charset="-120"/>
            </a:endParaRPr>
          </a:p>
        </p:txBody>
      </p:sp>
      <p:sp>
        <p:nvSpPr>
          <p:cNvPr id="6" name="Text 3">
            <a:extLst>
              <a:ext uri="{FF2B5EF4-FFF2-40B4-BE49-F238E27FC236}">
                <a16:creationId xmlns:a16="http://schemas.microsoft.com/office/drawing/2014/main" id="{D429DBD5-A94A-D67A-0ABC-0FA14B241E08}"/>
              </a:ext>
            </a:extLst>
          </p:cNvPr>
          <p:cNvSpPr/>
          <p:nvPr/>
        </p:nvSpPr>
        <p:spPr>
          <a:xfrm>
            <a:off x="615320" y="2533902"/>
            <a:ext cx="6000080" cy="440463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vi-VN" sz="2000" b="1">
                <a:solidFill>
                  <a:srgbClr val="464646"/>
                </a:solidFill>
                <a:latin typeface="Arimo Medium" pitchFamily="34" charset="0"/>
                <a:ea typeface="Arimo Medium" pitchFamily="34" charset="-122"/>
                <a:cs typeface="Arimo Medium" pitchFamily="34" charset="-120"/>
              </a:rPr>
              <a:t>Pipeline hoàn chỉnh</a:t>
            </a:r>
            <a:r>
              <a:rPr lang="vi-VN" sz="2000">
                <a:solidFill>
                  <a:srgbClr val="464646"/>
                </a:solidFill>
                <a:latin typeface="Arimo Medium" pitchFamily="34" charset="0"/>
                <a:ea typeface="Arimo Medium" pitchFamily="34" charset="-122"/>
                <a:cs typeface="Arimo Medium" pitchFamily="34" charset="-120"/>
              </a:rPr>
              <a:t>: Xây dựng luồng AI thực chiến (Làm sạch -&gt; Giảm chiều dữ liệu PCA/MCA -&gt; Phân cụm K-Means không giám sát -&gt; Huấn luyện dự báo Random Forest có giám sát.</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ct val="150000"/>
              </a:lnSpc>
              <a:buFont typeface="Arial" panose="020B0604020202020204" pitchFamily="34" charset="0"/>
              <a:buChar char="•"/>
            </a:pPr>
            <a:r>
              <a:rPr lang="vi-VN" sz="2000" b="1">
                <a:solidFill>
                  <a:srgbClr val="464646"/>
                </a:solidFill>
                <a:latin typeface="Arimo Medium" pitchFamily="34" charset="0"/>
                <a:ea typeface="Arimo Medium" pitchFamily="34" charset="-122"/>
                <a:cs typeface="Arimo Medium" pitchFamily="34" charset="-120"/>
              </a:rPr>
              <a:t>Dữ liệu thậ</a:t>
            </a:r>
            <a:r>
              <a:rPr lang="en-US" sz="2000" b="1">
                <a:solidFill>
                  <a:srgbClr val="464646"/>
                </a:solidFill>
                <a:latin typeface="Arimo Medium" pitchFamily="34" charset="0"/>
                <a:ea typeface="Arimo Medium" pitchFamily="34" charset="-122"/>
                <a:cs typeface="Arimo Medium" pitchFamily="34" charset="-120"/>
              </a:rPr>
              <a:t>t</a:t>
            </a:r>
            <a:r>
              <a:rPr lang="vi-VN" sz="2000" b="1">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Nhóm đã xử lý dữ liệu Shopee thực tế nhiều nhiễu</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ct val="150000"/>
              </a:lnSpc>
              <a:buFont typeface="Arial" panose="020B0604020202020204" pitchFamily="34" charset="0"/>
              <a:buChar char="•"/>
            </a:pPr>
            <a:r>
              <a:rPr lang="vi-VN" sz="2000" b="1">
                <a:solidFill>
                  <a:srgbClr val="464646"/>
                </a:solidFill>
                <a:latin typeface="Arimo Medium" pitchFamily="34" charset="0"/>
                <a:ea typeface="Arimo Medium" pitchFamily="34" charset="-122"/>
                <a:cs typeface="Arimo Medium" pitchFamily="34" charset="-120"/>
              </a:rPr>
              <a:t>Tính ứng dụng</a:t>
            </a:r>
            <a:r>
              <a:rPr lang="vi-VN" sz="2000">
                <a:solidFill>
                  <a:srgbClr val="464646"/>
                </a:solidFill>
                <a:latin typeface="Arimo Medium" pitchFamily="34" charset="0"/>
                <a:ea typeface="Arimo Medium" pitchFamily="34" charset="-122"/>
                <a:cs typeface="Arimo Medium" pitchFamily="34" charset="-120"/>
              </a:rPr>
              <a:t>: </a:t>
            </a:r>
            <a:r>
              <a:rPr lang="en-US" sz="2000">
                <a:solidFill>
                  <a:srgbClr val="464646"/>
                </a:solidFill>
                <a:latin typeface="Arimo Medium" pitchFamily="34" charset="0"/>
                <a:ea typeface="Arimo Medium" pitchFamily="34" charset="-122"/>
                <a:cs typeface="Arimo Medium" pitchFamily="34" charset="-120"/>
              </a:rPr>
              <a:t>Triển khai g</a:t>
            </a:r>
            <a:r>
              <a:rPr lang="vi-VN" sz="2000">
                <a:solidFill>
                  <a:srgbClr val="464646"/>
                </a:solidFill>
                <a:latin typeface="Arimo Medium" pitchFamily="34" charset="0"/>
                <a:ea typeface="Arimo Medium" pitchFamily="34" charset="-122"/>
                <a:cs typeface="Arimo Medium" pitchFamily="34" charset="-120"/>
              </a:rPr>
              <a:t>iao diện</a:t>
            </a:r>
            <a:r>
              <a:rPr lang="en-US" sz="2000">
                <a:solidFill>
                  <a:srgbClr val="464646"/>
                </a:solidFill>
                <a:latin typeface="Arimo Medium" pitchFamily="34" charset="0"/>
                <a:ea typeface="Arimo Medium" pitchFamily="34" charset="-122"/>
                <a:cs typeface="Arimo Medium" pitchFamily="34" charset="-120"/>
              </a:rPr>
              <a:t> UI nhập input để </a:t>
            </a:r>
            <a:r>
              <a:rPr lang="vi-VN" sz="2000">
                <a:solidFill>
                  <a:srgbClr val="464646"/>
                </a:solidFill>
                <a:latin typeface="Arimo Medium" pitchFamily="34" charset="0"/>
                <a:ea typeface="Arimo Medium" pitchFamily="34" charset="-122"/>
                <a:cs typeface="Arimo Medium" pitchFamily="34" charset="-120"/>
              </a:rPr>
              <a:t>dự báo. </a:t>
            </a:r>
          </a:p>
        </p:txBody>
      </p:sp>
    </p:spTree>
    <p:extLst>
      <p:ext uri="{BB962C8B-B14F-4D97-AF65-F5344CB8AC3E}">
        <p14:creationId xmlns:p14="http://schemas.microsoft.com/office/powerpoint/2010/main" val="181772253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2E9AEBC-49CE-8C4F-1D55-ABABEF68BF70}"/>
              </a:ext>
            </a:extLst>
          </p:cNvPr>
          <p:cNvSpPr/>
          <p:nvPr/>
        </p:nvSpPr>
        <p:spPr>
          <a:xfrm>
            <a:off x="0" y="3342529"/>
            <a:ext cx="14630400" cy="1544542"/>
          </a:xfrm>
          <a:prstGeom prst="rect">
            <a:avLst/>
          </a:prstGeom>
          <a:noFill/>
          <a:ln/>
        </p:spPr>
        <p:txBody>
          <a:bodyPr wrap="none" lIns="0" tIns="0" rIns="0" bIns="0" rtlCol="0" anchor="t"/>
          <a:lstStyle/>
          <a:p>
            <a:pPr marL="0" indent="0" algn="ctr">
              <a:lnSpc>
                <a:spcPts val="5550"/>
              </a:lnSpc>
              <a:buNone/>
            </a:pPr>
            <a:r>
              <a:rPr lang="en-US" sz="4450" b="1">
                <a:solidFill>
                  <a:srgbClr val="030303"/>
                </a:solidFill>
                <a:latin typeface="Arimo Semi Bold" pitchFamily="34" charset="0"/>
                <a:ea typeface="Arimo Semi Bold" pitchFamily="34" charset="-122"/>
                <a:cs typeface="Arimo Semi Bold" pitchFamily="34" charset="-120"/>
              </a:rPr>
              <a:t>Cảm ơn Cô và các bạn đã chú ý lắng nghe!</a:t>
            </a:r>
          </a:p>
        </p:txBody>
      </p:sp>
    </p:spTree>
    <p:extLst>
      <p:ext uri="{BB962C8B-B14F-4D97-AF65-F5344CB8AC3E}">
        <p14:creationId xmlns:p14="http://schemas.microsoft.com/office/powerpoint/2010/main" val="12620915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1747</Words>
  <Application>Microsoft Office PowerPoint</Application>
  <PresentationFormat>Custom</PresentationFormat>
  <Paragraphs>161</Paragraphs>
  <Slides>22</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Arimo Medium</vt:lpstr>
      <vt:lpstr>Arimo Semi Bold</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Tuấn Anh</cp:lastModifiedBy>
  <cp:revision>34</cp:revision>
  <dcterms:created xsi:type="dcterms:W3CDTF">2026-04-16T12:58:21Z</dcterms:created>
  <dcterms:modified xsi:type="dcterms:W3CDTF">2026-04-24T16:45:13Z</dcterms:modified>
</cp:coreProperties>
</file>